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84" r:id="rId5"/>
    <p:sldId id="262" r:id="rId6"/>
    <p:sldId id="273" r:id="rId7"/>
    <p:sldId id="274" r:id="rId8"/>
    <p:sldId id="275" r:id="rId9"/>
    <p:sldId id="265" r:id="rId10"/>
    <p:sldId id="263" r:id="rId11"/>
    <p:sldId id="264" r:id="rId12"/>
    <p:sldId id="259" r:id="rId13"/>
    <p:sldId id="260" r:id="rId14"/>
    <p:sldId id="268" r:id="rId15"/>
    <p:sldId id="269" r:id="rId16"/>
    <p:sldId id="282" r:id="rId17"/>
    <p:sldId id="283" r:id="rId18"/>
    <p:sldId id="270" r:id="rId19"/>
    <p:sldId id="271" r:id="rId20"/>
    <p:sldId id="279" r:id="rId21"/>
    <p:sldId id="280" r:id="rId22"/>
    <p:sldId id="281" r:id="rId23"/>
    <p:sldId id="272" r:id="rId24"/>
    <p:sldId id="261" r:id="rId25"/>
    <p:sldId id="285" r:id="rId26"/>
    <p:sldId id="266" r:id="rId27"/>
    <p:sldId id="286" r:id="rId28"/>
    <p:sldId id="287" r:id="rId29"/>
    <p:sldId id="267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AF52BBC0-1F3A-4067-A35B-07F29934C2B4}" type="datetimeFigureOut">
              <a:rPr lang="pt-BR" smtClean="0"/>
              <a:t>04/11/2019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11D47D14-1FD9-4045-8E23-A454825BDF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615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2BBC0-1F3A-4067-A35B-07F29934C2B4}" type="datetimeFigureOut">
              <a:rPr lang="pt-BR" smtClean="0"/>
              <a:t>04/11/2019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47D14-1FD9-4045-8E23-A454825BDF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3999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2BBC0-1F3A-4067-A35B-07F29934C2B4}" type="datetimeFigureOut">
              <a:rPr lang="pt-BR" smtClean="0"/>
              <a:t>04/11/2019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47D14-1FD9-4045-8E23-A454825BDF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11050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2BBC0-1F3A-4067-A35B-07F29934C2B4}" type="datetimeFigureOut">
              <a:rPr lang="pt-BR" smtClean="0"/>
              <a:t>04/11/2019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47D14-1FD9-4045-8E23-A454825BDF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24413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2BBC0-1F3A-4067-A35B-07F29934C2B4}" type="datetimeFigureOut">
              <a:rPr lang="pt-BR" smtClean="0"/>
              <a:t>04/11/2019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47D14-1FD9-4045-8E23-A454825BDF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3600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2BBC0-1F3A-4067-A35B-07F29934C2B4}" type="datetimeFigureOut">
              <a:rPr lang="pt-BR" smtClean="0"/>
              <a:t>04/11/2019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47D14-1FD9-4045-8E23-A454825BDF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34846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2BBC0-1F3A-4067-A35B-07F29934C2B4}" type="datetimeFigureOut">
              <a:rPr lang="pt-BR" smtClean="0"/>
              <a:t>04/11/2019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47D14-1FD9-4045-8E23-A454825BDF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70931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2BBC0-1F3A-4067-A35B-07F29934C2B4}" type="datetimeFigureOut">
              <a:rPr lang="pt-BR" smtClean="0"/>
              <a:t>04/11/2019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47D14-1FD9-4045-8E23-A454825BDF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926105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2BBC0-1F3A-4067-A35B-07F29934C2B4}" type="datetimeFigureOut">
              <a:rPr lang="pt-BR" smtClean="0"/>
              <a:t>04/11/2019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47D14-1FD9-4045-8E23-A454825BDF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89204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2BBC0-1F3A-4067-A35B-07F29934C2B4}" type="datetimeFigureOut">
              <a:rPr lang="pt-BR" smtClean="0"/>
              <a:t>04/11/2019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47D14-1FD9-4045-8E23-A454825BDF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82891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2BBC0-1F3A-4067-A35B-07F29934C2B4}" type="datetimeFigureOut">
              <a:rPr lang="pt-BR" smtClean="0"/>
              <a:t>04/11/2019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47D14-1FD9-4045-8E23-A454825BDF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68519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2BBC0-1F3A-4067-A35B-07F29934C2B4}" type="datetimeFigureOut">
              <a:rPr lang="pt-BR" smtClean="0"/>
              <a:t>04/11/2019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47D14-1FD9-4045-8E23-A454825BDF4B}" type="slidenum">
              <a:rPr lang="pt-BR" smtClean="0"/>
              <a:t>‹nº›</a:t>
            </a:fld>
            <a:endParaRPr lang="pt-BR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472867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2BBC0-1F3A-4067-A35B-07F29934C2B4}" type="datetimeFigureOut">
              <a:rPr lang="pt-BR" smtClean="0"/>
              <a:t>04/11/2019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47D14-1FD9-4045-8E23-A454825BDF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391913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2BBC0-1F3A-4067-A35B-07F29934C2B4}" type="datetimeFigureOut">
              <a:rPr lang="pt-BR" smtClean="0"/>
              <a:t>04/11/2019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47D14-1FD9-4045-8E23-A454825BDF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760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2BBC0-1F3A-4067-A35B-07F29934C2B4}" type="datetimeFigureOut">
              <a:rPr lang="pt-BR" smtClean="0"/>
              <a:t>04/11/2019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47D14-1FD9-4045-8E23-A454825BDF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17264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2BBC0-1F3A-4067-A35B-07F29934C2B4}" type="datetimeFigureOut">
              <a:rPr lang="pt-BR" smtClean="0"/>
              <a:t>04/11/2019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47D14-1FD9-4045-8E23-A454825BDF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559220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2BBC0-1F3A-4067-A35B-07F29934C2B4}" type="datetimeFigureOut">
              <a:rPr lang="pt-BR" smtClean="0"/>
              <a:t>04/11/2019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47D14-1FD9-4045-8E23-A454825BDF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4072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52BBC0-1F3A-4067-A35B-07F29934C2B4}" type="datetimeFigureOut">
              <a:rPr lang="pt-BR" smtClean="0"/>
              <a:t>04/11/2019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D47D14-1FD9-4045-8E23-A454825BDF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301949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E98623-166C-456C-B14D-95AFA3DC6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6705" y="609601"/>
            <a:ext cx="10329434" cy="1639884"/>
          </a:xfrm>
        </p:spPr>
        <p:txBody>
          <a:bodyPr>
            <a:noAutofit/>
          </a:bodyPr>
          <a:lstStyle/>
          <a:p>
            <a:pPr algn="ctr"/>
            <a:r>
              <a:rPr lang="pt-BR" sz="6000" b="1" dirty="0"/>
              <a:t>Engenharia de Software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7E70C9-D57C-4BB0-8F65-B701424107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498834"/>
            <a:ext cx="5891209" cy="5198534"/>
          </a:xfrm>
        </p:spPr>
        <p:txBody>
          <a:bodyPr>
            <a:normAutofit/>
          </a:bodyPr>
          <a:lstStyle/>
          <a:p>
            <a:r>
              <a:rPr lang="pt-BR" sz="2800" b="1" dirty="0"/>
              <a:t>Metodologia: DSDM</a:t>
            </a:r>
          </a:p>
          <a:p>
            <a:r>
              <a:rPr lang="pt-BR" b="1" dirty="0"/>
              <a:t>Método de Desenvolvimento de Sistemas Dinâmicos </a:t>
            </a:r>
          </a:p>
          <a:p>
            <a:r>
              <a:rPr lang="pt-BR" b="1" dirty="0" err="1"/>
              <a:t>Dynamic</a:t>
            </a:r>
            <a:r>
              <a:rPr lang="pt-BR" b="1" dirty="0"/>
              <a:t> Systems </a:t>
            </a:r>
            <a:r>
              <a:rPr lang="pt-BR" b="1" dirty="0" err="1"/>
              <a:t>Development</a:t>
            </a:r>
            <a:r>
              <a:rPr lang="pt-BR" b="1" dirty="0"/>
              <a:t> </a:t>
            </a:r>
            <a:r>
              <a:rPr lang="pt-BR" b="1" dirty="0" err="1"/>
              <a:t>Method</a:t>
            </a:r>
            <a:r>
              <a:rPr lang="pt-BR" b="1" dirty="0"/>
              <a:t> </a:t>
            </a:r>
            <a:endParaRPr lang="pt-BR" sz="2800" b="1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93AD0CD-ADB8-4CD2-B7BF-62C4764A85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6705" y="2954162"/>
            <a:ext cx="5069537" cy="2557406"/>
          </a:xfrm>
        </p:spPr>
        <p:txBody>
          <a:bodyPr>
            <a:normAutofit/>
          </a:bodyPr>
          <a:lstStyle/>
          <a:p>
            <a:r>
              <a:rPr lang="pt-BR" dirty="0"/>
              <a:t>THIAGO AUGUSTO DE VILAS BOAS RA: N405767</a:t>
            </a:r>
          </a:p>
          <a:p>
            <a:r>
              <a:rPr lang="pt-BR" dirty="0"/>
              <a:t>OTÁVIO AUGUSTO ROSA BAIO RA: N404EA0</a:t>
            </a:r>
          </a:p>
          <a:p>
            <a:r>
              <a:rPr lang="pt-BR" dirty="0"/>
              <a:t>MIKE DOUGLAS DE PAULA SOARES RA: F0289D7</a:t>
            </a:r>
          </a:p>
          <a:p>
            <a:r>
              <a:rPr lang="pt-BR" dirty="0"/>
              <a:t>FELIPE AUGUSTO CALÓGERO RA: N390BB6</a:t>
            </a:r>
          </a:p>
          <a:p>
            <a:r>
              <a:rPr lang="pt-BR" dirty="0"/>
              <a:t>GABRIEL GODOY DOS SANTOS RA: D873385</a:t>
            </a:r>
          </a:p>
          <a:p>
            <a:r>
              <a:rPr lang="pt-BR" dirty="0"/>
              <a:t>IVANILDO DE ALMEIDA OLIVEIRA JUNIOR RA: F0738C7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79180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3BD7FD-D030-4B1C-B55C-19BD8573F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040F354-A3C4-40B1-ABFB-EDE0BACD6D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BR" dirty="0"/>
              <a:t>Dentre os vários tipos de metodologias utilizadas para atender às demandas dos clientes e seus projetos de maneira mais flexível e com maior produtividade, um exemplo de método empregado no desenvolvimento de projetos e também no meio tecnológico é o DSDM. Um tipo de metodologia ágil criado no Reino unido em 1990 por uma associação de consultores e especialistas no ramo de engenharia de software, que fizeram compartilhamento e união de suas melhores técnicas para criação de um único sistema baseado na metodologia RAD.</a:t>
            </a:r>
          </a:p>
        </p:txBody>
      </p:sp>
    </p:spTree>
    <p:extLst>
      <p:ext uri="{BB962C8B-B14F-4D97-AF65-F5344CB8AC3E}">
        <p14:creationId xmlns:p14="http://schemas.microsoft.com/office/powerpoint/2010/main" val="29037016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2B63C1-0510-4080-B665-87F2B4EB8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Definição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480276C-D5F1-429A-9AED-7EEEDA71CC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O DSDM é uma metodologia de desenvolvimento de sistemas dinâmicos, que visa desenvolver projetos com a qualidade desejada sem ultrapassar limites de tempo e orçamento. Entre suas melhores práticas estão o desenvolvimento incremental e iterativo, exigências flexíveis, a colaboração e comunicação entre cliente e equipe, além da integração de funcionalidades. É similar em muitos aspectos ao SCRUM e XP, mas tem seus melhores usos onde o requisito de tempo é fixo.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725635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4F96F0-0DCD-4693-BBE0-F66922814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Comparativo de metodologias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8B77DCDD-F780-4415-8373-9224034394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413" y="2097087"/>
            <a:ext cx="9905998" cy="4386943"/>
          </a:xfrm>
        </p:spPr>
      </p:pic>
    </p:spTree>
    <p:extLst>
      <p:ext uri="{BB962C8B-B14F-4D97-AF65-F5344CB8AC3E}">
        <p14:creationId xmlns:p14="http://schemas.microsoft.com/office/powerpoint/2010/main" val="1207670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81E4C4-D3F5-4486-889C-C3A5C2CA0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Características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BE6EECE-A8D0-4BC8-B975-1A6EEAD10C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lvl="0"/>
            <a:r>
              <a:rPr lang="pt-BR" dirty="0"/>
              <a:t>Os resultados do desenvolvimento são direta e prontamente visíveis</a:t>
            </a:r>
          </a:p>
          <a:p>
            <a:pPr lvl="0"/>
            <a:r>
              <a:rPr lang="pt-BR" dirty="0"/>
              <a:t>Como os usuários estão ativamente envolvidos no desenvolvimento do sistema, é mais provável que o adotem e aceitem.</a:t>
            </a:r>
          </a:p>
          <a:p>
            <a:pPr lvl="0"/>
            <a:r>
              <a:rPr lang="pt-BR" dirty="0"/>
              <a:t>A funcionalidade básica é entregue rapidamente, com mais funcionalidades sendo entregues em intervalos regulares.</a:t>
            </a:r>
          </a:p>
          <a:p>
            <a:pPr lvl="0"/>
            <a:r>
              <a:rPr lang="pt-BR" dirty="0"/>
              <a:t>Elimina a burocracia e quebra a barreira da comunicação entre as partes interessadas.</a:t>
            </a:r>
          </a:p>
          <a:p>
            <a:pPr lvl="0"/>
            <a:r>
              <a:rPr lang="pt-BR" dirty="0"/>
              <a:t>Devido ao constante feedback dos usuários, é mais provável que o sistema que está sendo desenvolvido atenda às necessidades para as quais foi comissionado.</a:t>
            </a:r>
          </a:p>
          <a:p>
            <a:pPr lvl="0"/>
            <a:r>
              <a:rPr lang="pt-BR" dirty="0"/>
              <a:t>Indicadores iniciais sobre se o projeto funcionará ou não, em vez de uma surpresa desagradável no meio do desenvolvimento</a:t>
            </a:r>
          </a:p>
          <a:p>
            <a:pPr lvl="0"/>
            <a:r>
              <a:rPr lang="pt-BR" dirty="0"/>
              <a:t>O sistema é entregue dentro do prazo e do orçamento.</a:t>
            </a:r>
          </a:p>
          <a:p>
            <a:pPr lvl="0"/>
            <a:r>
              <a:rPr lang="pt-BR" dirty="0"/>
              <a:t>Capacidade dos usuários de afetar a direção do projeto.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593327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ECA024-7467-4CE1-A876-B19DBBE10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Principais conceitos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2DA7C2-D395-484C-A98E-BDDFE6D6C0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b="1" dirty="0"/>
              <a:t>Envolvimento do usuário ativo</a:t>
            </a:r>
            <a:endParaRPr lang="pt-BR" dirty="0"/>
          </a:p>
          <a:p>
            <a:pPr marL="0" indent="0">
              <a:buNone/>
            </a:pPr>
            <a:r>
              <a:rPr lang="pt-BR" dirty="0"/>
              <a:t>As pessoas que usarão o produto devem estar ativamente envolvidas no seu desenvolvimento. Isso é importante para que o produto acabe sendo útil para as pessoas que o usarão.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780122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C7D34B-C418-4F58-B3A8-DBE22CA50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Principais conceitos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60C9C55-8FBB-493D-B390-55B56C0CE2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b="1" dirty="0"/>
              <a:t>A equipe deve ser capacitada para tomar decisões</a:t>
            </a:r>
            <a:endParaRPr lang="pt-BR" dirty="0"/>
          </a:p>
          <a:p>
            <a:pPr marL="0" indent="0">
              <a:buNone/>
            </a:pPr>
            <a:r>
              <a:rPr lang="pt-BR" dirty="0"/>
              <a:t>A equipe deve ser capaz de tomar decisões rápidas e informadas, sem ter que passar pela burocracia para que essas decisões sejam aprovadas.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92928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C90606-E2C1-4E70-B4D0-21DB5DBD5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Principais conceitos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694274-A4F7-402E-A3CA-C1BE3EE5E8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b="1" dirty="0"/>
              <a:t>Lançamentos frequentes</a:t>
            </a:r>
            <a:endParaRPr lang="pt-BR" dirty="0"/>
          </a:p>
          <a:p>
            <a:pPr marL="0" indent="0">
              <a:buNone/>
            </a:pPr>
            <a:r>
              <a:rPr lang="pt-BR" dirty="0"/>
              <a:t>O DSDM se concentra em lançamentos frequentes. Versões frequentes permitem a entrada do usuário em estágios cruciais no desenvolvimento do produto. Eles também garantem que o produto possa ser lançado rapidamente o tempo todo.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693053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6E22F7-7AF5-4A64-A3DB-105C2E123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Principais conceitos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2671EF3-D403-4BD9-B61D-17F1D818C2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b="1" dirty="0"/>
              <a:t>Desenvolvimento iterativo, impulsionado pela visão do cliente.</a:t>
            </a:r>
            <a:endParaRPr lang="pt-BR" dirty="0"/>
          </a:p>
          <a:p>
            <a:pPr marL="0" indent="0">
              <a:buNone/>
            </a:pPr>
            <a:r>
              <a:rPr lang="pt-BR" dirty="0"/>
              <a:t>O desenvolvimento é que o sistema é feito em iterações, o que permite feedback frequente do usuário e uma solução parcial, mas rápida, para necessidades imediatas, com mais funcionalidade sendo adicionada em iterações posteriores.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415018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AB828D-9D4A-495A-8CD1-83454C6D9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Principais conceitos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A5F5D62-263F-4FF8-82EF-71BB5814B9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dirty="0"/>
              <a:t> </a:t>
            </a:r>
            <a:r>
              <a:rPr lang="pt-BR" b="1" dirty="0"/>
              <a:t>As alterações devem ser reversíveis</a:t>
            </a:r>
            <a:endParaRPr lang="pt-BR" dirty="0"/>
          </a:p>
          <a:p>
            <a:pPr marL="0" indent="0">
              <a:buNone/>
            </a:pPr>
            <a:r>
              <a:rPr lang="pt-BR" dirty="0"/>
              <a:t>Todos os produtos devem estar em um estado totalmente conhecido o tempo todo. Isso permite voltar atrás se uma determinada alteração não der certo.</a:t>
            </a:r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78699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2304D6-9151-4B2F-ACAD-948CEF6AC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Principais conceitos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8CE3753-7348-42D6-9D39-934060EA55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b="1" dirty="0"/>
              <a:t>Os requisitos prioritários são definidos inicialmente </a:t>
            </a:r>
          </a:p>
          <a:p>
            <a:pPr marL="0" lvl="0" indent="0">
              <a:buNone/>
            </a:pPr>
            <a:r>
              <a:rPr lang="pt-BR" dirty="0"/>
              <a:t>Os requisitos de prioridade são elaborados no início do projeto, antes de qualquer codificação, deixando os detalhes a serem trabalhados durante o curso do desenvolvimento.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15477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82A02E-1A48-4F65-AB4A-A91090C90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Principais conceitos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2A11AE4-FB6F-40BB-BF26-02429B6A1C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b="1" dirty="0"/>
              <a:t>Teste Integrado</a:t>
            </a:r>
            <a:endParaRPr lang="pt-BR" dirty="0"/>
          </a:p>
          <a:p>
            <a:pPr marL="0" indent="0">
              <a:buNone/>
            </a:pPr>
            <a:r>
              <a:rPr lang="pt-BR" dirty="0"/>
              <a:t>O teste é realizado em todas as etapas do processo, para garantir que o produto que está sendo desenvolvido seja tecnicamente sólido e não desenvolva falhas técnicas, e que o uso máximo seja feito com o feedback do usuário.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473448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67AD89-4F91-4683-9B16-FA8A872CE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Principais conceitos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2BF944C-729E-4DEB-BBF0-9836F30A07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b="1" dirty="0"/>
              <a:t>Colaboração e cooperação são essenciais</a:t>
            </a:r>
            <a:endParaRPr lang="pt-BR" dirty="0"/>
          </a:p>
          <a:p>
            <a:pPr marL="0" indent="0">
              <a:buNone/>
            </a:pPr>
            <a:r>
              <a:rPr lang="pt-BR" dirty="0"/>
              <a:t>A colaboração e a cooperação entre todas as partes interessadas são essenciais para o sucesso do projeto. Todas as partes envolvidas (não apenas a equipe principal) devem se esforçar juntas para atingir o objetivo do negócio.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897174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1A91C3-1263-47E9-934E-8D820E86D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Principais conceitos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5AAB2DF-FFD0-40DD-B08A-B27C912F39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b="1" dirty="0"/>
              <a:t>Regra de 20% / 80%</a:t>
            </a:r>
            <a:endParaRPr lang="pt-BR" dirty="0"/>
          </a:p>
          <a:p>
            <a:pPr marL="0" indent="0">
              <a:buNone/>
            </a:pPr>
            <a:r>
              <a:rPr lang="pt-BR" dirty="0"/>
              <a:t>O DSDM assume que 80% da solução pode ser desenvolvida em 20% do tempo necessário para produzir a solução total. O DSDM foca nesses 80%, deixando outros 20% para revisões posteriores. O DSDM pressupõe que nem todos os requisitos para a solução final sejam conhecidos, portanto, é provável que os 20% finais dos recursos não essenciais tenham falhas de qualquer maneira. (Priorização do </a:t>
            </a:r>
            <a:r>
              <a:rPr lang="pt-BR" dirty="0" err="1"/>
              <a:t>MoSCoW</a:t>
            </a:r>
            <a:r>
              <a:rPr lang="pt-BR" dirty="0"/>
              <a:t>.)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611674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616CBC-A896-426F-960C-04FB0B974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Priorização do </a:t>
            </a:r>
            <a:r>
              <a:rPr lang="pt-BR" dirty="0" err="1"/>
              <a:t>mOScow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A509B2A-723B-46E1-8743-33430403CA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pt-BR" dirty="0"/>
              <a:t>O método </a:t>
            </a:r>
            <a:r>
              <a:rPr lang="pt-BR" dirty="0" err="1"/>
              <a:t>MoSCoW</a:t>
            </a:r>
            <a:r>
              <a:rPr lang="pt-BR" dirty="0"/>
              <a:t> foi desenvolvido por Dai </a:t>
            </a:r>
            <a:r>
              <a:rPr lang="pt-BR" dirty="0" err="1"/>
              <a:t>Clegg</a:t>
            </a:r>
            <a:r>
              <a:rPr lang="pt-BR" dirty="0"/>
              <a:t>, da Oracle® UK Consulting, em meados dos anos 90. É uma abordagem útil para classificar as tarefas do projeto em categorias críticas e não críticas:</a:t>
            </a:r>
          </a:p>
          <a:p>
            <a:pPr lvl="0"/>
            <a:r>
              <a:rPr lang="pt-BR" dirty="0"/>
              <a:t>Deve ter - as coisas que são absolutamente essenciais e são fundamentais para o sistema.</a:t>
            </a:r>
          </a:p>
          <a:p>
            <a:pPr lvl="0"/>
            <a:r>
              <a:rPr lang="pt-BR" dirty="0"/>
              <a:t>Deveria ter - coisas importantes para a solução de negócios.</a:t>
            </a:r>
          </a:p>
          <a:p>
            <a:pPr lvl="0"/>
            <a:r>
              <a:rPr lang="pt-BR" dirty="0"/>
              <a:t>Poderia ter - coisas que são úteis, mas que podem ser feitas sem um curto período de tempo.</a:t>
            </a:r>
          </a:p>
          <a:p>
            <a:pPr lvl="0"/>
            <a:r>
              <a:rPr lang="pt-BR" dirty="0"/>
              <a:t>Não terá esse tempo - coisas que podem facilmente esperar até mais tarde.</a:t>
            </a:r>
          </a:p>
          <a:p>
            <a:r>
              <a:rPr lang="pt-BR" dirty="0"/>
              <a:t>A priorização é importante porque não há tempo suficiente para fazer tudo, e as coisas essenciais devem ser colocadas antes das coisas que não são.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975903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73B068-6030-46F8-96D5-9DDBCD2B8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Fases de desenvolvimento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BE1F08-2CC2-4532-B389-D255BFF2C7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b="1" dirty="0"/>
              <a:t>O DSDM consiste em três principais fases sequenciais:</a:t>
            </a:r>
            <a:r>
              <a:rPr lang="pt-BR" dirty="0"/>
              <a:t> </a:t>
            </a:r>
          </a:p>
          <a:p>
            <a:r>
              <a:rPr lang="pt-BR" dirty="0"/>
              <a:t>1° Pré-Projeto (estudos de viabilidade e negócios),</a:t>
            </a:r>
          </a:p>
          <a:p>
            <a:r>
              <a:rPr lang="pt-BR" dirty="0"/>
              <a:t>2° Projeto – (modelo funcional, Design e construção e Implementação que completam o ciclo de vida do projeto),</a:t>
            </a:r>
          </a:p>
          <a:p>
            <a:r>
              <a:rPr lang="pt-BR" dirty="0"/>
              <a:t>3° Pós-Projeto (manutenção),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194597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06DFF9-EB4E-4D62-AC4E-2DEA41186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Representação das fases</a:t>
            </a:r>
          </a:p>
        </p:txBody>
      </p:sp>
      <p:pic>
        <p:nvPicPr>
          <p:cNvPr id="13" name="Espaço Reservado para Conteúdo 12">
            <a:extLst>
              <a:ext uri="{FF2B5EF4-FFF2-40B4-BE49-F238E27FC236}">
                <a16:creationId xmlns:a16="http://schemas.microsoft.com/office/drawing/2014/main" id="{DA251551-FF82-4CB0-981D-4DC952E55B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636" y="1669767"/>
            <a:ext cx="10368282" cy="4920541"/>
          </a:xfrm>
        </p:spPr>
      </p:pic>
    </p:spTree>
    <p:extLst>
      <p:ext uri="{BB962C8B-B14F-4D97-AF65-F5344CB8AC3E}">
        <p14:creationId xmlns:p14="http://schemas.microsoft.com/office/powerpoint/2010/main" val="16034842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721D21-3E64-4C7F-B46A-F0ED29EF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1° fase: O Pré-Projeto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71D5A9E-A3B4-4592-BC22-DE0DA06F67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pt-BR" dirty="0"/>
              <a:t>No pré-projeto são identificados os projetos candidatos, onde são definidos o orçamento e a assinatura do contrato. Estes critérios devem ser controlados antecipadamente para evitar problemas futuros e em estágios mais críticos.</a:t>
            </a:r>
          </a:p>
          <a:p>
            <a:r>
              <a:rPr lang="pt-BR" dirty="0"/>
              <a:t>Estudo de viabilidade: Estabelece requisitos básicos de negócio e restrições associados à aplicação a ser construída. Depois avalia se a aplicação é um candidato viável para o processo DSDM</a:t>
            </a:r>
          </a:p>
          <a:p>
            <a:r>
              <a:rPr lang="pt-BR" dirty="0"/>
              <a:t>Estudo de negócios: Incrementa todo o trabalho realizado no Estudo de Viabilidade. Depois do projeto ser declarado viável para o uso da DSDM, este nível examina o processo de financiamento, os utilizadores envolvidos e as suas necessidades e desejos respectivos.</a:t>
            </a:r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620800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CB063C-6DBC-48DC-9FA1-4B35E2B66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2° fase: O Ciclo de Vida do Projeto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5B501C2-1B8E-478F-BDE1-68A5DB4628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Nesta etapa, o Estudo de viabilidade e o Estudo de Negócio são fases sequenciais que se completam entre si. Após a conclusão destas fases, o sistema é desenvolvido iterativamente e de forma incremental nos níveis de Modelo funcional, Design e construção e Implementação.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929261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6699A6-E7FF-44A8-AE4D-544785883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2° fase - Iteração de Modelos Funcionais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3B47629-89FE-48AB-867A-33831EA4C8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Onde é produzido um conjunto de protótipos incrementais que demonstram a funcionalidade para o cliente. Neste ciclo iterativo procura-se juntar os requisitos adicionais ao se obter feedback dos usuários conforme eles vão testando e utilizando o protótipo.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129285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AD0AFD-D22B-41E7-BDEB-5204309B4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2° fase - Iteração Design e construção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5042ACE-A4CB-49CE-8C4D-5D6E1AA7D2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Onde revisitamos os protótipos desenvolvidos durante a iteração de modelos funcionais, para assegurar que cada um tenha passado por um processo de engenharia. Assim, conseguimos oferecer aos usuários finais o valor de negócio em termos operacionais.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982595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9FC3D7-AF62-468D-A519-27A6AA405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2° fase - Implementação 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7E4766D-18BE-495D-A9AF-B8AECA7C87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Onde de fato colocamos a última versão do incremento de software no ambiente operacional. Nesta última fase o incremento pode não estar completo ou ainda alterações podem ser solicitadas conforme o incremento seja alocado.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950912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41903D-ED4A-4CBE-A554-2197C83CF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3° fase - Pós-Projeto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ABA7B54-D35A-4337-8A25-007F2F8AEE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Esta fase garante a eficiência e eficácia do projeto. Através de manutenções, melhorias e ajustes de acordo com os princípios do DSDM. A manutenção pode ser vista como um contínuo desenvolvimento. Ao invés de finalizar o ciclo de vida apenas uma vez, normalmente o projeto pode retomar fases anteriores a fim de refinar ainda mais o passo concluído.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97833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28773D-056D-4829-A0B9-1801FF29A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exemplos para a utilização do DSDM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BCE54D9-E5F8-444A-A0B9-6A54D8BBE8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pt-BR" b="1" dirty="0"/>
              <a:t>Projetos Urgentes – </a:t>
            </a:r>
            <a:r>
              <a:rPr lang="pt-BR" dirty="0"/>
              <a:t>Projetos </a:t>
            </a:r>
            <a:r>
              <a:rPr lang="pt-BR" i="1" dirty="0"/>
              <a:t>time </a:t>
            </a:r>
            <a:r>
              <a:rPr lang="pt-BR" i="1" dirty="0" err="1"/>
              <a:t>to</a:t>
            </a:r>
            <a:r>
              <a:rPr lang="pt-BR" i="1" dirty="0"/>
              <a:t> </a:t>
            </a:r>
            <a:r>
              <a:rPr lang="pt-BR" i="1" dirty="0" err="1"/>
              <a:t>market</a:t>
            </a:r>
            <a:r>
              <a:rPr lang="pt-BR" i="1" dirty="0"/>
              <a:t> </a:t>
            </a:r>
            <a:r>
              <a:rPr lang="pt-BR" dirty="0"/>
              <a:t>são dos mais conceituados para se adaptarem ao DSDM. O método </a:t>
            </a:r>
            <a:r>
              <a:rPr lang="pt-BR" i="1" dirty="0" err="1"/>
              <a:t>Timeboxing</a:t>
            </a:r>
            <a:r>
              <a:rPr lang="pt-BR" i="1" dirty="0"/>
              <a:t> (</a:t>
            </a:r>
            <a:r>
              <a:rPr lang="pt-BR" dirty="0"/>
              <a:t>Períodos de tempo fixos) e prioridades de funções levam à entrega do produto à hora com as funcionalidades essenciais.</a:t>
            </a:r>
          </a:p>
          <a:p>
            <a:endParaRPr lang="pt-BR" dirty="0"/>
          </a:p>
          <a:p>
            <a:r>
              <a:rPr lang="pt-BR" b="1" dirty="0"/>
              <a:t>Projetos de Novas Tecnologias – </a:t>
            </a:r>
            <a:r>
              <a:rPr lang="pt-BR" dirty="0"/>
              <a:t>Estes projetos necessitam de um espaço para a experimentação e privilegiam o retorno das experiências antes de tomar decisões definitivas. É necessário por vezes alterar a estrutura do projeto e com os princípios da reutilização e reconfiguração que DSDM oferece, isto torna-se possível.</a:t>
            </a:r>
          </a:p>
          <a:p>
            <a:endParaRPr lang="pt-BR" dirty="0"/>
          </a:p>
          <a:p>
            <a:r>
              <a:rPr lang="pt-BR" b="1" dirty="0"/>
              <a:t>Projetos de Desenvolvimento de Produtos – </a:t>
            </a:r>
            <a:r>
              <a:rPr lang="pt-BR" dirty="0"/>
              <a:t>A DSDM é adaptada para projetos de desenvolvimento de produtos. Estes projetos têm frequentemente prazos.</a:t>
            </a:r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048588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544A16-3158-4B51-874D-38CD9A95B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Algumas questões sobre a metodologia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E05C6FF-C773-4A96-8C10-272705C35D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pt-BR" dirty="0"/>
              <a:t>É adequado para todos os projetos? </a:t>
            </a:r>
          </a:p>
          <a:p>
            <a:pPr marL="0" indent="0">
              <a:buNone/>
            </a:pPr>
            <a:r>
              <a:rPr lang="pt-BR" dirty="0"/>
              <a:t>Não. DSDM é indicada para projetos que exigem pouca formalidade e prazos curtos. Não sendo adequado para projetos críticos que envolvem vidas humanas. É importante analisar a natureza do projeto em questão e decidir quais conceitos e princípios o ajudarão e quais não.</a:t>
            </a:r>
          </a:p>
          <a:p>
            <a:r>
              <a:rPr lang="pt-BR" dirty="0"/>
              <a:t>Critérios básicos o uso do DSDM?</a:t>
            </a:r>
          </a:p>
          <a:p>
            <a:pPr marL="0" indent="0">
              <a:buNone/>
            </a:pPr>
            <a:r>
              <a:rPr lang="pt-BR" dirty="0"/>
              <a:t>É preciso haver um compromisso total de gerenciamento, a equipe deve poder se reunir facilmente e a equipe deve poder trabalhar juntos facilmente.</a:t>
            </a:r>
          </a:p>
          <a:p>
            <a:r>
              <a:rPr lang="pt-BR" dirty="0"/>
              <a:t>Quão amplamente é usado o DSDM?</a:t>
            </a:r>
          </a:p>
          <a:p>
            <a:pPr marL="0" indent="0">
              <a:buNone/>
            </a:pPr>
            <a:r>
              <a:rPr lang="pt-BR" dirty="0"/>
              <a:t>Um em cada cinco desenvolvedores no Reino Unido usa o DSDM e mais de 500 grandes empresas o adotaram.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73383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109DF3-F430-470E-A0A1-AF4306A5C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Conclusão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324FE19-530B-4472-9CAB-F788603AD3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pt-BR" dirty="0"/>
              <a:t>O DSDM é uma ótima e segura base para equipes de desenvolvimento que têm em mãos projetos com necessidade de execução rápida e com requisitos flexíveis. Onde visa desenvolver projetos com a qualidade desejada sem ultrapassar limites de tempo e orçamento. É constituída por 3 fases que ajudam na facilitação do projeto e de seu desenvolvimento. A partir desta metodologia, é possível construir um trabalho que agrade ao cliente, à equipe de desenvolvimento e aos utilizadores finais que terão a oportunidade de interagir com todo o desenvolvimento do sistema de informação, através das frequentes fases de testes.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994723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FC51E4-C768-4092-9E19-BAE3C512F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Empresas que utilizaram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C844E06-35BC-4E1C-BAA4-18F50D45AF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Sema </a:t>
            </a:r>
            <a:r>
              <a:rPr lang="pt-BR" dirty="0" err="1"/>
              <a:t>Group</a:t>
            </a:r>
            <a:r>
              <a:rPr lang="pt-BR" dirty="0"/>
              <a:t>, que utiliza a DSDM em inúmeros projetos. </a:t>
            </a:r>
          </a:p>
          <a:p>
            <a:r>
              <a:rPr lang="pt-BR" dirty="0"/>
              <a:t>Boston </a:t>
            </a:r>
            <a:r>
              <a:rPr lang="pt-BR" dirty="0" err="1"/>
              <a:t>Globe</a:t>
            </a:r>
            <a:r>
              <a:rPr lang="pt-BR" dirty="0"/>
              <a:t>, desenvolveu um projeto chamado </a:t>
            </a:r>
            <a:r>
              <a:rPr lang="pt-BR" dirty="0" err="1"/>
              <a:t>Sysdeco</a:t>
            </a:r>
            <a:r>
              <a:rPr lang="pt-BR" dirty="0"/>
              <a:t> utilizando a DSDM. </a:t>
            </a:r>
            <a:r>
              <a:rPr lang="pt-BR" dirty="0" err="1"/>
              <a:t>Sysdeco</a:t>
            </a:r>
            <a:r>
              <a:rPr lang="pt-BR" dirty="0"/>
              <a:t> é um sistema voltado para gerenciamento e produção de jornais, produzido em quatro meses com o uso de DSDM.</a:t>
            </a:r>
          </a:p>
        </p:txBody>
      </p:sp>
    </p:spTree>
    <p:extLst>
      <p:ext uri="{BB962C8B-B14F-4D97-AF65-F5344CB8AC3E}">
        <p14:creationId xmlns:p14="http://schemas.microsoft.com/office/powerpoint/2010/main" val="41362158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650B8F-2C11-4B2A-BCC1-2417504D8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Referência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C4EB5E2-CA08-4449-BA13-8CCCD772D9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 </a:t>
            </a:r>
            <a:r>
              <a:rPr lang="pt-BR" i="1" dirty="0"/>
              <a:t>SBROCCO, José Henrique Teixeira de Carvalho; MACEDO, Paulo Cesar de (2012). Metodologias Ágeis. Engenharia de Software Sob Medida. São Paulo: Érica.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443969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1D07C4-F447-474D-938D-5AEF4899D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506041"/>
            <a:ext cx="9905998" cy="1478570"/>
          </a:xfrm>
        </p:spPr>
        <p:txBody>
          <a:bodyPr/>
          <a:lstStyle/>
          <a:p>
            <a:pPr algn="ctr"/>
            <a:r>
              <a:rPr lang="pt-BR" dirty="0"/>
              <a:t>APRESENTANDO A metodologia DE FORMA PRATICA</a:t>
            </a:r>
          </a:p>
        </p:txBody>
      </p:sp>
    </p:spTree>
    <p:extLst>
      <p:ext uri="{BB962C8B-B14F-4D97-AF65-F5344CB8AC3E}">
        <p14:creationId xmlns:p14="http://schemas.microsoft.com/office/powerpoint/2010/main" val="376604654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Personalizada 1">
      <a:dk1>
        <a:sysClr val="windowText" lastClr="000000"/>
      </a:dk1>
      <a:lt1>
        <a:sysClr val="window" lastClr="FFFFFF"/>
      </a:lt1>
      <a:dk2>
        <a:srgbClr val="134770"/>
      </a:dk2>
      <a:lt2>
        <a:srgbClr val="FF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o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o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567</TotalTime>
  <Words>1763</Words>
  <Application>Microsoft Office PowerPoint</Application>
  <PresentationFormat>Widescreen</PresentationFormat>
  <Paragraphs>99</Paragraphs>
  <Slides>29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29</vt:i4>
      </vt:variant>
    </vt:vector>
  </HeadingPairs>
  <TitlesOfParts>
    <vt:vector size="32" baseType="lpstr">
      <vt:lpstr>Arial</vt:lpstr>
      <vt:lpstr>Tw Cen MT</vt:lpstr>
      <vt:lpstr>Circuito</vt:lpstr>
      <vt:lpstr>Engenharia de Software</vt:lpstr>
      <vt:lpstr>Introdução</vt:lpstr>
      <vt:lpstr>Definição</vt:lpstr>
      <vt:lpstr>Comparativo de metodologias</vt:lpstr>
      <vt:lpstr>Características</vt:lpstr>
      <vt:lpstr>Principais conceitos</vt:lpstr>
      <vt:lpstr>Principais conceitos</vt:lpstr>
      <vt:lpstr>Principais conceitos</vt:lpstr>
      <vt:lpstr>Principais conceitos</vt:lpstr>
      <vt:lpstr>Principais conceitos</vt:lpstr>
      <vt:lpstr>Principais conceitos</vt:lpstr>
      <vt:lpstr>Principais conceitos</vt:lpstr>
      <vt:lpstr>Principais conceitos</vt:lpstr>
      <vt:lpstr>Principais conceitos</vt:lpstr>
      <vt:lpstr>Priorização do mOScow</vt:lpstr>
      <vt:lpstr>Fases de desenvolvimento</vt:lpstr>
      <vt:lpstr>Representação das fases</vt:lpstr>
      <vt:lpstr>1° fase: O Pré-Projeto</vt:lpstr>
      <vt:lpstr>2° fase: O Ciclo de Vida do Projeto</vt:lpstr>
      <vt:lpstr>2° fase - Iteração de Modelos Funcionais</vt:lpstr>
      <vt:lpstr>2° fase - Iteração Design e construção</vt:lpstr>
      <vt:lpstr>2° fase - Implementação </vt:lpstr>
      <vt:lpstr>3° fase - Pós-Projeto</vt:lpstr>
      <vt:lpstr>exemplos para a utilização do DSDM</vt:lpstr>
      <vt:lpstr>Algumas questões sobre a metodologia</vt:lpstr>
      <vt:lpstr>Conclusão</vt:lpstr>
      <vt:lpstr>Empresas que utilizaram</vt:lpstr>
      <vt:lpstr>Referência</vt:lpstr>
      <vt:lpstr>APRESENTANDO A metodologia DE FORMA PRATICA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Engenharia de Software</dc:title>
  <dc:creator>Taviss .</dc:creator>
  <cp:lastModifiedBy>Taviss .</cp:lastModifiedBy>
  <cp:revision>30</cp:revision>
  <dcterms:created xsi:type="dcterms:W3CDTF">2019-09-30T01:42:46Z</dcterms:created>
  <dcterms:modified xsi:type="dcterms:W3CDTF">2019-11-04T21:40:08Z</dcterms:modified>
</cp:coreProperties>
</file>