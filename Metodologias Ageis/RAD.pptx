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76" r:id="rId3"/>
    <p:sldId id="262" r:id="rId4"/>
    <p:sldId id="275" r:id="rId5"/>
    <p:sldId id="257" r:id="rId6"/>
    <p:sldId id="259" r:id="rId7"/>
    <p:sldId id="260" r:id="rId8"/>
    <p:sldId id="263" r:id="rId9"/>
    <p:sldId id="264" r:id="rId10"/>
    <p:sldId id="258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3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5A08B1-9F82-421B-BA90-F70CF23A4926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624689A-7A7A-4DEC-B599-97289738BA15}">
      <dgm:prSet phldrT="[Texto]"/>
      <dgm:spPr>
        <a:solidFill>
          <a:srgbClr val="FF0000">
            <a:alpha val="50000"/>
          </a:srgbClr>
        </a:solidFill>
        <a:scene3d>
          <a:camera prst="orthographicFront"/>
          <a:lightRig rig="threePt" dir="t"/>
        </a:scene3d>
        <a:sp3d>
          <a:bevelT w="139700" h="139700" prst="divot"/>
        </a:sp3d>
      </dgm:spPr>
      <dgm:t>
        <a:bodyPr/>
        <a:lstStyle/>
        <a:p>
          <a:r>
            <a:rPr lang="pt-BR" b="1" dirty="0" smtClean="0"/>
            <a:t>RAD</a:t>
          </a:r>
          <a:endParaRPr lang="pt-BR" b="1" dirty="0"/>
        </a:p>
      </dgm:t>
    </dgm:pt>
    <dgm:pt modelId="{36AF3E48-2DAA-4EAD-8067-2B9EF73F1450}" type="parTrans" cxnId="{B0111160-83F8-4FDC-9FB8-10BE905F7FAD}">
      <dgm:prSet/>
      <dgm:spPr/>
      <dgm:t>
        <a:bodyPr/>
        <a:lstStyle/>
        <a:p>
          <a:endParaRPr lang="pt-BR" b="1"/>
        </a:p>
      </dgm:t>
    </dgm:pt>
    <dgm:pt modelId="{587EF473-BE58-468A-9676-8290DC946336}" type="sibTrans" cxnId="{B0111160-83F8-4FDC-9FB8-10BE905F7FAD}">
      <dgm:prSet/>
      <dgm:spPr/>
      <dgm:t>
        <a:bodyPr/>
        <a:lstStyle/>
        <a:p>
          <a:endParaRPr lang="pt-BR" b="1"/>
        </a:p>
      </dgm:t>
    </dgm:pt>
    <dgm:pt modelId="{0B95C0AB-49B8-4DC5-9A5A-B94571AD9F46}">
      <dgm:prSet phldrT="[Texto]"/>
      <dgm:spPr>
        <a:solidFill>
          <a:srgbClr val="002060">
            <a:alpha val="50000"/>
          </a:srgbClr>
        </a:solidFill>
        <a:scene3d>
          <a:camera prst="orthographicFront"/>
          <a:lightRig rig="threePt" dir="t"/>
        </a:scene3d>
        <a:sp3d>
          <a:bevelT w="139700" h="139700" prst="divot"/>
        </a:sp3d>
      </dgm:spPr>
      <dgm:t>
        <a:bodyPr/>
        <a:lstStyle/>
        <a:p>
          <a:r>
            <a:rPr lang="pt-BR" b="1" dirty="0" smtClean="0"/>
            <a:t>REQUERIMENT</a:t>
          </a:r>
        </a:p>
        <a:p>
          <a:r>
            <a:rPr lang="pt-BR" b="1" dirty="0" smtClean="0"/>
            <a:t>ANALYSIS</a:t>
          </a:r>
          <a:endParaRPr lang="pt-BR" b="1" dirty="0"/>
        </a:p>
      </dgm:t>
    </dgm:pt>
    <dgm:pt modelId="{0859881C-5083-4735-B50B-85CAAA7D2518}" type="parTrans" cxnId="{10649731-90CB-43AF-B768-DEAF5B268415}">
      <dgm:prSet/>
      <dgm:spPr/>
      <dgm:t>
        <a:bodyPr/>
        <a:lstStyle/>
        <a:p>
          <a:endParaRPr lang="pt-BR" b="1"/>
        </a:p>
      </dgm:t>
    </dgm:pt>
    <dgm:pt modelId="{4DEA8471-CEFA-4A95-95D4-FD8B115E149C}" type="sibTrans" cxnId="{10649731-90CB-43AF-B768-DEAF5B268415}">
      <dgm:prSet/>
      <dgm:spPr/>
      <dgm:t>
        <a:bodyPr/>
        <a:lstStyle/>
        <a:p>
          <a:endParaRPr lang="pt-BR" b="1"/>
        </a:p>
      </dgm:t>
    </dgm:pt>
    <dgm:pt modelId="{37FBD718-EACC-4A27-B24F-2CD9BA2D2C5D}">
      <dgm:prSet phldrT="[Texto]"/>
      <dgm:spPr>
        <a:solidFill>
          <a:schemeClr val="accent4">
            <a:alpha val="50000"/>
          </a:schemeClr>
        </a:solidFill>
        <a:scene3d>
          <a:camera prst="orthographicFront"/>
          <a:lightRig rig="threePt" dir="t"/>
        </a:scene3d>
        <a:sp3d>
          <a:bevelT w="139700" h="139700" prst="divot"/>
        </a:sp3d>
      </dgm:spPr>
      <dgm:t>
        <a:bodyPr/>
        <a:lstStyle/>
        <a:p>
          <a:r>
            <a:rPr lang="pt-BR" b="1" dirty="0" smtClean="0"/>
            <a:t>GENERATE</a:t>
          </a:r>
        </a:p>
        <a:p>
          <a:r>
            <a:rPr lang="pt-BR" b="1" dirty="0" smtClean="0"/>
            <a:t>APPLICATION</a:t>
          </a:r>
          <a:endParaRPr lang="pt-BR" b="1" dirty="0"/>
        </a:p>
      </dgm:t>
    </dgm:pt>
    <dgm:pt modelId="{1E740D80-162D-4784-A1C7-AC4347F959B0}" type="parTrans" cxnId="{A7233B76-0773-4891-A060-4046445F5295}">
      <dgm:prSet/>
      <dgm:spPr/>
      <dgm:t>
        <a:bodyPr/>
        <a:lstStyle/>
        <a:p>
          <a:endParaRPr lang="pt-BR" b="1"/>
        </a:p>
      </dgm:t>
    </dgm:pt>
    <dgm:pt modelId="{9C9F3597-F053-4FFA-9DE2-33D93E19394F}" type="sibTrans" cxnId="{A7233B76-0773-4891-A060-4046445F5295}">
      <dgm:prSet/>
      <dgm:spPr/>
      <dgm:t>
        <a:bodyPr/>
        <a:lstStyle/>
        <a:p>
          <a:endParaRPr lang="pt-BR" b="1"/>
        </a:p>
      </dgm:t>
    </dgm:pt>
    <dgm:pt modelId="{1886AB76-018C-45A5-82DE-D26D5115950E}">
      <dgm:prSet phldrT="[Texto]"/>
      <dgm:spPr>
        <a:solidFill>
          <a:srgbClr val="00B050">
            <a:alpha val="50000"/>
          </a:srgbClr>
        </a:solidFill>
        <a:scene3d>
          <a:camera prst="orthographicFront"/>
          <a:lightRig rig="threePt" dir="t"/>
        </a:scene3d>
        <a:sp3d>
          <a:bevelT w="139700" h="139700" prst="divot"/>
        </a:sp3d>
      </dgm:spPr>
      <dgm:t>
        <a:bodyPr/>
        <a:lstStyle/>
        <a:p>
          <a:r>
            <a:rPr lang="pt-BR" b="1" dirty="0" smtClean="0"/>
            <a:t>VALIDATE</a:t>
          </a:r>
        </a:p>
        <a:p>
          <a:r>
            <a:rPr lang="pt-BR" b="1" dirty="0" smtClean="0"/>
            <a:t>SOLUTION</a:t>
          </a:r>
          <a:endParaRPr lang="pt-BR" b="1" dirty="0"/>
        </a:p>
      </dgm:t>
    </dgm:pt>
    <dgm:pt modelId="{69F2F9EC-36FF-4152-AFA1-83C43E4922E4}" type="parTrans" cxnId="{1ABE0637-A8D2-4432-94F0-6EC579616595}">
      <dgm:prSet/>
      <dgm:spPr/>
      <dgm:t>
        <a:bodyPr/>
        <a:lstStyle/>
        <a:p>
          <a:endParaRPr lang="pt-BR" b="1"/>
        </a:p>
      </dgm:t>
    </dgm:pt>
    <dgm:pt modelId="{68878169-E891-430D-BDE8-9902255DC553}" type="sibTrans" cxnId="{1ABE0637-A8D2-4432-94F0-6EC579616595}">
      <dgm:prSet/>
      <dgm:spPr/>
      <dgm:t>
        <a:bodyPr/>
        <a:lstStyle/>
        <a:p>
          <a:endParaRPr lang="pt-BR" b="1"/>
        </a:p>
      </dgm:t>
    </dgm:pt>
    <dgm:pt modelId="{EF1E52D2-2790-44DF-9ECA-4AFA03076D32}">
      <dgm:prSet phldrT="[Texto]"/>
      <dgm:spPr>
        <a:solidFill>
          <a:schemeClr val="tx2">
            <a:lumMod val="75000"/>
            <a:alpha val="50000"/>
          </a:schemeClr>
        </a:solidFill>
        <a:scene3d>
          <a:camera prst="orthographicFront"/>
          <a:lightRig rig="threePt" dir="t"/>
        </a:scene3d>
        <a:sp3d>
          <a:bevelT w="139700" h="139700" prst="divot"/>
        </a:sp3d>
      </dgm:spPr>
      <dgm:t>
        <a:bodyPr/>
        <a:lstStyle/>
        <a:p>
          <a:r>
            <a:rPr lang="pt-BR" b="1" dirty="0" smtClean="0"/>
            <a:t>DEPLOY SOLUTION</a:t>
          </a:r>
          <a:endParaRPr lang="pt-BR" b="1" dirty="0"/>
        </a:p>
      </dgm:t>
    </dgm:pt>
    <dgm:pt modelId="{18342A7E-3391-4AB1-9CE3-19E9029501CB}" type="parTrans" cxnId="{50552E65-BAB6-4992-B091-367FD9717F41}">
      <dgm:prSet/>
      <dgm:spPr/>
      <dgm:t>
        <a:bodyPr/>
        <a:lstStyle/>
        <a:p>
          <a:endParaRPr lang="pt-BR" b="1"/>
        </a:p>
      </dgm:t>
    </dgm:pt>
    <dgm:pt modelId="{F50ED47F-CADA-407E-8B11-419E806F67B8}" type="sibTrans" cxnId="{50552E65-BAB6-4992-B091-367FD9717F41}">
      <dgm:prSet/>
      <dgm:spPr/>
      <dgm:t>
        <a:bodyPr/>
        <a:lstStyle/>
        <a:p>
          <a:endParaRPr lang="pt-BR" b="1"/>
        </a:p>
      </dgm:t>
    </dgm:pt>
    <dgm:pt modelId="{9C036D8D-D2F4-449B-894C-3442E021917E}">
      <dgm:prSet/>
      <dgm:spPr>
        <a:solidFill>
          <a:srgbClr val="FFC000">
            <a:alpha val="50000"/>
          </a:srgbClr>
        </a:solidFill>
        <a:scene3d>
          <a:camera prst="orthographicFront"/>
          <a:lightRig rig="threePt" dir="t"/>
        </a:scene3d>
        <a:sp3d>
          <a:bevelT w="139700" h="139700" prst="divot"/>
        </a:sp3d>
      </dgm:spPr>
      <dgm:t>
        <a:bodyPr/>
        <a:lstStyle/>
        <a:p>
          <a:r>
            <a:rPr lang="pt-BR" b="1" dirty="0" smtClean="0"/>
            <a:t>CONFIGURE</a:t>
          </a:r>
        </a:p>
        <a:p>
          <a:r>
            <a:rPr lang="pt-BR" b="1" dirty="0" smtClean="0"/>
            <a:t>BUSINESS SOLUTION</a:t>
          </a:r>
          <a:endParaRPr lang="pt-BR" b="1" dirty="0"/>
        </a:p>
      </dgm:t>
    </dgm:pt>
    <dgm:pt modelId="{B417F0D6-C374-4F87-9F03-9EA631578FD6}" type="parTrans" cxnId="{4B19B535-79B9-4880-BA35-27A8EBD49762}">
      <dgm:prSet/>
      <dgm:spPr/>
      <dgm:t>
        <a:bodyPr/>
        <a:lstStyle/>
        <a:p>
          <a:endParaRPr lang="pt-BR" b="1"/>
        </a:p>
      </dgm:t>
    </dgm:pt>
    <dgm:pt modelId="{8E4F09B8-A575-45DD-9E1A-312E739CED3B}" type="sibTrans" cxnId="{4B19B535-79B9-4880-BA35-27A8EBD49762}">
      <dgm:prSet/>
      <dgm:spPr/>
      <dgm:t>
        <a:bodyPr/>
        <a:lstStyle/>
        <a:p>
          <a:endParaRPr lang="pt-BR" b="1"/>
        </a:p>
      </dgm:t>
    </dgm:pt>
    <dgm:pt modelId="{7F74B1AA-0553-4A39-B13B-7816224B62B0}" type="pres">
      <dgm:prSet presAssocID="{A65A08B1-9F82-421B-BA90-F70CF23A4926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419F88C3-1541-4A3C-9D0F-BC6FEEA143E1}" type="pres">
      <dgm:prSet presAssocID="{A65A08B1-9F82-421B-BA90-F70CF23A4926}" presName="radial" presStyleCnt="0">
        <dgm:presLayoutVars>
          <dgm:animLvl val="ctr"/>
        </dgm:presLayoutVars>
      </dgm:prSet>
      <dgm:spPr>
        <a:scene3d>
          <a:camera prst="orthographicFront"/>
          <a:lightRig rig="threePt" dir="t"/>
        </a:scene3d>
        <a:sp3d>
          <a:bevelT w="139700" h="139700" prst="divot"/>
        </a:sp3d>
      </dgm:spPr>
    </dgm:pt>
    <dgm:pt modelId="{E806E436-584D-454A-B996-B7B4E9E4CD51}" type="pres">
      <dgm:prSet presAssocID="{8624689A-7A7A-4DEC-B599-97289738BA15}" presName="centerShape" presStyleLbl="vennNode1" presStyleIdx="0" presStyleCnt="6"/>
      <dgm:spPr/>
      <dgm:t>
        <a:bodyPr/>
        <a:lstStyle/>
        <a:p>
          <a:endParaRPr lang="pt-BR"/>
        </a:p>
      </dgm:t>
    </dgm:pt>
    <dgm:pt modelId="{652B81BE-B7DA-4F17-8A10-B5D242CF7850}" type="pres">
      <dgm:prSet presAssocID="{0B95C0AB-49B8-4DC5-9A5A-B94571AD9F46}" presName="node" presStyleLbl="venn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DA81B7D-6783-4466-BEA5-97C4ADEDDB4D}" type="pres">
      <dgm:prSet presAssocID="{9C036D8D-D2F4-449B-894C-3442E021917E}" presName="node" presStyleLbl="vennNode1" presStyleIdx="2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31588D1-267E-4A25-B466-291820A176F5}" type="pres">
      <dgm:prSet presAssocID="{37FBD718-EACC-4A27-B24F-2CD9BA2D2C5D}" presName="node" presStyleLbl="venn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EABADE0-2B97-4904-94F6-665EE111CFC0}" type="pres">
      <dgm:prSet presAssocID="{1886AB76-018C-45A5-82DE-D26D5115950E}" presName="node" presStyleLbl="venn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8793CC8-5A11-47C7-92C0-5228D4EF4A3E}" type="pres">
      <dgm:prSet presAssocID="{EF1E52D2-2790-44DF-9ECA-4AFA03076D32}" presName="node" presStyleLbl="venn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0552E65-BAB6-4992-B091-367FD9717F41}" srcId="{8624689A-7A7A-4DEC-B599-97289738BA15}" destId="{EF1E52D2-2790-44DF-9ECA-4AFA03076D32}" srcOrd="4" destOrd="0" parTransId="{18342A7E-3391-4AB1-9CE3-19E9029501CB}" sibTransId="{F50ED47F-CADA-407E-8B11-419E806F67B8}"/>
    <dgm:cxn modelId="{5EFA1B64-1B59-4AA1-9BDE-940946173882}" type="presOf" srcId="{1886AB76-018C-45A5-82DE-D26D5115950E}" destId="{5EABADE0-2B97-4904-94F6-665EE111CFC0}" srcOrd="0" destOrd="0" presId="urn:microsoft.com/office/officeart/2005/8/layout/radial3"/>
    <dgm:cxn modelId="{A7233B76-0773-4891-A060-4046445F5295}" srcId="{8624689A-7A7A-4DEC-B599-97289738BA15}" destId="{37FBD718-EACC-4A27-B24F-2CD9BA2D2C5D}" srcOrd="2" destOrd="0" parTransId="{1E740D80-162D-4784-A1C7-AC4347F959B0}" sibTransId="{9C9F3597-F053-4FFA-9DE2-33D93E19394F}"/>
    <dgm:cxn modelId="{D3C5C20C-74F3-42EE-92EA-2AF6693487A1}" type="presOf" srcId="{EF1E52D2-2790-44DF-9ECA-4AFA03076D32}" destId="{38793CC8-5A11-47C7-92C0-5228D4EF4A3E}" srcOrd="0" destOrd="0" presId="urn:microsoft.com/office/officeart/2005/8/layout/radial3"/>
    <dgm:cxn modelId="{B0111160-83F8-4FDC-9FB8-10BE905F7FAD}" srcId="{A65A08B1-9F82-421B-BA90-F70CF23A4926}" destId="{8624689A-7A7A-4DEC-B599-97289738BA15}" srcOrd="0" destOrd="0" parTransId="{36AF3E48-2DAA-4EAD-8067-2B9EF73F1450}" sibTransId="{587EF473-BE58-468A-9676-8290DC946336}"/>
    <dgm:cxn modelId="{95520E0E-02F0-4651-8EC2-7A1FE4A2D4A0}" type="presOf" srcId="{A65A08B1-9F82-421B-BA90-F70CF23A4926}" destId="{7F74B1AA-0553-4A39-B13B-7816224B62B0}" srcOrd="0" destOrd="0" presId="urn:microsoft.com/office/officeart/2005/8/layout/radial3"/>
    <dgm:cxn modelId="{1ABE0637-A8D2-4432-94F0-6EC579616595}" srcId="{8624689A-7A7A-4DEC-B599-97289738BA15}" destId="{1886AB76-018C-45A5-82DE-D26D5115950E}" srcOrd="3" destOrd="0" parTransId="{69F2F9EC-36FF-4152-AFA1-83C43E4922E4}" sibTransId="{68878169-E891-430D-BDE8-9902255DC553}"/>
    <dgm:cxn modelId="{8A778740-2D0D-417E-9FFE-A1E8A0FBFC84}" type="presOf" srcId="{0B95C0AB-49B8-4DC5-9A5A-B94571AD9F46}" destId="{652B81BE-B7DA-4F17-8A10-B5D242CF7850}" srcOrd="0" destOrd="0" presId="urn:microsoft.com/office/officeart/2005/8/layout/radial3"/>
    <dgm:cxn modelId="{84077AE3-5AC6-4B8D-A910-5F013B80AFBE}" type="presOf" srcId="{9C036D8D-D2F4-449B-894C-3442E021917E}" destId="{3DA81B7D-6783-4466-BEA5-97C4ADEDDB4D}" srcOrd="0" destOrd="0" presId="urn:microsoft.com/office/officeart/2005/8/layout/radial3"/>
    <dgm:cxn modelId="{FC1E13F6-EAB3-4A43-B053-728B789FDD9F}" type="presOf" srcId="{37FBD718-EACC-4A27-B24F-2CD9BA2D2C5D}" destId="{D31588D1-267E-4A25-B466-291820A176F5}" srcOrd="0" destOrd="0" presId="urn:microsoft.com/office/officeart/2005/8/layout/radial3"/>
    <dgm:cxn modelId="{10649731-90CB-43AF-B768-DEAF5B268415}" srcId="{8624689A-7A7A-4DEC-B599-97289738BA15}" destId="{0B95C0AB-49B8-4DC5-9A5A-B94571AD9F46}" srcOrd="0" destOrd="0" parTransId="{0859881C-5083-4735-B50B-85CAAA7D2518}" sibTransId="{4DEA8471-CEFA-4A95-95D4-FD8B115E149C}"/>
    <dgm:cxn modelId="{4B19B535-79B9-4880-BA35-27A8EBD49762}" srcId="{8624689A-7A7A-4DEC-B599-97289738BA15}" destId="{9C036D8D-D2F4-449B-894C-3442E021917E}" srcOrd="1" destOrd="0" parTransId="{B417F0D6-C374-4F87-9F03-9EA631578FD6}" sibTransId="{8E4F09B8-A575-45DD-9E1A-312E739CED3B}"/>
    <dgm:cxn modelId="{DDE484C4-6EC6-4664-B1A8-53FD4E7C06CA}" type="presOf" srcId="{8624689A-7A7A-4DEC-B599-97289738BA15}" destId="{E806E436-584D-454A-B996-B7B4E9E4CD51}" srcOrd="0" destOrd="0" presId="urn:microsoft.com/office/officeart/2005/8/layout/radial3"/>
    <dgm:cxn modelId="{C8B35613-5407-4E60-A27B-B62DB6797B94}" type="presParOf" srcId="{7F74B1AA-0553-4A39-B13B-7816224B62B0}" destId="{419F88C3-1541-4A3C-9D0F-BC6FEEA143E1}" srcOrd="0" destOrd="0" presId="urn:microsoft.com/office/officeart/2005/8/layout/radial3"/>
    <dgm:cxn modelId="{ABE9E979-AD7D-4B8F-A384-DA7DB1D9D0CE}" type="presParOf" srcId="{419F88C3-1541-4A3C-9D0F-BC6FEEA143E1}" destId="{E806E436-584D-454A-B996-B7B4E9E4CD51}" srcOrd="0" destOrd="0" presId="urn:microsoft.com/office/officeart/2005/8/layout/radial3"/>
    <dgm:cxn modelId="{A9B9A074-FBD2-47C3-8AB7-1885142060B3}" type="presParOf" srcId="{419F88C3-1541-4A3C-9D0F-BC6FEEA143E1}" destId="{652B81BE-B7DA-4F17-8A10-B5D242CF7850}" srcOrd="1" destOrd="0" presId="urn:microsoft.com/office/officeart/2005/8/layout/radial3"/>
    <dgm:cxn modelId="{8970F466-7581-47DA-B117-448C0052E22C}" type="presParOf" srcId="{419F88C3-1541-4A3C-9D0F-BC6FEEA143E1}" destId="{3DA81B7D-6783-4466-BEA5-97C4ADEDDB4D}" srcOrd="2" destOrd="0" presId="urn:microsoft.com/office/officeart/2005/8/layout/radial3"/>
    <dgm:cxn modelId="{2C2BF022-31B8-40A3-847C-36F2FCDCE5C1}" type="presParOf" srcId="{419F88C3-1541-4A3C-9D0F-BC6FEEA143E1}" destId="{D31588D1-267E-4A25-B466-291820A176F5}" srcOrd="3" destOrd="0" presId="urn:microsoft.com/office/officeart/2005/8/layout/radial3"/>
    <dgm:cxn modelId="{3880FC4F-5966-41A8-8709-229A711DB26B}" type="presParOf" srcId="{419F88C3-1541-4A3C-9D0F-BC6FEEA143E1}" destId="{5EABADE0-2B97-4904-94F6-665EE111CFC0}" srcOrd="4" destOrd="0" presId="urn:microsoft.com/office/officeart/2005/8/layout/radial3"/>
    <dgm:cxn modelId="{17C1FCBC-220C-4B58-9DBB-7EA92F5AC371}" type="presParOf" srcId="{419F88C3-1541-4A3C-9D0F-BC6FEEA143E1}" destId="{38793CC8-5A11-47C7-92C0-5228D4EF4A3E}" srcOrd="5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06E436-584D-454A-B996-B7B4E9E4CD51}">
      <dsp:nvSpPr>
        <dsp:cNvPr id="0" name=""/>
        <dsp:cNvSpPr/>
      </dsp:nvSpPr>
      <dsp:spPr>
        <a:xfrm>
          <a:off x="2890605" y="1353758"/>
          <a:ext cx="3138124" cy="3138124"/>
        </a:xfrm>
        <a:prstGeom prst="ellipse">
          <a:avLst/>
        </a:prstGeom>
        <a:solidFill>
          <a:srgbClr val="FF0000">
            <a:alpha val="50000"/>
          </a:srgb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h="139700" prst="divo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500" b="1" kern="1200" dirty="0" smtClean="0"/>
            <a:t>RAD</a:t>
          </a:r>
          <a:endParaRPr lang="pt-BR" sz="6500" b="1" kern="1200" dirty="0"/>
        </a:p>
      </dsp:txBody>
      <dsp:txXfrm>
        <a:off x="3350173" y="1813326"/>
        <a:ext cx="2218988" cy="2218988"/>
      </dsp:txXfrm>
    </dsp:sp>
    <dsp:sp modelId="{652B81BE-B7DA-4F17-8A10-B5D242CF7850}">
      <dsp:nvSpPr>
        <dsp:cNvPr id="0" name=""/>
        <dsp:cNvSpPr/>
      </dsp:nvSpPr>
      <dsp:spPr>
        <a:xfrm>
          <a:off x="3675136" y="96818"/>
          <a:ext cx="1569062" cy="1569062"/>
        </a:xfrm>
        <a:prstGeom prst="ellipse">
          <a:avLst/>
        </a:prstGeom>
        <a:solidFill>
          <a:srgbClr val="002060">
            <a:alpha val="50000"/>
          </a:srgb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h="139700" prst="divo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REQUERIMENT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ANALYSIS</a:t>
          </a:r>
          <a:endParaRPr lang="pt-BR" sz="1200" b="1" kern="1200" dirty="0"/>
        </a:p>
      </dsp:txBody>
      <dsp:txXfrm>
        <a:off x="3904920" y="326602"/>
        <a:ext cx="1109494" cy="1109494"/>
      </dsp:txXfrm>
    </dsp:sp>
    <dsp:sp modelId="{3DA81B7D-6783-4466-BEA5-97C4ADEDDB4D}">
      <dsp:nvSpPr>
        <dsp:cNvPr id="0" name=""/>
        <dsp:cNvSpPr/>
      </dsp:nvSpPr>
      <dsp:spPr>
        <a:xfrm>
          <a:off x="5616690" y="1507439"/>
          <a:ext cx="1569062" cy="1569062"/>
        </a:xfrm>
        <a:prstGeom prst="ellipse">
          <a:avLst/>
        </a:prstGeom>
        <a:solidFill>
          <a:srgbClr val="FFC000">
            <a:alpha val="50000"/>
          </a:srgb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h="139700" prst="divo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CONFIGURE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BUSINESS SOLUTION</a:t>
          </a:r>
          <a:endParaRPr lang="pt-BR" sz="1200" b="1" kern="1200" dirty="0"/>
        </a:p>
      </dsp:txBody>
      <dsp:txXfrm>
        <a:off x="5846474" y="1737223"/>
        <a:ext cx="1109494" cy="1109494"/>
      </dsp:txXfrm>
    </dsp:sp>
    <dsp:sp modelId="{D31588D1-267E-4A25-B466-291820A176F5}">
      <dsp:nvSpPr>
        <dsp:cNvPr id="0" name=""/>
        <dsp:cNvSpPr/>
      </dsp:nvSpPr>
      <dsp:spPr>
        <a:xfrm>
          <a:off x="4875082" y="3789873"/>
          <a:ext cx="1569062" cy="1569062"/>
        </a:xfrm>
        <a:prstGeom prst="ellipse">
          <a:avLst/>
        </a:prstGeom>
        <a:solidFill>
          <a:schemeClr val="accent4">
            <a:alpha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h="139700" prst="divo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GENERATE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APPLICATION</a:t>
          </a:r>
          <a:endParaRPr lang="pt-BR" sz="1200" b="1" kern="1200" dirty="0"/>
        </a:p>
      </dsp:txBody>
      <dsp:txXfrm>
        <a:off x="5104866" y="4019657"/>
        <a:ext cx="1109494" cy="1109494"/>
      </dsp:txXfrm>
    </dsp:sp>
    <dsp:sp modelId="{5EABADE0-2B97-4904-94F6-665EE111CFC0}">
      <dsp:nvSpPr>
        <dsp:cNvPr id="0" name=""/>
        <dsp:cNvSpPr/>
      </dsp:nvSpPr>
      <dsp:spPr>
        <a:xfrm>
          <a:off x="2475190" y="3789873"/>
          <a:ext cx="1569062" cy="1569062"/>
        </a:xfrm>
        <a:prstGeom prst="ellipse">
          <a:avLst/>
        </a:prstGeom>
        <a:solidFill>
          <a:srgbClr val="00B050">
            <a:alpha val="50000"/>
          </a:srgb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h="139700" prst="divo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VALIDATE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SOLUTION</a:t>
          </a:r>
          <a:endParaRPr lang="pt-BR" sz="1200" b="1" kern="1200" dirty="0"/>
        </a:p>
      </dsp:txBody>
      <dsp:txXfrm>
        <a:off x="2704974" y="4019657"/>
        <a:ext cx="1109494" cy="1109494"/>
      </dsp:txXfrm>
    </dsp:sp>
    <dsp:sp modelId="{38793CC8-5A11-47C7-92C0-5228D4EF4A3E}">
      <dsp:nvSpPr>
        <dsp:cNvPr id="0" name=""/>
        <dsp:cNvSpPr/>
      </dsp:nvSpPr>
      <dsp:spPr>
        <a:xfrm>
          <a:off x="1733582" y="1507439"/>
          <a:ext cx="1569062" cy="1569062"/>
        </a:xfrm>
        <a:prstGeom prst="ellipse">
          <a:avLst/>
        </a:prstGeom>
        <a:solidFill>
          <a:schemeClr val="tx2">
            <a:lumMod val="75000"/>
            <a:alpha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h="139700" prst="divo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DEPLOY SOLUTION</a:t>
          </a:r>
          <a:endParaRPr lang="pt-BR" sz="1200" b="1" kern="1200" dirty="0"/>
        </a:p>
      </dsp:txBody>
      <dsp:txXfrm>
        <a:off x="1963366" y="1737223"/>
        <a:ext cx="1109494" cy="11094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54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8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58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79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75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65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4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06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61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18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43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62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85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1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697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35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/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4827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 txBox="1">
            <a:spLocks/>
          </p:cNvSpPr>
          <p:nvPr/>
        </p:nvSpPr>
        <p:spPr>
          <a:xfrm>
            <a:off x="5847008" y="389645"/>
            <a:ext cx="6628327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graphicFrame>
        <p:nvGraphicFramePr>
          <p:cNvPr id="8" name="Diagrama 7"/>
          <p:cNvGraphicFramePr/>
          <p:nvPr>
            <p:extLst>
              <p:ext uri="{D42A27DB-BD31-4B8C-83A1-F6EECF244321}">
                <p14:modId xmlns:p14="http://schemas.microsoft.com/office/powerpoint/2010/main" val="670321606"/>
              </p:ext>
            </p:extLst>
          </p:nvPr>
        </p:nvGraphicFramePr>
        <p:xfrm>
          <a:off x="1478227" y="989834"/>
          <a:ext cx="8919335" cy="5455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9831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6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0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 txBox="1">
            <a:spLocks/>
          </p:cNvSpPr>
          <p:nvPr/>
        </p:nvSpPr>
        <p:spPr>
          <a:xfrm>
            <a:off x="5847008" y="389645"/>
            <a:ext cx="6628327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TÓPICOS ABORDADOS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987377" y="1719323"/>
            <a:ext cx="2028423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HISTÓRIA 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987377" y="3643896"/>
            <a:ext cx="2236632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VANTAGENS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987377" y="2364632"/>
            <a:ext cx="2303174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INTRODUÇÃO 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987377" y="3004264"/>
            <a:ext cx="2237706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 QUE É RAD 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987377" y="4294958"/>
            <a:ext cx="2680952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DESVANTAGENS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987377" y="4946020"/>
            <a:ext cx="3644722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ESTRUTURAS / ETAPAS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987377" y="5585652"/>
            <a:ext cx="2236632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ETAPAS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6325134" y="1720313"/>
            <a:ext cx="3818585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DESCRIÇÃO DAS ETAPAS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6325134" y="2364632"/>
            <a:ext cx="3818585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CONCEITOS E DESAFIOS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6334792" y="3004264"/>
            <a:ext cx="5655439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QUALIDADE DE SOFTWARE E DIVISÃO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6334792" y="3643896"/>
            <a:ext cx="4060063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QUALIDADE DO PRODUTO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6334792" y="4294958"/>
            <a:ext cx="4060063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QUALIDADE DO PEOCESSO</a:t>
            </a: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334792" y="4968834"/>
            <a:ext cx="2236632" cy="40011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pt-BR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48090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História - RAD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846641" y="389645"/>
            <a:ext cx="6628327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36343" y="1480878"/>
            <a:ext cx="1141168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Os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modelos de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processos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de software apresentados durante a década de 70, cujo modelo em cascata é um bom representante, possuíam longos períodos de desenvolvimento e muitas vezes os requisitos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dos sistemas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se alteravam antes do fim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dos processos. 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Os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desenvolvedores de software necessitavam de um modelo mais ágil que permitisse um tempo de desenvolvimento mais curto e a mudança dos requisitos durante o processo.</a:t>
            </a:r>
          </a:p>
          <a:p>
            <a:pPr algn="just"/>
            <a:endParaRPr lang="pt-B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Nos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anos 80 os trabalhos de 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Barry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Boehm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, (modelo de processo em espiral) e 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Tom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Gilb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 (modelo de processo evolucionário) serviram de base para uma metodologia chamada </a:t>
            </a:r>
            <a:r>
              <a:rPr lang="pt-BR" sz="2000" b="1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Rapid</a:t>
            </a:r>
            <a:r>
              <a:rPr lang="pt-BR" sz="20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Iterative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Prototyping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(RIPP)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criada por 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Scott </a:t>
            </a:r>
            <a:r>
              <a:rPr lang="pt-BR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Shultz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000" b="1" i="1" dirty="0" smtClean="0">
                <a:latin typeface="Arial" panose="020B0604020202020204" pitchFamily="34" charset="0"/>
                <a:cs typeface="Arial" panose="020B0604020202020204" pitchFamily="34" charset="0"/>
              </a:rPr>
              <a:t>James </a:t>
            </a:r>
            <a:r>
              <a:rPr lang="pt-BR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Martin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 estendeu o RIPP agregando valores de outros processos tornando-o maior e mais formal sendo assim denominado de 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RAD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. O RAD foi finalmente formalizado em 1991 com a publicação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livro “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Rapid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67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/>
          </a:bodyPr>
          <a:lstStyle/>
          <a:p>
            <a:pPr algn="ctr"/>
            <a:r>
              <a:rPr lang="pt-BR" sz="2000" b="1" cap="none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INTRODUÇÃO - RAD</a:t>
            </a:r>
            <a:endParaRPr lang="pt-BR" sz="2000" b="1" cap="none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847008" y="389645"/>
            <a:ext cx="6628327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894552" y="1917597"/>
            <a:ext cx="93044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abemos que RAD é uma metodologia do processo de “Engenharia de Software” aplicada a desenvolvimento. Para que possamos iniciar a apresentação temos que entender dois fatores primordiais: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 que é Engenharia de Software?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Área da computação que utiliza um conjunto de métricas, técnicas, ferramentas e métodos para o desenvolvimento de um software.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 que são metodologias?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Entende-se por metodologia, como a maneira – forma – de se utilizar um conjunto coerente e coordenado de métodos para atingir um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objetivo. 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20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/>
          </a:bodyPr>
          <a:lstStyle/>
          <a:p>
            <a:pPr algn="ctr"/>
            <a:r>
              <a:rPr lang="pt-BR" sz="2000" b="1" cap="none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O QUE É RAD</a:t>
            </a:r>
            <a:endParaRPr lang="pt-BR" sz="2000" b="1" cap="none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885645" y="389645"/>
            <a:ext cx="6628327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cap="none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 RAD</a:t>
            </a:r>
            <a:endParaRPr lang="pt-BR" sz="1800" b="1" cap="none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449449" y="1578878"/>
            <a:ext cx="96012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Rapid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 (RAD)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é um modelo de processo de software incremental que enfatiza um ciclo de desenvolvimento curto. </a:t>
            </a:r>
            <a:endParaRPr lang="pt-B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	RAD é uma metodologia adaptada do modelo cascata. Uma de suas principais características e motivo por ser um bom método, é que ele, diferente do modelo cascata, é mais flexível, devido ser realizado de forma incremental e baseado em componentes. Porém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é necessário que os requisitos e as necessidades do cliente sejam bem definidos e compreendido, porque a partir deste levantamento, o desenvolvimento do sistema será feito de acordo com as prioridades do cliente. </a:t>
            </a:r>
          </a:p>
          <a:p>
            <a:pPr algn="just"/>
            <a:endParaRPr lang="pt-B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método inclui desenvolvimento interativo, prototipagem e uso dos utilitários CASE (Computer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Aided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Software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). Tradicionalmente, o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RAD também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tende a abranger usabilidade, utilidade e velocidade de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execução.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88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Vantagens - rad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898892" y="290134"/>
            <a:ext cx="6628327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431908" y="1888772"/>
            <a:ext cx="682580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 aplicação é do tipo "stand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alone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"; </a:t>
            </a:r>
            <a:endParaRPr lang="pt-B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Não necessita de um software auxiliar para seu funcionamento (autossuficiente).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Pode-se fazer uso de classes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pré-existentes;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pt-BR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API’s</a:t>
            </a:r>
            <a:r>
              <a:rPr lang="pt-B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, e reutilização de componentes.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 performance não é o mais importante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 distribuição do produto é pequena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sistema pode ser dividido em vários módulos independentes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Funções modularizadas facilitando o trabalho.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570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Desvantagens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885829" y="389645"/>
            <a:ext cx="6628327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500572" y="1863368"/>
            <a:ext cx="877051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aplicação precisa interagir com outros programas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Existem poucos </a:t>
            </a:r>
            <a:r>
              <a:rPr lang="pt-BR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plugins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 componentes disponíveis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/>
            <a:endParaRPr lang="pt-B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Tanto o cliente final quanto o desenvolvedor devem se comprometer a concluir o sistema em um prazo muito abreviado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Se não houver comprometimento, o RAD falhará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RAD é baseado na abordagem Orientada a Objetos e, se for difícil modularizar o projeto, o RAD pode não funcionar bem.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346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441178"/>
            <a:ext cx="3516961" cy="550495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Autofit/>
          </a:bodyPr>
          <a:lstStyle/>
          <a:p>
            <a:pPr algn="ctr"/>
            <a:r>
              <a:rPr lang="pt-BR" sz="1800" b="1" dirty="0" smtClean="0">
                <a:solidFill>
                  <a:schemeClr val="bg1"/>
                </a:solidFill>
                <a:latin typeface="Narkisim" panose="020E0502050101010101" pitchFamily="34" charset="-79"/>
                <a:ea typeface="Droid Serif" panose="02020600060500020200" pitchFamily="18" charset="0"/>
                <a:cs typeface="Narkisim" panose="020E0502050101010101" pitchFamily="34" charset="-79"/>
              </a:rPr>
              <a:t>Estrutura / etapas - rad</a:t>
            </a:r>
            <a:endParaRPr lang="pt-BR" sz="1800" b="1" dirty="0">
              <a:solidFill>
                <a:schemeClr val="bg1"/>
              </a:solidFill>
              <a:latin typeface="Narkisim" panose="020E0502050101010101" pitchFamily="34" charset="-79"/>
              <a:ea typeface="Droid Serif" panose="02020600060500020200" pitchFamily="18" charset="0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744998" y="272726"/>
            <a:ext cx="6705601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AutoShape 6" descr="blob:https://web.whatsapp.com/a33dfc25-6073-4f3a-bdba-128873466499"/>
          <p:cNvSpPr>
            <a:spLocks noChangeAspect="1" noChangeArrowheads="1"/>
          </p:cNvSpPr>
          <p:nvPr/>
        </p:nvSpPr>
        <p:spPr bwMode="auto">
          <a:xfrm>
            <a:off x="3516961" y="286543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z="1400"/>
          </a:p>
        </p:txBody>
      </p:sp>
      <p:grpSp>
        <p:nvGrpSpPr>
          <p:cNvPr id="153" name="Grupo 152"/>
          <p:cNvGrpSpPr/>
          <p:nvPr/>
        </p:nvGrpSpPr>
        <p:grpSpPr>
          <a:xfrm>
            <a:off x="540979" y="1154152"/>
            <a:ext cx="10442132" cy="4958411"/>
            <a:chOff x="1670080" y="1236372"/>
            <a:chExt cx="10799843" cy="5872506"/>
          </a:xfrm>
        </p:grpSpPr>
        <p:grpSp>
          <p:nvGrpSpPr>
            <p:cNvPr id="50" name="Grupo 49"/>
            <p:cNvGrpSpPr/>
            <p:nvPr/>
          </p:nvGrpSpPr>
          <p:grpSpPr>
            <a:xfrm>
              <a:off x="4583761" y="1236372"/>
              <a:ext cx="7886162" cy="3367970"/>
              <a:chOff x="3682240" y="1359667"/>
              <a:chExt cx="7866883" cy="3422434"/>
            </a:xfrm>
          </p:grpSpPr>
          <p:grpSp>
            <p:nvGrpSpPr>
              <p:cNvPr id="39" name="Grupo 38"/>
              <p:cNvGrpSpPr/>
              <p:nvPr/>
            </p:nvGrpSpPr>
            <p:grpSpPr>
              <a:xfrm>
                <a:off x="3788366" y="1691403"/>
                <a:ext cx="6579127" cy="2934147"/>
                <a:chOff x="2531050" y="774207"/>
                <a:chExt cx="8787956" cy="5267363"/>
              </a:xfrm>
            </p:grpSpPr>
            <p:sp>
              <p:nvSpPr>
                <p:cNvPr id="25" name="Retângulo 24"/>
                <p:cNvSpPr/>
                <p:nvPr/>
              </p:nvSpPr>
              <p:spPr>
                <a:xfrm>
                  <a:off x="5880029" y="2906485"/>
                  <a:ext cx="1908141" cy="1045027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scene3d>
                  <a:camera prst="orthographicFront"/>
                  <a:lightRig rig="threePt" dir="t"/>
                </a:scene3d>
                <a:sp3d>
                  <a:bevelT w="152400" h="50800" prst="softRound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pt-BR" sz="1200" dirty="0" smtClean="0">
                      <a:solidFill>
                        <a:schemeClr val="tx1"/>
                      </a:solidFill>
                    </a:rPr>
                    <a:t>Modelagem</a:t>
                  </a:r>
                </a:p>
              </p:txBody>
            </p:sp>
            <p:grpSp>
              <p:nvGrpSpPr>
                <p:cNvPr id="38" name="Grupo 37"/>
                <p:cNvGrpSpPr/>
                <p:nvPr/>
              </p:nvGrpSpPr>
              <p:grpSpPr>
                <a:xfrm>
                  <a:off x="2531050" y="774207"/>
                  <a:ext cx="8787956" cy="5267363"/>
                  <a:chOff x="2479535" y="774207"/>
                  <a:chExt cx="8787956" cy="5267363"/>
                </a:xfrm>
              </p:grpSpPr>
              <p:sp>
                <p:nvSpPr>
                  <p:cNvPr id="24" name="Retângulo 23"/>
                  <p:cNvSpPr/>
                  <p:nvPr/>
                </p:nvSpPr>
                <p:spPr>
                  <a:xfrm>
                    <a:off x="4210678" y="1818446"/>
                    <a:ext cx="1799195" cy="1045027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scene3d>
                    <a:camera prst="orthographicFront"/>
                    <a:lightRig rig="threePt" dir="t"/>
                  </a:scene3d>
                  <a:sp3d>
                    <a:bevelT w="152400" h="50800" prst="softRound"/>
                  </a:sp3d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pt-BR" sz="1200" dirty="0" smtClean="0">
                        <a:solidFill>
                          <a:schemeClr val="tx1"/>
                        </a:solidFill>
                      </a:rPr>
                      <a:t>Planejamento</a:t>
                    </a:r>
                  </a:p>
                </p:txBody>
              </p:sp>
              <p:grpSp>
                <p:nvGrpSpPr>
                  <p:cNvPr id="37" name="Grupo 36"/>
                  <p:cNvGrpSpPr/>
                  <p:nvPr/>
                </p:nvGrpSpPr>
                <p:grpSpPr>
                  <a:xfrm>
                    <a:off x="2479535" y="774207"/>
                    <a:ext cx="8787956" cy="5267363"/>
                    <a:chOff x="2518172" y="774207"/>
                    <a:chExt cx="8787956" cy="5267363"/>
                  </a:xfrm>
                </p:grpSpPr>
                <p:sp>
                  <p:nvSpPr>
                    <p:cNvPr id="26" name="Retângulo 25"/>
                    <p:cNvSpPr/>
                    <p:nvPr/>
                  </p:nvSpPr>
                  <p:spPr>
                    <a:xfrm>
                      <a:off x="7523290" y="3951516"/>
                      <a:ext cx="2068286" cy="1045027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  <a:scene3d>
                      <a:camera prst="orthographicFront"/>
                      <a:lightRig rig="threePt" dir="t"/>
                    </a:scene3d>
                    <a:sp3d>
                      <a:bevelT w="152400" h="50800" prst="softRound"/>
                    </a:sp3d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>
                      <a:defPPr>
                        <a:defRPr lang="pt-BR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pt-BR" sz="1200" dirty="0" smtClean="0">
                          <a:solidFill>
                            <a:schemeClr val="tx1"/>
                          </a:solidFill>
                        </a:rPr>
                        <a:t>Construção</a:t>
                      </a:r>
                    </a:p>
                  </p:txBody>
                </p:sp>
                <p:sp>
                  <p:nvSpPr>
                    <p:cNvPr id="27" name="Retângulo 26"/>
                    <p:cNvSpPr/>
                    <p:nvPr/>
                  </p:nvSpPr>
                  <p:spPr>
                    <a:xfrm>
                      <a:off x="9281158" y="4996543"/>
                      <a:ext cx="2024970" cy="1045027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scene3d>
                      <a:camera prst="orthographicFront"/>
                      <a:lightRig rig="threePt" dir="t"/>
                    </a:scene3d>
                    <a:sp3d>
                      <a:bevelT w="152400" h="50800" prst="softRound"/>
                    </a:sp3d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>
                      <a:defPPr>
                        <a:defRPr lang="pt-BR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pt-BR" sz="1200" dirty="0" smtClean="0">
                          <a:solidFill>
                            <a:schemeClr val="tx1"/>
                          </a:solidFill>
                        </a:rPr>
                        <a:t>Implementação</a:t>
                      </a:r>
                    </a:p>
                  </p:txBody>
                </p:sp>
                <p:grpSp>
                  <p:nvGrpSpPr>
                    <p:cNvPr id="36" name="Grupo 35"/>
                    <p:cNvGrpSpPr/>
                    <p:nvPr/>
                  </p:nvGrpSpPr>
                  <p:grpSpPr>
                    <a:xfrm>
                      <a:off x="2518172" y="774207"/>
                      <a:ext cx="7775472" cy="4222335"/>
                      <a:chOff x="2518172" y="774207"/>
                      <a:chExt cx="7775472" cy="4222335"/>
                    </a:xfrm>
                  </p:grpSpPr>
                  <p:sp>
                    <p:nvSpPr>
                      <p:cNvPr id="23" name="Retângulo 22"/>
                      <p:cNvSpPr/>
                      <p:nvPr/>
                    </p:nvSpPr>
                    <p:spPr>
                      <a:xfrm>
                        <a:off x="2518172" y="774207"/>
                        <a:ext cx="1941458" cy="1045029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75000"/>
                        </a:schemeClr>
                      </a:solidFill>
                      <a:scene3d>
                        <a:camera prst="orthographicFront"/>
                        <a:lightRig rig="threePt" dir="t"/>
                      </a:scene3d>
                      <a:sp3d>
                        <a:bevelT w="152400" h="50800" prst="softRound"/>
                      </a:sp3d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>
                        <a:defPPr>
                          <a:defRPr lang="pt-BR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r>
                          <a:rPr lang="pt-BR" sz="1200" dirty="0" smtClean="0">
                            <a:solidFill>
                              <a:schemeClr val="tx1"/>
                            </a:solidFill>
                          </a:rPr>
                          <a:t>Comunicação</a:t>
                        </a:r>
                        <a:endParaRPr lang="pt-BR" sz="1600" dirty="0" smtClean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grpSp>
                    <p:nvGrpSpPr>
                      <p:cNvPr id="28" name="Agrupar 33"/>
                      <p:cNvGrpSpPr/>
                      <p:nvPr/>
                    </p:nvGrpSpPr>
                    <p:grpSpPr>
                      <a:xfrm>
                        <a:off x="4459630" y="1296721"/>
                        <a:ext cx="5834014" cy="3699821"/>
                        <a:chOff x="4013316" y="1055057"/>
                        <a:chExt cx="5834014" cy="3699821"/>
                      </a:xfrm>
                    </p:grpSpPr>
                    <p:cxnSp>
                      <p:nvCxnSpPr>
                        <p:cNvPr id="29" name="Conector Angulado 19"/>
                        <p:cNvCxnSpPr>
                          <a:stCxn id="23" idx="3"/>
                          <a:endCxn id="24" idx="0"/>
                        </p:cNvCxnSpPr>
                        <p:nvPr/>
                      </p:nvCxnSpPr>
                      <p:spPr>
                        <a:xfrm>
                          <a:off x="4013316" y="1055057"/>
                          <a:ext cx="689282" cy="521725"/>
                        </a:xfrm>
                        <a:prstGeom prst="bentConnector2">
                          <a:avLst/>
                        </a:prstGeom>
                        <a:ln w="57150">
                          <a:solidFill>
                            <a:schemeClr val="tx1"/>
                          </a:solidFill>
                          <a:tailEnd type="triangle"/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 w="152400" h="50800" prst="softRound"/>
                        </a:sp3d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0" name="Conector Angulado 21"/>
                        <p:cNvCxnSpPr>
                          <a:stCxn id="24" idx="3"/>
                        </p:cNvCxnSpPr>
                        <p:nvPr/>
                      </p:nvCxnSpPr>
                      <p:spPr>
                        <a:xfrm>
                          <a:off x="5602196" y="2099298"/>
                          <a:ext cx="782361" cy="522515"/>
                        </a:xfrm>
                        <a:prstGeom prst="bentConnector3">
                          <a:avLst>
                            <a:gd name="adj1" fmla="val 100573"/>
                          </a:avLst>
                        </a:prstGeom>
                        <a:ln w="57150">
                          <a:solidFill>
                            <a:schemeClr val="tx1"/>
                          </a:solidFill>
                          <a:tailEnd type="triangle"/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 w="152400" h="50800" prst="softRound"/>
                        </a:sp3d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1" name="Conector Angulado 23"/>
                        <p:cNvCxnSpPr>
                          <a:stCxn id="25" idx="3"/>
                          <a:endCxn id="26" idx="0"/>
                        </p:cNvCxnSpPr>
                        <p:nvPr/>
                      </p:nvCxnSpPr>
                      <p:spPr>
                        <a:xfrm>
                          <a:off x="7328978" y="3187335"/>
                          <a:ext cx="782141" cy="522516"/>
                        </a:xfrm>
                        <a:prstGeom prst="bentConnector2">
                          <a:avLst/>
                        </a:prstGeom>
                        <a:ln w="57150">
                          <a:solidFill>
                            <a:schemeClr val="tx1"/>
                          </a:solidFill>
                          <a:tailEnd type="triangle"/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 w="152400" h="50800" prst="softRound"/>
                        </a:sp3d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2" name="Conector Angulado 31"/>
                        <p:cNvCxnSpPr>
                          <a:stCxn id="26" idx="3"/>
                          <a:endCxn id="27" idx="0"/>
                        </p:cNvCxnSpPr>
                        <p:nvPr/>
                      </p:nvCxnSpPr>
                      <p:spPr>
                        <a:xfrm>
                          <a:off x="9145262" y="4232365"/>
                          <a:ext cx="702068" cy="522513"/>
                        </a:xfrm>
                        <a:prstGeom prst="bentConnector2">
                          <a:avLst/>
                        </a:prstGeom>
                        <a:ln w="57150">
                          <a:solidFill>
                            <a:schemeClr val="tx1"/>
                          </a:solidFill>
                          <a:tailEnd type="triangle"/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 w="152400" h="50800" prst="softRound"/>
                        </a:sp3d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</p:grpSp>
          </p:grpSp>
          <p:sp>
            <p:nvSpPr>
              <p:cNvPr id="48" name="CaixaDeTexto 47"/>
              <p:cNvSpPr txBox="1"/>
              <p:nvPr/>
            </p:nvSpPr>
            <p:spPr>
              <a:xfrm>
                <a:off x="3682240" y="1359667"/>
                <a:ext cx="1375617" cy="333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 smtClean="0">
                    <a:latin typeface="Arial Black" panose="020B0A04020102020204" pitchFamily="34" charset="0"/>
                    <a:cs typeface="Narkisim" panose="020E0502050101010101" pitchFamily="34" charset="-79"/>
                  </a:rPr>
                  <a:t>Incremento N</a:t>
                </a:r>
                <a:endParaRPr lang="pt-BR" sz="1200" dirty="0">
                  <a:latin typeface="Arial Black" panose="020B0A04020102020204" pitchFamily="34" charset="0"/>
                  <a:cs typeface="Narkisim" panose="020E0502050101010101" pitchFamily="34" charset="-79"/>
                </a:endParaRPr>
              </a:p>
            </p:txBody>
          </p:sp>
          <p:sp>
            <p:nvSpPr>
              <p:cNvPr id="49" name="CaixaDeTexto 48"/>
              <p:cNvSpPr txBox="1"/>
              <p:nvPr/>
            </p:nvSpPr>
            <p:spPr>
              <a:xfrm>
                <a:off x="10487079" y="4448731"/>
                <a:ext cx="1062044" cy="333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 smtClean="0">
                    <a:latin typeface="Arial Black" panose="020B0A04020102020204" pitchFamily="34" charset="0"/>
                  </a:rPr>
                  <a:t>Entrega N</a:t>
                </a:r>
                <a:endParaRPr lang="pt-BR" sz="1200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119" name="Grupo 118"/>
            <p:cNvGrpSpPr/>
            <p:nvPr/>
          </p:nvGrpSpPr>
          <p:grpSpPr>
            <a:xfrm>
              <a:off x="3092636" y="2494521"/>
              <a:ext cx="7848658" cy="3295250"/>
              <a:chOff x="3682240" y="1359667"/>
              <a:chExt cx="7829471" cy="3348538"/>
            </a:xfrm>
          </p:grpSpPr>
          <p:grpSp>
            <p:nvGrpSpPr>
              <p:cNvPr id="120" name="Grupo 119"/>
              <p:cNvGrpSpPr/>
              <p:nvPr/>
            </p:nvGrpSpPr>
            <p:grpSpPr>
              <a:xfrm>
                <a:off x="3788366" y="1691403"/>
                <a:ext cx="6579127" cy="2934147"/>
                <a:chOff x="2531050" y="774207"/>
                <a:chExt cx="8787956" cy="5267363"/>
              </a:xfrm>
            </p:grpSpPr>
            <p:sp>
              <p:nvSpPr>
                <p:cNvPr id="123" name="Retângulo 122"/>
                <p:cNvSpPr/>
                <p:nvPr/>
              </p:nvSpPr>
              <p:spPr>
                <a:xfrm>
                  <a:off x="5880029" y="2906485"/>
                  <a:ext cx="1908141" cy="1045027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scene3d>
                  <a:camera prst="orthographicFront"/>
                  <a:lightRig rig="threePt" dir="t"/>
                </a:scene3d>
                <a:sp3d>
                  <a:bevelT w="152400" h="50800" prst="softRound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pt-BR" sz="1200" dirty="0" smtClean="0">
                      <a:solidFill>
                        <a:schemeClr val="tx1"/>
                      </a:solidFill>
                    </a:rPr>
                    <a:t>Modelagem</a:t>
                  </a:r>
                </a:p>
              </p:txBody>
            </p:sp>
            <p:grpSp>
              <p:nvGrpSpPr>
                <p:cNvPr id="124" name="Grupo 123"/>
                <p:cNvGrpSpPr/>
                <p:nvPr/>
              </p:nvGrpSpPr>
              <p:grpSpPr>
                <a:xfrm>
                  <a:off x="2531050" y="774207"/>
                  <a:ext cx="8787956" cy="5267363"/>
                  <a:chOff x="2479535" y="774207"/>
                  <a:chExt cx="8787956" cy="5267363"/>
                </a:xfrm>
              </p:grpSpPr>
              <p:sp>
                <p:nvSpPr>
                  <p:cNvPr id="125" name="Retângulo 124"/>
                  <p:cNvSpPr/>
                  <p:nvPr/>
                </p:nvSpPr>
                <p:spPr>
                  <a:xfrm>
                    <a:off x="4210678" y="1818446"/>
                    <a:ext cx="1799195" cy="1045027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scene3d>
                    <a:camera prst="orthographicFront"/>
                    <a:lightRig rig="threePt" dir="t"/>
                  </a:scene3d>
                  <a:sp3d>
                    <a:bevelT w="152400" h="50800" prst="softRound"/>
                  </a:sp3d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pt-BR" sz="1200" dirty="0" smtClean="0">
                        <a:solidFill>
                          <a:schemeClr val="tx1"/>
                        </a:solidFill>
                      </a:rPr>
                      <a:t>Planejamento</a:t>
                    </a:r>
                  </a:p>
                </p:txBody>
              </p:sp>
              <p:grpSp>
                <p:nvGrpSpPr>
                  <p:cNvPr id="126" name="Grupo 125"/>
                  <p:cNvGrpSpPr/>
                  <p:nvPr/>
                </p:nvGrpSpPr>
                <p:grpSpPr>
                  <a:xfrm>
                    <a:off x="2479535" y="774207"/>
                    <a:ext cx="8787956" cy="5267363"/>
                    <a:chOff x="2518172" y="774207"/>
                    <a:chExt cx="8787956" cy="5267363"/>
                  </a:xfrm>
                </p:grpSpPr>
                <p:sp>
                  <p:nvSpPr>
                    <p:cNvPr id="127" name="Retângulo 126"/>
                    <p:cNvSpPr/>
                    <p:nvPr/>
                  </p:nvSpPr>
                  <p:spPr>
                    <a:xfrm>
                      <a:off x="7523290" y="3951516"/>
                      <a:ext cx="2068286" cy="1045027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  <a:scene3d>
                      <a:camera prst="orthographicFront"/>
                      <a:lightRig rig="threePt" dir="t"/>
                    </a:scene3d>
                    <a:sp3d>
                      <a:bevelT w="152400" h="50800" prst="softRound"/>
                    </a:sp3d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>
                      <a:defPPr>
                        <a:defRPr lang="pt-BR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pt-BR" sz="1200" dirty="0" smtClean="0">
                          <a:solidFill>
                            <a:schemeClr val="tx1"/>
                          </a:solidFill>
                        </a:rPr>
                        <a:t>Construção</a:t>
                      </a:r>
                    </a:p>
                  </p:txBody>
                </p:sp>
                <p:sp>
                  <p:nvSpPr>
                    <p:cNvPr id="128" name="Retângulo 127"/>
                    <p:cNvSpPr/>
                    <p:nvPr/>
                  </p:nvSpPr>
                  <p:spPr>
                    <a:xfrm>
                      <a:off x="9281158" y="4996543"/>
                      <a:ext cx="2024970" cy="1045027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scene3d>
                      <a:camera prst="orthographicFront"/>
                      <a:lightRig rig="threePt" dir="t"/>
                    </a:scene3d>
                    <a:sp3d>
                      <a:bevelT w="152400" h="50800" prst="softRound"/>
                    </a:sp3d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>
                      <a:defPPr>
                        <a:defRPr lang="pt-BR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pt-BR" sz="1200" dirty="0" smtClean="0">
                          <a:solidFill>
                            <a:schemeClr val="tx1"/>
                          </a:solidFill>
                        </a:rPr>
                        <a:t>Implementação</a:t>
                      </a:r>
                    </a:p>
                  </p:txBody>
                </p:sp>
                <p:grpSp>
                  <p:nvGrpSpPr>
                    <p:cNvPr id="129" name="Grupo 128"/>
                    <p:cNvGrpSpPr/>
                    <p:nvPr/>
                  </p:nvGrpSpPr>
                  <p:grpSpPr>
                    <a:xfrm>
                      <a:off x="2518172" y="774207"/>
                      <a:ext cx="7775472" cy="4222335"/>
                      <a:chOff x="2518172" y="774207"/>
                      <a:chExt cx="7775472" cy="4222335"/>
                    </a:xfrm>
                  </p:grpSpPr>
                  <p:sp>
                    <p:nvSpPr>
                      <p:cNvPr id="130" name="Retângulo 129"/>
                      <p:cNvSpPr/>
                      <p:nvPr/>
                    </p:nvSpPr>
                    <p:spPr>
                      <a:xfrm>
                        <a:off x="2518172" y="774207"/>
                        <a:ext cx="1941458" cy="1045029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75000"/>
                        </a:schemeClr>
                      </a:solidFill>
                      <a:scene3d>
                        <a:camera prst="orthographicFront"/>
                        <a:lightRig rig="threePt" dir="t"/>
                      </a:scene3d>
                      <a:sp3d>
                        <a:bevelT w="152400" h="50800" prst="softRound"/>
                      </a:sp3d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>
                        <a:defPPr>
                          <a:defRPr lang="pt-BR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r>
                          <a:rPr lang="pt-BR" sz="1200" dirty="0" smtClean="0">
                            <a:solidFill>
                              <a:schemeClr val="tx1"/>
                            </a:solidFill>
                          </a:rPr>
                          <a:t>Comunicação</a:t>
                        </a:r>
                        <a:endParaRPr lang="pt-BR" sz="1600" dirty="0" smtClean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grpSp>
                    <p:nvGrpSpPr>
                      <p:cNvPr id="131" name="Agrupar 33"/>
                      <p:cNvGrpSpPr/>
                      <p:nvPr/>
                    </p:nvGrpSpPr>
                    <p:grpSpPr>
                      <a:xfrm>
                        <a:off x="4459630" y="1296721"/>
                        <a:ext cx="5834014" cy="3699821"/>
                        <a:chOff x="4013316" y="1055057"/>
                        <a:chExt cx="5834014" cy="3699821"/>
                      </a:xfrm>
                    </p:grpSpPr>
                    <p:cxnSp>
                      <p:nvCxnSpPr>
                        <p:cNvPr id="132" name="Conector Angulado 19"/>
                        <p:cNvCxnSpPr>
                          <a:stCxn id="130" idx="3"/>
                          <a:endCxn id="125" idx="0"/>
                        </p:cNvCxnSpPr>
                        <p:nvPr/>
                      </p:nvCxnSpPr>
                      <p:spPr>
                        <a:xfrm>
                          <a:off x="4013316" y="1055057"/>
                          <a:ext cx="689282" cy="521725"/>
                        </a:xfrm>
                        <a:prstGeom prst="bentConnector2">
                          <a:avLst/>
                        </a:prstGeom>
                        <a:ln w="57150">
                          <a:solidFill>
                            <a:schemeClr val="tx1"/>
                          </a:solidFill>
                          <a:tailEnd type="triangle"/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 w="152400" h="50800" prst="softRound"/>
                        </a:sp3d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33" name="Conector Angulado 21"/>
                        <p:cNvCxnSpPr>
                          <a:stCxn id="125" idx="3"/>
                        </p:cNvCxnSpPr>
                        <p:nvPr/>
                      </p:nvCxnSpPr>
                      <p:spPr>
                        <a:xfrm>
                          <a:off x="5602196" y="2099298"/>
                          <a:ext cx="782361" cy="522515"/>
                        </a:xfrm>
                        <a:prstGeom prst="bentConnector3">
                          <a:avLst>
                            <a:gd name="adj1" fmla="val 100573"/>
                          </a:avLst>
                        </a:prstGeom>
                        <a:ln w="57150">
                          <a:solidFill>
                            <a:schemeClr val="tx1"/>
                          </a:solidFill>
                          <a:tailEnd type="triangle"/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 w="152400" h="50800" prst="softRound"/>
                        </a:sp3d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34" name="Conector Angulado 23"/>
                        <p:cNvCxnSpPr>
                          <a:stCxn id="123" idx="3"/>
                          <a:endCxn id="127" idx="0"/>
                        </p:cNvCxnSpPr>
                        <p:nvPr/>
                      </p:nvCxnSpPr>
                      <p:spPr>
                        <a:xfrm>
                          <a:off x="7328978" y="3187335"/>
                          <a:ext cx="782141" cy="522516"/>
                        </a:xfrm>
                        <a:prstGeom prst="bentConnector2">
                          <a:avLst/>
                        </a:prstGeom>
                        <a:ln w="57150">
                          <a:solidFill>
                            <a:schemeClr val="tx1"/>
                          </a:solidFill>
                          <a:tailEnd type="triangle"/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 w="152400" h="50800" prst="softRound"/>
                        </a:sp3d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35" name="Conector Angulado 31"/>
                        <p:cNvCxnSpPr>
                          <a:stCxn id="127" idx="3"/>
                          <a:endCxn id="128" idx="0"/>
                        </p:cNvCxnSpPr>
                        <p:nvPr/>
                      </p:nvCxnSpPr>
                      <p:spPr>
                        <a:xfrm>
                          <a:off x="9145262" y="4232365"/>
                          <a:ext cx="702068" cy="522513"/>
                        </a:xfrm>
                        <a:prstGeom prst="bentConnector2">
                          <a:avLst/>
                        </a:prstGeom>
                        <a:ln w="57150">
                          <a:solidFill>
                            <a:schemeClr val="tx1"/>
                          </a:solidFill>
                          <a:tailEnd type="triangle"/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 w="152400" h="50800" prst="softRound"/>
                        </a:sp3d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</p:grpSp>
          </p:grpSp>
          <p:sp>
            <p:nvSpPr>
              <p:cNvPr id="121" name="CaixaDeTexto 120"/>
              <p:cNvSpPr txBox="1"/>
              <p:nvPr/>
            </p:nvSpPr>
            <p:spPr>
              <a:xfrm>
                <a:off x="3682240" y="1359667"/>
                <a:ext cx="1349156" cy="333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 smtClean="0">
                    <a:latin typeface="Arial Black" panose="020B0A04020102020204" pitchFamily="34" charset="0"/>
                    <a:cs typeface="Narkisim" panose="020E0502050101010101" pitchFamily="34" charset="-79"/>
                  </a:rPr>
                  <a:t>Incremento 2</a:t>
                </a:r>
                <a:endParaRPr lang="pt-BR" sz="1200" dirty="0">
                  <a:latin typeface="Arial Black" panose="020B0A04020102020204" pitchFamily="34" charset="0"/>
                  <a:cs typeface="Narkisim" panose="020E0502050101010101" pitchFamily="34" charset="-79"/>
                </a:endParaRPr>
              </a:p>
            </p:txBody>
          </p:sp>
          <p:sp>
            <p:nvSpPr>
              <p:cNvPr id="122" name="CaixaDeTexto 121"/>
              <p:cNvSpPr txBox="1"/>
              <p:nvPr/>
            </p:nvSpPr>
            <p:spPr>
              <a:xfrm>
                <a:off x="10476128" y="4374835"/>
                <a:ext cx="1035583" cy="333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 smtClean="0">
                    <a:latin typeface="Arial Black" panose="020B0A04020102020204" pitchFamily="34" charset="0"/>
                  </a:rPr>
                  <a:t>Entrega 2</a:t>
                </a:r>
                <a:endParaRPr lang="pt-BR" sz="1200" dirty="0"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136" name="Grupo 135"/>
            <p:cNvGrpSpPr/>
            <p:nvPr/>
          </p:nvGrpSpPr>
          <p:grpSpPr>
            <a:xfrm>
              <a:off x="1670080" y="3810648"/>
              <a:ext cx="9601934" cy="3298230"/>
              <a:chOff x="3682240" y="1359667"/>
              <a:chExt cx="9578464" cy="3351566"/>
            </a:xfrm>
          </p:grpSpPr>
          <p:grpSp>
            <p:nvGrpSpPr>
              <p:cNvPr id="137" name="Grupo 136"/>
              <p:cNvGrpSpPr/>
              <p:nvPr/>
            </p:nvGrpSpPr>
            <p:grpSpPr>
              <a:xfrm>
                <a:off x="3788366" y="1691403"/>
                <a:ext cx="6579127" cy="2934147"/>
                <a:chOff x="2531050" y="774207"/>
                <a:chExt cx="8787956" cy="5267363"/>
              </a:xfrm>
            </p:grpSpPr>
            <p:sp>
              <p:nvSpPr>
                <p:cNvPr id="140" name="Retângulo 139"/>
                <p:cNvSpPr/>
                <p:nvPr/>
              </p:nvSpPr>
              <p:spPr>
                <a:xfrm>
                  <a:off x="5880029" y="2906485"/>
                  <a:ext cx="1908141" cy="1045027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scene3d>
                  <a:camera prst="orthographicFront"/>
                  <a:lightRig rig="threePt" dir="t"/>
                </a:scene3d>
                <a:sp3d>
                  <a:bevelT w="152400" h="50800" prst="softRound"/>
                </a:sp3d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pt-BR" sz="1200" dirty="0" smtClean="0">
                      <a:solidFill>
                        <a:schemeClr val="tx1"/>
                      </a:solidFill>
                    </a:rPr>
                    <a:t>Modelagem</a:t>
                  </a:r>
                </a:p>
              </p:txBody>
            </p:sp>
            <p:grpSp>
              <p:nvGrpSpPr>
                <p:cNvPr id="141" name="Grupo 140"/>
                <p:cNvGrpSpPr/>
                <p:nvPr/>
              </p:nvGrpSpPr>
              <p:grpSpPr>
                <a:xfrm>
                  <a:off x="2531050" y="774207"/>
                  <a:ext cx="8787956" cy="5267363"/>
                  <a:chOff x="2479535" y="774207"/>
                  <a:chExt cx="8787956" cy="5267363"/>
                </a:xfrm>
              </p:grpSpPr>
              <p:sp>
                <p:nvSpPr>
                  <p:cNvPr id="142" name="Retângulo 141"/>
                  <p:cNvSpPr/>
                  <p:nvPr/>
                </p:nvSpPr>
                <p:spPr>
                  <a:xfrm>
                    <a:off x="4210678" y="1818446"/>
                    <a:ext cx="1799195" cy="1045027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scene3d>
                    <a:camera prst="orthographicFront"/>
                    <a:lightRig rig="threePt" dir="t"/>
                  </a:scene3d>
                  <a:sp3d>
                    <a:bevelT w="152400" h="50800" prst="softRound"/>
                  </a:sp3d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pt-BR" sz="1200" dirty="0" smtClean="0">
                        <a:solidFill>
                          <a:schemeClr val="tx1"/>
                        </a:solidFill>
                      </a:rPr>
                      <a:t>Planejamento</a:t>
                    </a:r>
                  </a:p>
                </p:txBody>
              </p:sp>
              <p:grpSp>
                <p:nvGrpSpPr>
                  <p:cNvPr id="143" name="Grupo 142"/>
                  <p:cNvGrpSpPr/>
                  <p:nvPr/>
                </p:nvGrpSpPr>
                <p:grpSpPr>
                  <a:xfrm>
                    <a:off x="2479535" y="774207"/>
                    <a:ext cx="8787956" cy="5267363"/>
                    <a:chOff x="2518172" y="774207"/>
                    <a:chExt cx="8787956" cy="5267363"/>
                  </a:xfrm>
                </p:grpSpPr>
                <p:sp>
                  <p:nvSpPr>
                    <p:cNvPr id="144" name="Retângulo 143"/>
                    <p:cNvSpPr/>
                    <p:nvPr/>
                  </p:nvSpPr>
                  <p:spPr>
                    <a:xfrm>
                      <a:off x="7523290" y="3951516"/>
                      <a:ext cx="2068286" cy="1045027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  <a:scene3d>
                      <a:camera prst="orthographicFront"/>
                      <a:lightRig rig="threePt" dir="t"/>
                    </a:scene3d>
                    <a:sp3d>
                      <a:bevelT w="152400" h="50800" prst="softRound"/>
                    </a:sp3d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>
                      <a:defPPr>
                        <a:defRPr lang="pt-BR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pt-BR" sz="1200" dirty="0" smtClean="0">
                          <a:solidFill>
                            <a:schemeClr val="tx1"/>
                          </a:solidFill>
                        </a:rPr>
                        <a:t>Construção</a:t>
                      </a:r>
                    </a:p>
                  </p:txBody>
                </p:sp>
                <p:sp>
                  <p:nvSpPr>
                    <p:cNvPr id="145" name="Retângulo 144"/>
                    <p:cNvSpPr/>
                    <p:nvPr/>
                  </p:nvSpPr>
                  <p:spPr>
                    <a:xfrm>
                      <a:off x="9281158" y="4996543"/>
                      <a:ext cx="2024970" cy="1045027"/>
                    </a:xfrm>
                    <a:prstGeom prst="rect">
                      <a:avLst/>
                    </a:prstGeom>
                    <a:solidFill>
                      <a:srgbClr val="FFC000"/>
                    </a:solidFill>
                    <a:scene3d>
                      <a:camera prst="orthographicFront"/>
                      <a:lightRig rig="threePt" dir="t"/>
                    </a:scene3d>
                    <a:sp3d>
                      <a:bevelT w="152400" h="50800" prst="softRound"/>
                    </a:sp3d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>
                      <a:defPPr>
                        <a:defRPr lang="pt-BR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pt-BR" sz="1200" dirty="0" smtClean="0">
                          <a:solidFill>
                            <a:schemeClr val="tx1"/>
                          </a:solidFill>
                        </a:rPr>
                        <a:t>Implementação</a:t>
                      </a:r>
                    </a:p>
                  </p:txBody>
                </p:sp>
                <p:grpSp>
                  <p:nvGrpSpPr>
                    <p:cNvPr id="146" name="Grupo 145"/>
                    <p:cNvGrpSpPr/>
                    <p:nvPr/>
                  </p:nvGrpSpPr>
                  <p:grpSpPr>
                    <a:xfrm>
                      <a:off x="2518172" y="774207"/>
                      <a:ext cx="7775472" cy="4222335"/>
                      <a:chOff x="2518172" y="774207"/>
                      <a:chExt cx="7775472" cy="4222335"/>
                    </a:xfrm>
                  </p:grpSpPr>
                  <p:sp>
                    <p:nvSpPr>
                      <p:cNvPr id="147" name="Retângulo 146"/>
                      <p:cNvSpPr/>
                      <p:nvPr/>
                    </p:nvSpPr>
                    <p:spPr>
                      <a:xfrm>
                        <a:off x="2518172" y="774207"/>
                        <a:ext cx="1941458" cy="1045029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75000"/>
                        </a:schemeClr>
                      </a:solidFill>
                      <a:scene3d>
                        <a:camera prst="orthographicFront"/>
                        <a:lightRig rig="threePt" dir="t"/>
                      </a:scene3d>
                      <a:sp3d>
                        <a:bevelT w="152400" h="50800" prst="softRound"/>
                      </a:sp3d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>
                        <a:defPPr>
                          <a:defRPr lang="pt-BR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r>
                          <a:rPr lang="pt-BR" sz="1200" dirty="0" smtClean="0">
                            <a:solidFill>
                              <a:schemeClr val="tx1"/>
                            </a:solidFill>
                          </a:rPr>
                          <a:t>Comunicação</a:t>
                        </a:r>
                        <a:endParaRPr lang="pt-BR" sz="1600" dirty="0" smtClean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grpSp>
                    <p:nvGrpSpPr>
                      <p:cNvPr id="148" name="Agrupar 33"/>
                      <p:cNvGrpSpPr/>
                      <p:nvPr/>
                    </p:nvGrpSpPr>
                    <p:grpSpPr>
                      <a:xfrm>
                        <a:off x="4459630" y="1296721"/>
                        <a:ext cx="5834014" cy="3699821"/>
                        <a:chOff x="4013316" y="1055057"/>
                        <a:chExt cx="5834014" cy="3699821"/>
                      </a:xfrm>
                    </p:grpSpPr>
                    <p:cxnSp>
                      <p:nvCxnSpPr>
                        <p:cNvPr id="149" name="Conector Angulado 19"/>
                        <p:cNvCxnSpPr>
                          <a:stCxn id="147" idx="3"/>
                          <a:endCxn id="142" idx="0"/>
                        </p:cNvCxnSpPr>
                        <p:nvPr/>
                      </p:nvCxnSpPr>
                      <p:spPr>
                        <a:xfrm>
                          <a:off x="4013316" y="1055057"/>
                          <a:ext cx="689282" cy="521725"/>
                        </a:xfrm>
                        <a:prstGeom prst="bentConnector2">
                          <a:avLst/>
                        </a:prstGeom>
                        <a:ln w="57150">
                          <a:solidFill>
                            <a:schemeClr val="tx1"/>
                          </a:solidFill>
                          <a:tailEnd type="triangle"/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 w="152400" h="50800" prst="softRound"/>
                        </a:sp3d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0" name="Conector Angulado 21"/>
                        <p:cNvCxnSpPr>
                          <a:stCxn id="142" idx="3"/>
                        </p:cNvCxnSpPr>
                        <p:nvPr/>
                      </p:nvCxnSpPr>
                      <p:spPr>
                        <a:xfrm>
                          <a:off x="5602196" y="2099298"/>
                          <a:ext cx="782361" cy="522515"/>
                        </a:xfrm>
                        <a:prstGeom prst="bentConnector3">
                          <a:avLst>
                            <a:gd name="adj1" fmla="val 100573"/>
                          </a:avLst>
                        </a:prstGeom>
                        <a:ln w="57150">
                          <a:solidFill>
                            <a:schemeClr val="tx1"/>
                          </a:solidFill>
                          <a:tailEnd type="triangle"/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 w="152400" h="50800" prst="softRound"/>
                        </a:sp3d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1" name="Conector Angulado 23"/>
                        <p:cNvCxnSpPr>
                          <a:stCxn id="140" idx="3"/>
                          <a:endCxn id="144" idx="0"/>
                        </p:cNvCxnSpPr>
                        <p:nvPr/>
                      </p:nvCxnSpPr>
                      <p:spPr>
                        <a:xfrm>
                          <a:off x="7328978" y="3187335"/>
                          <a:ext cx="782141" cy="522516"/>
                        </a:xfrm>
                        <a:prstGeom prst="bentConnector2">
                          <a:avLst/>
                        </a:prstGeom>
                        <a:ln w="57150">
                          <a:solidFill>
                            <a:schemeClr val="tx1"/>
                          </a:solidFill>
                          <a:tailEnd type="triangle"/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 w="152400" h="50800" prst="softRound"/>
                        </a:sp3d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2" name="Conector Angulado 31"/>
                        <p:cNvCxnSpPr>
                          <a:stCxn id="144" idx="3"/>
                          <a:endCxn id="145" idx="0"/>
                        </p:cNvCxnSpPr>
                        <p:nvPr/>
                      </p:nvCxnSpPr>
                      <p:spPr>
                        <a:xfrm>
                          <a:off x="9145262" y="4232365"/>
                          <a:ext cx="702068" cy="522513"/>
                        </a:xfrm>
                        <a:prstGeom prst="bentConnector2">
                          <a:avLst/>
                        </a:prstGeom>
                        <a:ln w="57150">
                          <a:solidFill>
                            <a:schemeClr val="tx1"/>
                          </a:solidFill>
                          <a:tailEnd type="triangle"/>
                        </a:ln>
                        <a:scene3d>
                          <a:camera prst="orthographicFront"/>
                          <a:lightRig rig="threePt" dir="t"/>
                        </a:scene3d>
                        <a:sp3d>
                          <a:bevelT w="152400" h="50800" prst="softRound"/>
                        </a:sp3d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</p:grpSp>
          </p:grpSp>
          <p:sp>
            <p:nvSpPr>
              <p:cNvPr id="138" name="CaixaDeTexto 137"/>
              <p:cNvSpPr txBox="1"/>
              <p:nvPr/>
            </p:nvSpPr>
            <p:spPr>
              <a:xfrm>
                <a:off x="3682240" y="1359667"/>
                <a:ext cx="1349156" cy="333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 smtClean="0">
                    <a:latin typeface="Arial Black" panose="020B0A04020102020204" pitchFamily="34" charset="0"/>
                    <a:cs typeface="Narkisim" panose="020E0502050101010101" pitchFamily="34" charset="-79"/>
                  </a:rPr>
                  <a:t>Incremento 1</a:t>
                </a:r>
                <a:endParaRPr lang="pt-BR" sz="1200" dirty="0">
                  <a:latin typeface="Arial Black" panose="020B0A04020102020204" pitchFamily="34" charset="0"/>
                  <a:cs typeface="Narkisim" panose="020E0502050101010101" pitchFamily="34" charset="-79"/>
                </a:endParaRPr>
              </a:p>
            </p:txBody>
          </p:sp>
          <p:sp>
            <p:nvSpPr>
              <p:cNvPr id="139" name="CaixaDeTexto 138"/>
              <p:cNvSpPr txBox="1"/>
              <p:nvPr/>
            </p:nvSpPr>
            <p:spPr>
              <a:xfrm>
                <a:off x="10470238" y="4377863"/>
                <a:ext cx="2790466" cy="3333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 smtClean="0">
                    <a:latin typeface="Arial Black" panose="020B0A04020102020204" pitchFamily="34" charset="0"/>
                  </a:rPr>
                  <a:t>Entrega 1 – núcleo do produto</a:t>
                </a:r>
                <a:endParaRPr lang="pt-BR" sz="1200" dirty="0">
                  <a:latin typeface="Arial Black" panose="020B0A04020102020204" pitchFamily="34" charset="0"/>
                </a:endParaRPr>
              </a:p>
            </p:txBody>
          </p:sp>
        </p:grpSp>
      </p:grpSp>
      <p:cxnSp>
        <p:nvCxnSpPr>
          <p:cNvPr id="155" name="Conector de seta reta 154"/>
          <p:cNvCxnSpPr/>
          <p:nvPr/>
        </p:nvCxnSpPr>
        <p:spPr>
          <a:xfrm>
            <a:off x="503630" y="6275042"/>
            <a:ext cx="10161430" cy="386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ector de seta reta 155"/>
          <p:cNvCxnSpPr/>
          <p:nvPr/>
        </p:nvCxnSpPr>
        <p:spPr>
          <a:xfrm flipV="1">
            <a:off x="510799" y="1368408"/>
            <a:ext cx="18027" cy="48995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CaixaDeTexto 159"/>
          <p:cNvSpPr txBox="1"/>
          <p:nvPr/>
        </p:nvSpPr>
        <p:spPr>
          <a:xfrm>
            <a:off x="3747587" y="6392694"/>
            <a:ext cx="35269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smtClean="0"/>
              <a:t>Tempo do Projeto   (60 – 90 dias)</a:t>
            </a:r>
            <a:endParaRPr lang="pt-BR" sz="1600" dirty="0"/>
          </a:p>
        </p:txBody>
      </p:sp>
      <p:sp>
        <p:nvSpPr>
          <p:cNvPr id="161" name="CaixaDeTexto 160"/>
          <p:cNvSpPr txBox="1"/>
          <p:nvPr/>
        </p:nvSpPr>
        <p:spPr>
          <a:xfrm rot="16200000">
            <a:off x="-1939668" y="3692941"/>
            <a:ext cx="45480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 smtClean="0"/>
              <a:t>Funcionalidades e características do Projeto</a:t>
            </a:r>
            <a:endParaRPr lang="pt-BR" sz="1600" dirty="0"/>
          </a:p>
        </p:txBody>
      </p:sp>
      <p:sp>
        <p:nvSpPr>
          <p:cNvPr id="162" name="CaixaDeTexto 161"/>
          <p:cNvSpPr txBox="1"/>
          <p:nvPr/>
        </p:nvSpPr>
        <p:spPr>
          <a:xfrm>
            <a:off x="6870881" y="1382295"/>
            <a:ext cx="5579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Nessa figura  ilustra-se o modelo RAD, e as etapas apresentam as seguintes </a:t>
            </a:r>
            <a:r>
              <a:rPr lang="pt-BR" sz="1600" dirty="0" smtClean="0"/>
              <a:t>definições: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3078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4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5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5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25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25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2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2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25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25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/>
      <p:bldP spid="161" grpId="0"/>
      <p:bldP spid="1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Etapas - RAD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885829" y="389645"/>
            <a:ext cx="6628327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AutoShape 6" descr="blob:https://web.whatsapp.com/a33dfc25-6073-4f3a-bdba-128873466499"/>
          <p:cNvSpPr>
            <a:spLocks noChangeAspect="1" noChangeArrowheads="1"/>
          </p:cNvSpPr>
          <p:nvPr/>
        </p:nvSpPr>
        <p:spPr bwMode="auto">
          <a:xfrm>
            <a:off x="3516961" y="286543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862012" y="2446945"/>
            <a:ext cx="86663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Todos os modelos de processos tem suas particularidades e passam pelo que chamamos de ETAPAS. 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1677819" y="3705406"/>
            <a:ext cx="84958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Isto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quer dizer que, para todo ciclo de desenvolvimento de um software independentemente da metodologia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aplicada,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iremos ter as ESTAPAS do processo, chamadas (fases).</a:t>
            </a:r>
          </a:p>
        </p:txBody>
      </p:sp>
      <p:sp>
        <p:nvSpPr>
          <p:cNvPr id="9" name="Retângulo 8"/>
          <p:cNvSpPr/>
          <p:nvPr/>
        </p:nvSpPr>
        <p:spPr>
          <a:xfrm>
            <a:off x="2356834" y="5627554"/>
            <a:ext cx="717150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Para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isto, a seguir iremos verificar o que são tratados em cada uma das partes que envolve a metodologia RAD</a:t>
            </a: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472381" y="1468190"/>
            <a:ext cx="1617110" cy="676723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/>
              <a:t>COMUNICAÇÃO</a:t>
            </a:r>
            <a:endParaRPr lang="pt-BR" sz="1400" b="1" dirty="0"/>
          </a:p>
        </p:txBody>
      </p:sp>
      <p:sp>
        <p:nvSpPr>
          <p:cNvPr id="12" name="Retângulo de cantos arredondados 11"/>
          <p:cNvSpPr/>
          <p:nvPr/>
        </p:nvSpPr>
        <p:spPr>
          <a:xfrm>
            <a:off x="10184715" y="6068805"/>
            <a:ext cx="1617110" cy="676723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/>
              <a:t>IMPLEMENTAÇÃO</a:t>
            </a:r>
            <a:endParaRPr lang="pt-BR" sz="1200" b="1" dirty="0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10081684" y="3198064"/>
            <a:ext cx="1617110" cy="676723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/>
              <a:t>MODELAGEM</a:t>
            </a:r>
            <a:endParaRPr lang="pt-BR" sz="1400" b="1" dirty="0"/>
          </a:p>
        </p:txBody>
      </p:sp>
      <p:sp>
        <p:nvSpPr>
          <p:cNvPr id="14" name="Retângulo de cantos arredondados 13"/>
          <p:cNvSpPr/>
          <p:nvPr/>
        </p:nvSpPr>
        <p:spPr>
          <a:xfrm>
            <a:off x="345985" y="4668392"/>
            <a:ext cx="1617110" cy="676723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/>
              <a:t>CONSTRUÇÃO</a:t>
            </a:r>
            <a:endParaRPr lang="pt-BR" sz="1400" b="1" dirty="0"/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0081684" y="1468191"/>
            <a:ext cx="1617110" cy="67672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/>
              <a:t>PLANEJAMENTO</a:t>
            </a:r>
            <a:endParaRPr lang="pt-BR" sz="1400" b="1" dirty="0"/>
          </a:p>
        </p:txBody>
      </p:sp>
      <p:cxnSp>
        <p:nvCxnSpPr>
          <p:cNvPr id="17" name="Conector de seta reta 16"/>
          <p:cNvCxnSpPr>
            <a:stCxn id="11" idx="3"/>
          </p:cNvCxnSpPr>
          <p:nvPr/>
        </p:nvCxnSpPr>
        <p:spPr>
          <a:xfrm flipV="1">
            <a:off x="2089491" y="1777285"/>
            <a:ext cx="7992193" cy="292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endCxn id="13" idx="0"/>
          </p:cNvCxnSpPr>
          <p:nvPr/>
        </p:nvCxnSpPr>
        <p:spPr>
          <a:xfrm flipH="1">
            <a:off x="10890239" y="2153565"/>
            <a:ext cx="1" cy="10444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angulado 22"/>
          <p:cNvCxnSpPr>
            <a:stCxn id="13" idx="1"/>
            <a:endCxn id="14" idx="0"/>
          </p:cNvCxnSpPr>
          <p:nvPr/>
        </p:nvCxnSpPr>
        <p:spPr>
          <a:xfrm rot="10800000" flipV="1">
            <a:off x="1154540" y="3536426"/>
            <a:ext cx="8927144" cy="113196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angulado 28"/>
          <p:cNvCxnSpPr>
            <a:stCxn id="14" idx="3"/>
            <a:endCxn id="12" idx="0"/>
          </p:cNvCxnSpPr>
          <p:nvPr/>
        </p:nvCxnSpPr>
        <p:spPr>
          <a:xfrm>
            <a:off x="1963095" y="5006754"/>
            <a:ext cx="9030175" cy="1062051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27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1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9" grpId="0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 fontScale="90000"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descrição das etapas - rad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37916" y="389645"/>
            <a:ext cx="6963178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AutoShape 6" descr="blob:https://web.whatsapp.com/a33dfc25-6073-4f3a-bdba-128873466499"/>
          <p:cNvSpPr>
            <a:spLocks noChangeAspect="1" noChangeArrowheads="1"/>
          </p:cNvSpPr>
          <p:nvPr/>
        </p:nvSpPr>
        <p:spPr bwMode="auto">
          <a:xfrm>
            <a:off x="3516961" y="286543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1004552" y="2230078"/>
            <a:ext cx="1918951" cy="94015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COMUNICAÇÃO</a:t>
            </a:r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3405256" y="3741086"/>
            <a:ext cx="409548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Trabalha para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entender os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problemas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do negócio e as características de informação que o software precisa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acomodar.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054226" y="1642717"/>
            <a:ext cx="1738144" cy="507831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dirty="0" smtClean="0"/>
              <a:t>Nome da fase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4332134" y="2463977"/>
            <a:ext cx="2151551" cy="47320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dirty="0" smtClean="0"/>
              <a:t>Descrição da fase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7846584" y="3496388"/>
            <a:ext cx="4006225" cy="507831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dirty="0" smtClean="0"/>
              <a:t>Comparativo com outros métodos</a:t>
            </a:r>
            <a:endParaRPr lang="pt-BR" dirty="0"/>
          </a:p>
        </p:txBody>
      </p:sp>
      <p:sp>
        <p:nvSpPr>
          <p:cNvPr id="19" name="Retângulo 18"/>
          <p:cNvSpPr/>
          <p:nvPr/>
        </p:nvSpPr>
        <p:spPr>
          <a:xfrm>
            <a:off x="7911833" y="5040825"/>
            <a:ext cx="40954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Fase do projeto onde é levantado toda necessidade do cliente.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Conector angulado 19"/>
          <p:cNvCxnSpPr>
            <a:endCxn id="10" idx="1"/>
          </p:cNvCxnSpPr>
          <p:nvPr/>
        </p:nvCxnSpPr>
        <p:spPr>
          <a:xfrm>
            <a:off x="1923803" y="3170237"/>
            <a:ext cx="1481453" cy="1232569"/>
          </a:xfrm>
          <a:prstGeom prst="bentConnector3">
            <a:avLst>
              <a:gd name="adj1" fmla="val 110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angulado 23"/>
          <p:cNvCxnSpPr/>
          <p:nvPr/>
        </p:nvCxnSpPr>
        <p:spPr>
          <a:xfrm>
            <a:off x="4833257" y="5017936"/>
            <a:ext cx="3013327" cy="581101"/>
          </a:xfrm>
          <a:prstGeom prst="bentConnector3">
            <a:avLst>
              <a:gd name="adj1" fmla="val -44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50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0"/>
                            </p:stCondLst>
                            <p:childTnLst>
                              <p:par>
                                <p:cTn id="3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4" grpId="0" animBg="1"/>
      <p:bldP spid="17" grpId="0" animBg="1"/>
      <p:bldP spid="18" grpId="0" animBg="1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 fontScale="90000"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descrição das etapas - rad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37916" y="389645"/>
            <a:ext cx="6963178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AutoShape 6" descr="blob:https://web.whatsapp.com/a33dfc25-6073-4f3a-bdba-128873466499"/>
          <p:cNvSpPr>
            <a:spLocks noChangeAspect="1" noChangeArrowheads="1"/>
          </p:cNvSpPr>
          <p:nvPr/>
        </p:nvSpPr>
        <p:spPr bwMode="auto">
          <a:xfrm>
            <a:off x="3516961" y="286543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4" name="Grupo 3"/>
          <p:cNvGrpSpPr/>
          <p:nvPr/>
        </p:nvGrpSpPr>
        <p:grpSpPr>
          <a:xfrm>
            <a:off x="1090566" y="1642717"/>
            <a:ext cx="1832937" cy="1527520"/>
            <a:chOff x="1090566" y="1642717"/>
            <a:chExt cx="1832937" cy="1527520"/>
          </a:xfrm>
        </p:grpSpPr>
        <p:sp>
          <p:nvSpPr>
            <p:cNvPr id="11" name="Retângulo de cantos arredondados 10"/>
            <p:cNvSpPr/>
            <p:nvPr/>
          </p:nvSpPr>
          <p:spPr>
            <a:xfrm>
              <a:off x="1090566" y="2230078"/>
              <a:ext cx="1832937" cy="94015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Planejamento</a:t>
              </a:r>
              <a:endParaRPr lang="pt-BR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CaixaDeTexto 13"/>
            <p:cNvSpPr txBox="1"/>
            <p:nvPr/>
          </p:nvSpPr>
          <p:spPr>
            <a:xfrm>
              <a:off x="1128365" y="1642717"/>
              <a:ext cx="1718739" cy="507831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dirty="0" smtClean="0"/>
                <a:t>Nome da fase</a:t>
              </a:r>
              <a:endParaRPr lang="pt-BR" dirty="0"/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1923803" y="2463977"/>
            <a:ext cx="5803521" cy="2521348"/>
            <a:chOff x="1923803" y="2463977"/>
            <a:chExt cx="5803521" cy="2521348"/>
          </a:xfrm>
        </p:grpSpPr>
        <p:sp>
          <p:nvSpPr>
            <p:cNvPr id="17" name="CaixaDeTexto 16"/>
            <p:cNvSpPr txBox="1"/>
            <p:nvPr/>
          </p:nvSpPr>
          <p:spPr>
            <a:xfrm>
              <a:off x="4369003" y="2463977"/>
              <a:ext cx="2151550" cy="507831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dirty="0" smtClean="0"/>
                <a:t>Descrição da fase</a:t>
              </a:r>
              <a:endParaRPr lang="pt-BR" dirty="0"/>
            </a:p>
          </p:txBody>
        </p:sp>
        <p:cxnSp>
          <p:nvCxnSpPr>
            <p:cNvPr id="20" name="Conector angulado 19"/>
            <p:cNvCxnSpPr/>
            <p:nvPr/>
          </p:nvCxnSpPr>
          <p:spPr>
            <a:xfrm>
              <a:off x="1923803" y="3170237"/>
              <a:ext cx="1481453" cy="1232569"/>
            </a:xfrm>
            <a:prstGeom prst="bentConnector3">
              <a:avLst>
                <a:gd name="adj1" fmla="val 1102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tângulo 2"/>
            <p:cNvSpPr/>
            <p:nvPr/>
          </p:nvSpPr>
          <p:spPr>
            <a:xfrm>
              <a:off x="3494468" y="3661886"/>
              <a:ext cx="4232856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pt-BR" sz="2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	O planejamento </a:t>
              </a:r>
              <a:r>
                <a:rPr lang="pt-BR" sz="2000" dirty="0">
                  <a:latin typeface="Arial" panose="020B0604020202020204" pitchFamily="34" charset="0"/>
                  <a:cs typeface="Arial" panose="020B0604020202020204" pitchFamily="34" charset="0"/>
                </a:rPr>
                <a:t>é essencial, porque várias equipes de software trabalham </a:t>
              </a:r>
              <a:r>
                <a:rPr lang="pt-BR" sz="2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paralelamente em diferentes </a:t>
              </a:r>
              <a:r>
                <a:rPr lang="pt-BR" sz="2000" dirty="0">
                  <a:latin typeface="Arial" panose="020B0604020202020204" pitchFamily="34" charset="0"/>
                  <a:cs typeface="Arial" panose="020B0604020202020204" pitchFamily="34" charset="0"/>
                </a:rPr>
                <a:t>funções do sistema;</a:t>
              </a:r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5138019" y="3496388"/>
            <a:ext cx="6895054" cy="3102917"/>
            <a:chOff x="5138019" y="3496388"/>
            <a:chExt cx="6895054" cy="3102917"/>
          </a:xfrm>
        </p:grpSpPr>
        <p:sp>
          <p:nvSpPr>
            <p:cNvPr id="18" name="CaixaDeTexto 17"/>
            <p:cNvSpPr txBox="1"/>
            <p:nvPr/>
          </p:nvSpPr>
          <p:spPr>
            <a:xfrm>
              <a:off x="7846584" y="3496388"/>
              <a:ext cx="4006225" cy="507831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dirty="0" smtClean="0"/>
                <a:t>Comparativo com outros métodos</a:t>
              </a:r>
              <a:endParaRPr lang="pt-BR" dirty="0"/>
            </a:p>
          </p:txBody>
        </p:sp>
        <p:cxnSp>
          <p:nvCxnSpPr>
            <p:cNvPr id="24" name="Conector angulado 23"/>
            <p:cNvCxnSpPr/>
            <p:nvPr/>
          </p:nvCxnSpPr>
          <p:spPr>
            <a:xfrm>
              <a:off x="5138019" y="4916720"/>
              <a:ext cx="2799571" cy="902940"/>
            </a:xfrm>
            <a:prstGeom prst="bentConnector3">
              <a:avLst>
                <a:gd name="adj1" fmla="val -54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tângulo 14"/>
            <p:cNvSpPr/>
            <p:nvPr/>
          </p:nvSpPr>
          <p:spPr>
            <a:xfrm>
              <a:off x="7937590" y="5275866"/>
              <a:ext cx="4095483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pt-BR" sz="2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	Fase do projeto onde é feito o gerenciamento, decide as equipes, ferramentas, técnicas,  etc.</a:t>
              </a:r>
              <a:endParaRPr lang="pt-BR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933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 fontScale="90000"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descrição das etapas - rad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37916" y="389645"/>
            <a:ext cx="6963178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AutoShape 6" descr="blob:https://web.whatsapp.com/a33dfc25-6073-4f3a-bdba-128873466499"/>
          <p:cNvSpPr>
            <a:spLocks noChangeAspect="1" noChangeArrowheads="1"/>
          </p:cNvSpPr>
          <p:nvPr/>
        </p:nvSpPr>
        <p:spPr bwMode="auto">
          <a:xfrm>
            <a:off x="3516961" y="286543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4" name="Grupo 3"/>
          <p:cNvGrpSpPr/>
          <p:nvPr/>
        </p:nvGrpSpPr>
        <p:grpSpPr>
          <a:xfrm>
            <a:off x="1007334" y="1428566"/>
            <a:ext cx="1832937" cy="1535496"/>
            <a:chOff x="1090566" y="1634741"/>
            <a:chExt cx="1832937" cy="1535496"/>
          </a:xfrm>
        </p:grpSpPr>
        <p:sp>
          <p:nvSpPr>
            <p:cNvPr id="11" name="Retângulo de cantos arredondados 10"/>
            <p:cNvSpPr/>
            <p:nvPr/>
          </p:nvSpPr>
          <p:spPr>
            <a:xfrm>
              <a:off x="1090566" y="2230078"/>
              <a:ext cx="1832937" cy="940159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Modelagem</a:t>
              </a:r>
              <a:endParaRPr lang="pt-BR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CaixaDeTexto 13"/>
            <p:cNvSpPr txBox="1"/>
            <p:nvPr/>
          </p:nvSpPr>
          <p:spPr>
            <a:xfrm>
              <a:off x="1104510" y="1634741"/>
              <a:ext cx="1718739" cy="507831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dirty="0" smtClean="0"/>
                <a:t>Nome da fase</a:t>
              </a:r>
              <a:endParaRPr lang="pt-BR" dirty="0"/>
            </a:p>
          </p:txBody>
        </p:sp>
      </p:grpSp>
      <p:sp>
        <p:nvSpPr>
          <p:cNvPr id="17" name="CaixaDeTexto 16"/>
          <p:cNvSpPr txBox="1"/>
          <p:nvPr/>
        </p:nvSpPr>
        <p:spPr>
          <a:xfrm>
            <a:off x="4272857" y="2271512"/>
            <a:ext cx="2151550" cy="507831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dirty="0" smtClean="0"/>
              <a:t>Descrição da fase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7846584" y="3496388"/>
            <a:ext cx="4006225" cy="507831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dirty="0" smtClean="0"/>
              <a:t>Comparativo com outros métodos</a:t>
            </a:r>
            <a:endParaRPr lang="pt-BR" dirty="0"/>
          </a:p>
        </p:txBody>
      </p:sp>
      <p:cxnSp>
        <p:nvCxnSpPr>
          <p:cNvPr id="20" name="Conector angulado 19"/>
          <p:cNvCxnSpPr/>
          <p:nvPr/>
        </p:nvCxnSpPr>
        <p:spPr>
          <a:xfrm rot="16200000" flipH="1">
            <a:off x="1755730" y="3034209"/>
            <a:ext cx="1297656" cy="1222768"/>
          </a:xfrm>
          <a:prstGeom prst="bentConnector3">
            <a:avLst>
              <a:gd name="adj1" fmla="val 10033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angulado 23"/>
          <p:cNvCxnSpPr/>
          <p:nvPr/>
        </p:nvCxnSpPr>
        <p:spPr>
          <a:xfrm>
            <a:off x="4762005" y="4739191"/>
            <a:ext cx="3299969" cy="1395629"/>
          </a:xfrm>
          <a:prstGeom prst="bentConnector3">
            <a:avLst>
              <a:gd name="adj1" fmla="val 33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2990123" y="3170237"/>
            <a:ext cx="471701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Abrange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três das principais fases: </a:t>
            </a:r>
            <a:endParaRPr lang="pt-B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Modelagem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negócio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BR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Modelagem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dos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dados;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Modelagem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dos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processos. 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8096517" y="5564726"/>
            <a:ext cx="40954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Fase do projeto onde é feito uma refinação.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odas as partes podem ser revistas nesta fase.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75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3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 fontScale="90000"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descrição das etapas - rad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37916" y="389645"/>
            <a:ext cx="6963178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AutoShape 6" descr="blob:https://web.whatsapp.com/a33dfc25-6073-4f3a-bdba-128873466499"/>
          <p:cNvSpPr>
            <a:spLocks noChangeAspect="1" noChangeArrowheads="1"/>
          </p:cNvSpPr>
          <p:nvPr/>
        </p:nvSpPr>
        <p:spPr bwMode="auto">
          <a:xfrm>
            <a:off x="3516961" y="286543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1090566" y="2230078"/>
            <a:ext cx="1832937" cy="940159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Construção</a:t>
            </a:r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090566" y="1639838"/>
            <a:ext cx="1718739" cy="507831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dirty="0" smtClean="0"/>
              <a:t>Nome da fase</a:t>
            </a:r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4369003" y="2463977"/>
            <a:ext cx="2151550" cy="507831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dirty="0" smtClean="0"/>
              <a:t>Descrição da fase</a:t>
            </a:r>
            <a:endParaRPr lang="pt-BR" dirty="0"/>
          </a:p>
        </p:txBody>
      </p:sp>
      <p:cxnSp>
        <p:nvCxnSpPr>
          <p:cNvPr id="20" name="Conector angulado 19"/>
          <p:cNvCxnSpPr>
            <a:stCxn id="11" idx="2"/>
            <a:endCxn id="3" idx="1"/>
          </p:cNvCxnSpPr>
          <p:nvPr/>
        </p:nvCxnSpPr>
        <p:spPr>
          <a:xfrm rot="16200000" flipH="1">
            <a:off x="2075597" y="3101674"/>
            <a:ext cx="1261097" cy="1398221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3405256" y="3769614"/>
            <a:ext cx="431683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Enfatiza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uso de componentes de software preexistentes e a aplicação da geração automática de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código.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5390866" y="3496388"/>
            <a:ext cx="6801134" cy="2776772"/>
            <a:chOff x="5390866" y="3496388"/>
            <a:chExt cx="6801134" cy="2776772"/>
          </a:xfrm>
        </p:grpSpPr>
        <p:sp>
          <p:nvSpPr>
            <p:cNvPr id="18" name="CaixaDeTexto 17"/>
            <p:cNvSpPr txBox="1"/>
            <p:nvPr/>
          </p:nvSpPr>
          <p:spPr>
            <a:xfrm>
              <a:off x="7846584" y="3496388"/>
              <a:ext cx="4006225" cy="507831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dirty="0" smtClean="0"/>
                <a:t>Comparativo com outros métodos</a:t>
              </a:r>
              <a:endParaRPr lang="pt-BR" dirty="0"/>
            </a:p>
          </p:txBody>
        </p:sp>
        <p:cxnSp>
          <p:nvCxnSpPr>
            <p:cNvPr id="24" name="Conector angulado 23"/>
            <p:cNvCxnSpPr/>
            <p:nvPr/>
          </p:nvCxnSpPr>
          <p:spPr>
            <a:xfrm>
              <a:off x="5390866" y="4817660"/>
              <a:ext cx="2705651" cy="811587"/>
            </a:xfrm>
            <a:prstGeom prst="bentConnector3">
              <a:avLst>
                <a:gd name="adj1" fmla="val 567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tângulo 14"/>
            <p:cNvSpPr/>
            <p:nvPr/>
          </p:nvSpPr>
          <p:spPr>
            <a:xfrm>
              <a:off x="8096517" y="4949721"/>
              <a:ext cx="4095483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pt-BR" sz="2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	Fase do projeto onde é feita a execução pelos desenvolvedores podendo haver a reutilização de códigos.</a:t>
              </a:r>
              <a:endParaRPr lang="pt-BR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4030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 fontScale="90000"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descrição das etapas - rad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37916" y="389645"/>
            <a:ext cx="6963178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AutoShape 6" descr="blob:https://web.whatsapp.com/a33dfc25-6073-4f3a-bdba-128873466499"/>
          <p:cNvSpPr>
            <a:spLocks noChangeAspect="1" noChangeArrowheads="1"/>
          </p:cNvSpPr>
          <p:nvPr/>
        </p:nvSpPr>
        <p:spPr bwMode="auto">
          <a:xfrm>
            <a:off x="3516961" y="286543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1090566" y="2230078"/>
            <a:ext cx="1832937" cy="940159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Implementação</a:t>
            </a:r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163991" y="1622219"/>
            <a:ext cx="1620957" cy="507831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Nome da fase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4332134" y="2463977"/>
            <a:ext cx="2031325" cy="507831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Descrição da fase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7846584" y="3496388"/>
            <a:ext cx="3647152" cy="507831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Comparativo com outros métodos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Conector angulado 19"/>
          <p:cNvCxnSpPr>
            <a:stCxn id="11" idx="2"/>
            <a:endCxn id="3" idx="1"/>
          </p:cNvCxnSpPr>
          <p:nvPr/>
        </p:nvCxnSpPr>
        <p:spPr>
          <a:xfrm rot="16200000" flipH="1">
            <a:off x="2212556" y="2964715"/>
            <a:ext cx="1049426" cy="146046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angulado 23"/>
          <p:cNvCxnSpPr/>
          <p:nvPr/>
        </p:nvCxnSpPr>
        <p:spPr>
          <a:xfrm>
            <a:off x="5237018" y="4476997"/>
            <a:ext cx="2609566" cy="1481445"/>
          </a:xfrm>
          <a:prstGeom prst="bentConnector3">
            <a:avLst>
              <a:gd name="adj1" fmla="val 39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3467504" y="3865720"/>
            <a:ext cx="43168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Estabelece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 base para iterações subsequentes, se necessárias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7846584" y="5275866"/>
            <a:ext cx="40954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Fase do projeto onde é feita a implementação, entrega e manutenção.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52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 animBg="1"/>
      <p:bldP spid="18" grpId="0" animBg="1"/>
      <p:bldP spid="3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Conceitos / desafios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37916" y="389645"/>
            <a:ext cx="6963178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grpSp>
        <p:nvGrpSpPr>
          <p:cNvPr id="21" name="Grupo 20"/>
          <p:cNvGrpSpPr/>
          <p:nvPr/>
        </p:nvGrpSpPr>
        <p:grpSpPr>
          <a:xfrm>
            <a:off x="528035" y="1470595"/>
            <a:ext cx="10895526" cy="4647704"/>
            <a:chOff x="528035" y="1470595"/>
            <a:chExt cx="10895526" cy="4647704"/>
          </a:xfrm>
        </p:grpSpPr>
        <p:sp>
          <p:nvSpPr>
            <p:cNvPr id="4" name="CaixaDeTexto 3"/>
            <p:cNvSpPr txBox="1"/>
            <p:nvPr/>
          </p:nvSpPr>
          <p:spPr>
            <a:xfrm>
              <a:off x="528035" y="1470595"/>
              <a:ext cx="10599312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dirty="0" smtClean="0"/>
                <a:t>	Apesar de estarmos focando apenas em “Metodologia RAD”, não podemos esquecer que independente do método a ser utilizado no desenvolvimento, deve-se sempre se preocupar com os padrões de qualidade em que o Software está sendo gerido. Isto nos garante a enfrentar os desafios que existem para o desenvolvimento de Software, que são:</a:t>
              </a:r>
            </a:p>
            <a:p>
              <a:endParaRPr lang="pt-BR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pt-BR" dirty="0" smtClean="0">
                  <a:ln>
                    <a:solidFill>
                      <a:schemeClr val="tx2"/>
                    </a:solidFill>
                  </a:ln>
                </a:rPr>
                <a:t>Preço x Desempenho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pt-BR" dirty="0">
                <a:ln>
                  <a:solidFill>
                    <a:schemeClr val="tx2"/>
                  </a:solidFill>
                </a:ln>
              </a:endParaRP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pt-BR" dirty="0" smtClean="0">
                <a:ln>
                  <a:solidFill>
                    <a:schemeClr val="tx2"/>
                  </a:solidFill>
                </a:ln>
              </a:endParaRP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pt-BR" dirty="0" smtClean="0">
                  <a:ln>
                    <a:solidFill>
                      <a:schemeClr val="tx2"/>
                    </a:solidFill>
                  </a:ln>
                </a:rPr>
                <a:t>Confiabilidade 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pt-BR" dirty="0">
                <a:ln>
                  <a:solidFill>
                    <a:schemeClr val="tx2"/>
                  </a:solidFill>
                </a:ln>
              </a:endParaRP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pt-BR" dirty="0" smtClean="0">
                <a:ln>
                  <a:solidFill>
                    <a:schemeClr val="tx2"/>
                  </a:solidFill>
                </a:ln>
              </a:endParaRP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pt-BR" dirty="0" smtClean="0">
                  <a:ln>
                    <a:solidFill>
                      <a:schemeClr val="tx2"/>
                    </a:solidFill>
                  </a:ln>
                </a:rPr>
                <a:t>Sistemas críticos 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pt-BR" dirty="0">
                <a:ln>
                  <a:solidFill>
                    <a:schemeClr val="tx2"/>
                  </a:solidFill>
                </a:ln>
              </a:endParaRP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pt-BR" dirty="0" smtClean="0">
                <a:ln>
                  <a:solidFill>
                    <a:schemeClr val="tx2"/>
                  </a:solidFill>
                </a:ln>
              </a:endParaRP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pt-BR" dirty="0" smtClean="0">
                  <a:ln>
                    <a:solidFill>
                      <a:schemeClr val="tx2"/>
                    </a:solidFill>
                  </a:ln>
                </a:rPr>
                <a:t>Manutenibilidade</a:t>
              </a:r>
            </a:p>
            <a:p>
              <a:endParaRPr lang="pt-BR" dirty="0"/>
            </a:p>
          </p:txBody>
        </p:sp>
        <p:pic>
          <p:nvPicPr>
            <p:cNvPr id="2056" name="Picture 8" descr="https://cdn.pixabay.com/photo/2014/04/03/09/56/airplane-309386_960_720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46550" y="3479375"/>
              <a:ext cx="1377010" cy="717127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pic>
        <p:pic>
          <p:nvPicPr>
            <p:cNvPr id="2058" name="Picture 10" descr="Resultado de imagem para aparelhos medico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46550" y="4295464"/>
              <a:ext cx="1377011" cy="805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0" name="Picture 12" descr="Imagem relacionada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46550" y="2407755"/>
              <a:ext cx="1377010" cy="9726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Imagem relacionada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46550" y="5200292"/>
              <a:ext cx="1377011" cy="918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Conector de seta reta 8"/>
            <p:cNvCxnSpPr/>
            <p:nvPr/>
          </p:nvCxnSpPr>
          <p:spPr>
            <a:xfrm>
              <a:off x="3515933" y="3065172"/>
              <a:ext cx="6272011" cy="257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/>
            <p:nvPr/>
          </p:nvCxnSpPr>
          <p:spPr>
            <a:xfrm>
              <a:off x="2945081" y="4667003"/>
              <a:ext cx="6805254" cy="4344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/>
            <p:cNvCxnSpPr/>
            <p:nvPr/>
          </p:nvCxnSpPr>
          <p:spPr>
            <a:xfrm>
              <a:off x="3061907" y="5515914"/>
              <a:ext cx="6688428" cy="429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/>
            <p:nvPr/>
          </p:nvCxnSpPr>
          <p:spPr>
            <a:xfrm>
              <a:off x="2788277" y="3896395"/>
              <a:ext cx="6999667" cy="64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00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3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 fontScale="90000"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Qualidade de software e divisão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37916" y="389645"/>
            <a:ext cx="6963178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AutoShape 6" descr="blob:https://web.whatsapp.com/a33dfc25-6073-4f3a-bdba-128873466499"/>
          <p:cNvSpPr>
            <a:spLocks noChangeAspect="1" noChangeArrowheads="1"/>
          </p:cNvSpPr>
          <p:nvPr/>
        </p:nvSpPr>
        <p:spPr bwMode="auto">
          <a:xfrm>
            <a:off x="3516961" y="286543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740536" y="1528997"/>
            <a:ext cx="1013567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 que é qualidade de software?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É o grau de satisfação do cliente em todos os aspectos do produto.</a:t>
            </a:r>
          </a:p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Independente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da metodologia a ser utilizada, existe um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agregado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importante na geração de um software, é o que chamamos de "</a:t>
            </a:r>
            <a:r>
              <a:rPr lang="pt-BR" sz="20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Qualidade de Software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" que </a:t>
            </a:r>
            <a:r>
              <a:rPr lang="pt-B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é dividida em duas partes.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upo 21"/>
          <p:cNvGrpSpPr/>
          <p:nvPr/>
        </p:nvGrpSpPr>
        <p:grpSpPr>
          <a:xfrm>
            <a:off x="740536" y="4032126"/>
            <a:ext cx="10285928" cy="2377368"/>
            <a:chOff x="740536" y="4032126"/>
            <a:chExt cx="10285928" cy="2377368"/>
          </a:xfrm>
        </p:grpSpPr>
        <p:sp>
          <p:nvSpPr>
            <p:cNvPr id="8" name="Retângulo de cantos arredondados 7"/>
            <p:cNvSpPr/>
            <p:nvPr/>
          </p:nvSpPr>
          <p:spPr>
            <a:xfrm>
              <a:off x="4836016" y="4032126"/>
              <a:ext cx="1944711" cy="963879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QA</a:t>
              </a:r>
            </a:p>
            <a:p>
              <a:pPr algn="ctr"/>
              <a:r>
                <a:rPr lang="pt-BR" dirty="0" smtClean="0"/>
                <a:t>Qualidade de Software</a:t>
              </a:r>
              <a:endParaRPr lang="pt-BR" dirty="0"/>
            </a:p>
          </p:txBody>
        </p:sp>
        <p:sp>
          <p:nvSpPr>
            <p:cNvPr id="19" name="Retângulo de cantos arredondados 18"/>
            <p:cNvSpPr/>
            <p:nvPr/>
          </p:nvSpPr>
          <p:spPr>
            <a:xfrm>
              <a:off x="9019505" y="5422006"/>
              <a:ext cx="2006959" cy="987488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Qualidade do PROCESSO</a:t>
              </a:r>
              <a:endParaRPr lang="pt-BR" dirty="0"/>
            </a:p>
          </p:txBody>
        </p:sp>
        <p:sp>
          <p:nvSpPr>
            <p:cNvPr id="21" name="Retângulo de cantos arredondados 20"/>
            <p:cNvSpPr/>
            <p:nvPr/>
          </p:nvSpPr>
          <p:spPr>
            <a:xfrm>
              <a:off x="740536" y="5422006"/>
              <a:ext cx="1835239" cy="987488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Qualidade do PRODUTO</a:t>
              </a:r>
            </a:p>
          </p:txBody>
        </p:sp>
        <p:cxnSp>
          <p:nvCxnSpPr>
            <p:cNvPr id="10" name="Conector angulado 9"/>
            <p:cNvCxnSpPr>
              <a:stCxn id="8" idx="3"/>
              <a:endCxn id="19" idx="0"/>
            </p:cNvCxnSpPr>
            <p:nvPr/>
          </p:nvCxnSpPr>
          <p:spPr>
            <a:xfrm>
              <a:off x="6780727" y="4514066"/>
              <a:ext cx="3242258" cy="907940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angulado 12"/>
            <p:cNvCxnSpPr>
              <a:stCxn id="8" idx="1"/>
              <a:endCxn id="21" idx="0"/>
            </p:cNvCxnSpPr>
            <p:nvPr/>
          </p:nvCxnSpPr>
          <p:spPr>
            <a:xfrm rot="10800000" flipV="1">
              <a:off x="1658156" y="4514066"/>
              <a:ext cx="3177860" cy="907940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/>
            <p:cNvSpPr txBox="1"/>
            <p:nvPr/>
          </p:nvSpPr>
          <p:spPr>
            <a:xfrm>
              <a:off x="2954581" y="4229554"/>
              <a:ext cx="7857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Mede</a:t>
              </a:r>
            </a:p>
          </p:txBody>
        </p:sp>
        <p:sp>
          <p:nvSpPr>
            <p:cNvPr id="23" name="CaixaDeTexto 22"/>
            <p:cNvSpPr txBox="1"/>
            <p:nvPr/>
          </p:nvSpPr>
          <p:spPr>
            <a:xfrm>
              <a:off x="7868991" y="4193015"/>
              <a:ext cx="7857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Mede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807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Qualidade do produto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37916" y="389645"/>
            <a:ext cx="6963178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AutoShape 6" descr="blob:https://web.whatsapp.com/a33dfc25-6073-4f3a-bdba-128873466499"/>
          <p:cNvSpPr>
            <a:spLocks noChangeAspect="1" noChangeArrowheads="1"/>
          </p:cNvSpPr>
          <p:nvPr/>
        </p:nvSpPr>
        <p:spPr bwMode="auto">
          <a:xfrm>
            <a:off x="3516961" y="286543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50" name="Grupo 49"/>
          <p:cNvGrpSpPr/>
          <p:nvPr/>
        </p:nvGrpSpPr>
        <p:grpSpPr>
          <a:xfrm>
            <a:off x="841353" y="1210389"/>
            <a:ext cx="10635243" cy="5480186"/>
            <a:chOff x="841353" y="1210389"/>
            <a:chExt cx="10635243" cy="5480186"/>
          </a:xfrm>
        </p:grpSpPr>
        <p:cxnSp>
          <p:nvCxnSpPr>
            <p:cNvPr id="20" name="Conector de seta reta 19"/>
            <p:cNvCxnSpPr>
              <a:stCxn id="21" idx="3"/>
              <a:endCxn id="14" idx="1"/>
            </p:cNvCxnSpPr>
            <p:nvPr/>
          </p:nvCxnSpPr>
          <p:spPr>
            <a:xfrm>
              <a:off x="2676592" y="2514401"/>
              <a:ext cx="696339" cy="190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upo 48"/>
            <p:cNvGrpSpPr/>
            <p:nvPr/>
          </p:nvGrpSpPr>
          <p:grpSpPr>
            <a:xfrm>
              <a:off x="841353" y="1210389"/>
              <a:ext cx="10635243" cy="5480186"/>
              <a:chOff x="841353" y="1210389"/>
              <a:chExt cx="10635243" cy="5480186"/>
            </a:xfrm>
          </p:grpSpPr>
          <p:sp>
            <p:nvSpPr>
              <p:cNvPr id="14" name="Retângulo de cantos arredondados 13"/>
              <p:cNvSpPr/>
              <p:nvPr/>
            </p:nvSpPr>
            <p:spPr>
              <a:xfrm>
                <a:off x="3372931" y="2229357"/>
                <a:ext cx="1242273" cy="573891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ISO 9126</a:t>
                </a:r>
                <a:endParaRPr lang="pt-B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8" name="Grupo 47"/>
              <p:cNvGrpSpPr/>
              <p:nvPr/>
            </p:nvGrpSpPr>
            <p:grpSpPr>
              <a:xfrm>
                <a:off x="841353" y="1210389"/>
                <a:ext cx="10635243" cy="5480186"/>
                <a:chOff x="802716" y="1210389"/>
                <a:chExt cx="10635243" cy="5480186"/>
              </a:xfrm>
            </p:grpSpPr>
            <p:grpSp>
              <p:nvGrpSpPr>
                <p:cNvPr id="22" name="Grupo 21"/>
                <p:cNvGrpSpPr/>
                <p:nvPr/>
              </p:nvGrpSpPr>
              <p:grpSpPr>
                <a:xfrm>
                  <a:off x="802716" y="1210389"/>
                  <a:ext cx="6038089" cy="1726716"/>
                  <a:chOff x="742638" y="4032126"/>
                  <a:chExt cx="6038089" cy="2016909"/>
                </a:xfrm>
              </p:grpSpPr>
              <p:sp>
                <p:nvSpPr>
                  <p:cNvPr id="8" name="Retângulo de cantos arredondados 7"/>
                  <p:cNvSpPr/>
                  <p:nvPr/>
                </p:nvSpPr>
                <p:spPr>
                  <a:xfrm>
                    <a:off x="4836016" y="4032126"/>
                    <a:ext cx="1944711" cy="963879"/>
                  </a:xfrm>
                  <a:prstGeom prst="roundRect">
                    <a:avLst/>
                  </a:prstGeom>
                  <a:solidFill>
                    <a:schemeClr val="accent6">
                      <a:lumMod val="50000"/>
                    </a:schemeClr>
                  </a:solidFill>
                  <a:ln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QA</a:t>
                    </a:r>
                  </a:p>
                  <a:p>
                    <a:pPr algn="ctr"/>
                    <a:r>
                      <a:rPr lang="pt-BR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Qualidade de Software</a:t>
                    </a:r>
                    <a:endParaRPr lang="pt-BR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1" name="Retângulo de cantos arredondados 20"/>
                  <p:cNvSpPr/>
                  <p:nvPr/>
                </p:nvSpPr>
                <p:spPr>
                  <a:xfrm>
                    <a:off x="742638" y="5061547"/>
                    <a:ext cx="1835239" cy="987488"/>
                  </a:xfrm>
                  <a:prstGeom prst="roundRect">
                    <a:avLst/>
                  </a:prstGeom>
                  <a:solidFill>
                    <a:schemeClr val="accent6">
                      <a:lumMod val="50000"/>
                    </a:schemeClr>
                  </a:solidFill>
                  <a:ln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pt-BR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Qualidade do PRODUTO</a:t>
                    </a:r>
                  </a:p>
                </p:txBody>
              </p:sp>
              <p:cxnSp>
                <p:nvCxnSpPr>
                  <p:cNvPr id="13" name="Conector angulado 12"/>
                  <p:cNvCxnSpPr>
                    <a:stCxn id="8" idx="1"/>
                    <a:endCxn id="21" idx="0"/>
                  </p:cNvCxnSpPr>
                  <p:nvPr/>
                </p:nvCxnSpPr>
                <p:spPr>
                  <a:xfrm rot="10800000" flipV="1">
                    <a:off x="1660258" y="4514066"/>
                    <a:ext cx="3175758" cy="547482"/>
                  </a:xfrm>
                  <a:prstGeom prst="bentConnector2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" name="CaixaDeTexto 10"/>
                <p:cNvSpPr txBox="1"/>
                <p:nvPr/>
              </p:nvSpPr>
              <p:spPr>
                <a:xfrm>
                  <a:off x="3372931" y="3551254"/>
                  <a:ext cx="8065028" cy="31393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Ø"/>
                  </a:pPr>
                  <a:r>
                    <a:rPr lang="pt-BR" b="1" dirty="0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Confiabilidade – Segurança e criptografia;</a:t>
                  </a:r>
                </a:p>
                <a:p>
                  <a:pPr marL="285750" indent="-285750">
                    <a:buFont typeface="Wingdings" panose="05000000000000000000" pitchFamily="2" charset="2"/>
                    <a:buChar char="Ø"/>
                  </a:pPr>
                  <a:endParaRPr lang="pt-BR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Ø"/>
                  </a:pPr>
                  <a:r>
                    <a:rPr lang="pt-BR" b="1" dirty="0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Eficiência – Desempenho;</a:t>
                  </a:r>
                </a:p>
                <a:p>
                  <a:pPr marL="285750" indent="-285750">
                    <a:buFont typeface="Wingdings" panose="05000000000000000000" pitchFamily="2" charset="2"/>
                    <a:buChar char="Ø"/>
                  </a:pPr>
                  <a:endParaRPr lang="pt-BR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Ø"/>
                  </a:pPr>
                  <a:r>
                    <a:rPr lang="pt-BR" b="1" dirty="0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Portabilidade – Compatível com outros </a:t>
                  </a:r>
                  <a:r>
                    <a:rPr lang="pt-BR" b="1" dirty="0" err="1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SO’s</a:t>
                  </a:r>
                  <a:r>
                    <a:rPr lang="pt-BR" b="1" dirty="0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;</a:t>
                  </a:r>
                </a:p>
                <a:p>
                  <a:pPr marL="285750" indent="-285750">
                    <a:buFont typeface="Wingdings" panose="05000000000000000000" pitchFamily="2" charset="2"/>
                    <a:buChar char="Ø"/>
                  </a:pPr>
                  <a:endParaRPr lang="pt-BR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Ø"/>
                  </a:pPr>
                  <a:r>
                    <a:rPr lang="pt-BR" b="1" dirty="0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Usabilidade – Fácil de usar (Acessibilidade);</a:t>
                  </a:r>
                </a:p>
                <a:p>
                  <a:pPr marL="285750" indent="-285750">
                    <a:buFont typeface="Wingdings" panose="05000000000000000000" pitchFamily="2" charset="2"/>
                    <a:buChar char="Ø"/>
                  </a:pPr>
                  <a:endParaRPr lang="pt-BR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Ø"/>
                  </a:pPr>
                  <a:r>
                    <a:rPr lang="pt-BR" b="1" dirty="0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Funcionalidade – Funcional (que atenda as necessidades do cliente);</a:t>
                  </a:r>
                </a:p>
                <a:p>
                  <a:pPr marL="285750" indent="-285750">
                    <a:buFont typeface="Wingdings" panose="05000000000000000000" pitchFamily="2" charset="2"/>
                    <a:buChar char="Ø"/>
                  </a:pPr>
                  <a:endParaRPr lang="pt-BR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Ø"/>
                  </a:pPr>
                  <a:r>
                    <a:rPr lang="pt-BR" b="1" dirty="0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Manutenibilidade – Fácil manutenção e atualização;</a:t>
                  </a:r>
                  <a:endParaRPr lang="pt-BR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9" name="Conector angulado 28"/>
                <p:cNvCxnSpPr/>
                <p:nvPr/>
              </p:nvCxnSpPr>
              <p:spPr>
                <a:xfrm>
                  <a:off x="4603740" y="2504295"/>
                  <a:ext cx="1264709" cy="1092966"/>
                </a:xfrm>
                <a:prstGeom prst="bentConnector3">
                  <a:avLst>
                    <a:gd name="adj1" fmla="val 99766"/>
                  </a:avLst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83224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3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Qualidade do processo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37916" y="389645"/>
            <a:ext cx="6963178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AutoShape 6" descr="blob:https://web.whatsapp.com/a33dfc25-6073-4f3a-bdba-128873466499"/>
          <p:cNvSpPr>
            <a:spLocks noChangeAspect="1" noChangeArrowheads="1"/>
          </p:cNvSpPr>
          <p:nvPr/>
        </p:nvSpPr>
        <p:spPr bwMode="auto">
          <a:xfrm>
            <a:off x="3516961" y="286543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47" name="Grupo 46"/>
          <p:cNvGrpSpPr/>
          <p:nvPr/>
        </p:nvGrpSpPr>
        <p:grpSpPr>
          <a:xfrm>
            <a:off x="1238070" y="1210389"/>
            <a:ext cx="9123192" cy="5356500"/>
            <a:chOff x="1212312" y="1261679"/>
            <a:chExt cx="9123192" cy="5356500"/>
          </a:xfrm>
        </p:grpSpPr>
        <p:sp>
          <p:nvSpPr>
            <p:cNvPr id="16" name="Retângulo de cantos arredondados 15"/>
            <p:cNvSpPr/>
            <p:nvPr/>
          </p:nvSpPr>
          <p:spPr>
            <a:xfrm>
              <a:off x="4295643" y="2979632"/>
              <a:ext cx="1242273" cy="573891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CMMI</a:t>
              </a:r>
            </a:p>
            <a:p>
              <a:pPr algn="ctr"/>
              <a:r>
                <a:rPr lang="pt-BR" b="1" dirty="0" smtClean="0">
                  <a:latin typeface="Arial" panose="020B0604020202020204" pitchFamily="34" charset="0"/>
                  <a:cs typeface="Arial" panose="020B0604020202020204" pitchFamily="34" charset="0"/>
                </a:rPr>
                <a:t>MPS-BR</a:t>
              </a:r>
              <a:endParaRPr lang="pt-B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7376441" y="3689282"/>
              <a:ext cx="17908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smtClean="0"/>
                <a:t>NÍVEIS - CMMI</a:t>
              </a:r>
              <a:endParaRPr lang="pt-BR" dirty="0"/>
            </a:p>
          </p:txBody>
        </p:sp>
        <p:grpSp>
          <p:nvGrpSpPr>
            <p:cNvPr id="3" name="Grupo 2"/>
            <p:cNvGrpSpPr/>
            <p:nvPr/>
          </p:nvGrpSpPr>
          <p:grpSpPr>
            <a:xfrm>
              <a:off x="1212312" y="1261679"/>
              <a:ext cx="9123192" cy="5356500"/>
              <a:chOff x="2404725" y="1210389"/>
              <a:chExt cx="9123192" cy="5356500"/>
            </a:xfrm>
          </p:grpSpPr>
          <p:grpSp>
            <p:nvGrpSpPr>
              <p:cNvPr id="22" name="Grupo 21"/>
              <p:cNvGrpSpPr/>
              <p:nvPr/>
            </p:nvGrpSpPr>
            <p:grpSpPr>
              <a:xfrm>
                <a:off x="2404725" y="1210389"/>
                <a:ext cx="4414639" cy="2401845"/>
                <a:chOff x="2366088" y="4032126"/>
                <a:chExt cx="4414639" cy="2805501"/>
              </a:xfrm>
            </p:grpSpPr>
            <p:sp>
              <p:nvSpPr>
                <p:cNvPr id="8" name="Retângulo de cantos arredondados 7"/>
                <p:cNvSpPr/>
                <p:nvPr/>
              </p:nvSpPr>
              <p:spPr>
                <a:xfrm>
                  <a:off x="4836016" y="4032126"/>
                  <a:ext cx="1944711" cy="963879"/>
                </a:xfrm>
                <a:prstGeom prst="roundRect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QA</a:t>
                  </a:r>
                </a:p>
                <a:p>
                  <a:pPr algn="ctr"/>
                  <a:r>
                    <a:rPr lang="pt-BR" dirty="0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Qualidade de Software</a:t>
                  </a:r>
                  <a:endParaRPr lang="pt-BR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Retângulo de cantos arredondados 18"/>
                <p:cNvSpPr/>
                <p:nvPr/>
              </p:nvSpPr>
              <p:spPr>
                <a:xfrm>
                  <a:off x="2366088" y="5850139"/>
                  <a:ext cx="2006959" cy="987488"/>
                </a:xfrm>
                <a:prstGeom prst="roundRect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dirty="0" smtClean="0">
                      <a:latin typeface="Arial" panose="020B0604020202020204" pitchFamily="34" charset="0"/>
                      <a:cs typeface="Arial" panose="020B0604020202020204" pitchFamily="34" charset="0"/>
                    </a:rPr>
                    <a:t>Qualidade do PROCESSO</a:t>
                  </a:r>
                  <a:endParaRPr lang="pt-BR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0" name="Conector angulado 9"/>
                <p:cNvCxnSpPr>
                  <a:stCxn id="8" idx="1"/>
                  <a:endCxn id="19" idx="0"/>
                </p:cNvCxnSpPr>
                <p:nvPr/>
              </p:nvCxnSpPr>
              <p:spPr>
                <a:xfrm rot="10800000" flipV="1">
                  <a:off x="3369568" y="4514064"/>
                  <a:ext cx="1466448" cy="1336074"/>
                </a:xfrm>
                <a:prstGeom prst="bentConnector2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" name="Conector de seta reta 25"/>
              <p:cNvCxnSpPr>
                <a:stCxn id="19" idx="3"/>
                <a:endCxn id="16" idx="1"/>
              </p:cNvCxnSpPr>
              <p:nvPr/>
            </p:nvCxnSpPr>
            <p:spPr>
              <a:xfrm>
                <a:off x="4411684" y="3189530"/>
                <a:ext cx="1089251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CaixaDeTexto 34"/>
              <p:cNvSpPr txBox="1"/>
              <p:nvPr/>
            </p:nvSpPr>
            <p:spPr>
              <a:xfrm>
                <a:off x="6522328" y="3981566"/>
                <a:ext cx="5005589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Otimização – </a:t>
                </a:r>
                <a:r>
                  <a:rPr lang="pt-B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pt-BR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perfeiçoado continuamente;</a:t>
                </a:r>
              </a:p>
              <a:p>
                <a:endParaRPr lang="pt-B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pt-BR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Gerenciamento – Previsível e controlado;</a:t>
                </a:r>
              </a:p>
              <a:p>
                <a:endParaRPr lang="pt-B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pt-BR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Definido – Consistente e padronizado;</a:t>
                </a:r>
              </a:p>
              <a:p>
                <a:endParaRPr lang="pt-B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pt-BR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Repetível – Disciplinado;</a:t>
                </a:r>
              </a:p>
              <a:p>
                <a:endParaRPr lang="pt-B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pt-BR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Inicial – Imprevisível e sem controle;</a:t>
                </a:r>
                <a:endParaRPr lang="pt-B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7" name="Conector angulado 36"/>
              <p:cNvCxnSpPr>
                <a:stCxn id="16" idx="3"/>
                <a:endCxn id="36" idx="0"/>
              </p:cNvCxnSpPr>
              <p:nvPr/>
            </p:nvCxnSpPr>
            <p:spPr>
              <a:xfrm>
                <a:off x="6730329" y="3215288"/>
                <a:ext cx="2733963" cy="422704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17970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3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Conclusão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37916" y="389645"/>
            <a:ext cx="6963178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AutoShape 6" descr="blob:https://web.whatsapp.com/a33dfc25-6073-4f3a-bdba-128873466499"/>
          <p:cNvSpPr>
            <a:spLocks noChangeAspect="1" noChangeArrowheads="1"/>
          </p:cNvSpPr>
          <p:nvPr/>
        </p:nvSpPr>
        <p:spPr bwMode="auto">
          <a:xfrm>
            <a:off x="3516961" y="286543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1120463" y="2086378"/>
            <a:ext cx="101356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	</a:t>
            </a:r>
            <a:r>
              <a:rPr lang="pt-BR" sz="2000" dirty="0" smtClean="0"/>
              <a:t>Com base na apresentação, foi possível conhecer uma pouco mais sobre o “RAD” uma de várias metodologias existentes no mercado utilizadas para gerir as etapas de um processo de desenvolvimento de software.</a:t>
            </a:r>
          </a:p>
          <a:p>
            <a:pPr algn="just"/>
            <a:endParaRPr lang="pt-BR" sz="2000" dirty="0" smtClean="0"/>
          </a:p>
          <a:p>
            <a:pPr algn="just"/>
            <a:endParaRPr lang="pt-BR" sz="2000" dirty="0"/>
          </a:p>
          <a:p>
            <a:pPr algn="just"/>
            <a:r>
              <a:rPr lang="pt-BR" sz="2000" dirty="0" smtClean="0"/>
              <a:t>	Demonstramos também passo a passo, as características de cada fase do ciclo e as comparações com outras metodologias existentes.</a:t>
            </a:r>
          </a:p>
          <a:p>
            <a:pPr algn="just"/>
            <a:endParaRPr lang="pt-BR" sz="2000" dirty="0" smtClean="0"/>
          </a:p>
          <a:p>
            <a:pPr algn="just"/>
            <a:r>
              <a:rPr lang="pt-BR" sz="2000" dirty="0"/>
              <a:t>	Ainda neste contexto, abordamos </a:t>
            </a:r>
            <a:r>
              <a:rPr lang="pt-BR" sz="2000" dirty="0" smtClean="0"/>
              <a:t>a importância da qualidade de software estar presente em todas as fases do ciclo, medindo tanto os requisitos mínimos de um software, quanto o seu processo.</a:t>
            </a:r>
          </a:p>
        </p:txBody>
      </p:sp>
    </p:spTree>
    <p:extLst>
      <p:ext uri="{BB962C8B-B14F-4D97-AF65-F5344CB8AC3E}">
        <p14:creationId xmlns:p14="http://schemas.microsoft.com/office/powerpoint/2010/main" val="3572364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90171"/>
            <a:ext cx="3335628" cy="620218"/>
          </a:xfrm>
          <a:solidFill>
            <a:schemeClr val="tx1">
              <a:lumMod val="8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anchor="ctr">
            <a:normAutofit/>
          </a:bodyPr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Narkisim" panose="020E0502050101010101" pitchFamily="34" charset="-79"/>
                <a:cs typeface="Narkisim" panose="020E0502050101010101" pitchFamily="34" charset="-79"/>
              </a:rPr>
              <a:t>referências</a:t>
            </a:r>
            <a:endParaRPr lang="pt-BR" sz="2000" b="1" dirty="0">
              <a:solidFill>
                <a:schemeClr val="bg1"/>
              </a:solidFill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37916" y="389645"/>
            <a:ext cx="6963178" cy="401052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 smtClean="0">
                <a:latin typeface="Narkisim" panose="020E0502050101010101" pitchFamily="34" charset="-79"/>
                <a:cs typeface="Narkisim" panose="020E0502050101010101" pitchFamily="34" charset="-79"/>
              </a:rPr>
              <a:t>Seminário – Metodologia RAD</a:t>
            </a:r>
            <a:endParaRPr lang="pt-BR" sz="1800" b="1" dirty="0">
              <a:latin typeface="Narkisim" panose="020E0502050101010101" pitchFamily="34" charset="-79"/>
              <a:cs typeface="Narkisim" panose="020E0502050101010101" pitchFamily="34" charset="-79"/>
            </a:endParaRPr>
          </a:p>
        </p:txBody>
      </p:sp>
      <p:sp>
        <p:nvSpPr>
          <p:cNvPr id="6" name="AutoShape 6" descr="blob:https://web.whatsapp.com/a33dfc25-6073-4f3a-bdba-128873466499"/>
          <p:cNvSpPr>
            <a:spLocks noChangeAspect="1" noChangeArrowheads="1"/>
          </p:cNvSpPr>
          <p:nvPr/>
        </p:nvSpPr>
        <p:spPr bwMode="auto">
          <a:xfrm>
            <a:off x="3516961" y="286543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1107583" y="2246907"/>
            <a:ext cx="100326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>
                <a:solidFill>
                  <a:srgbClr val="00B0F0"/>
                </a:solidFill>
                <a:latin typeface="Arial" panose="020B0604020202020204" pitchFamily="34" charset="0"/>
              </a:rPr>
              <a:t>CRONAPP. </a:t>
            </a:r>
            <a:r>
              <a:rPr lang="pt-BR" b="1" dirty="0" smtClean="0">
                <a:solidFill>
                  <a:srgbClr val="00B0F0"/>
                </a:solidFill>
                <a:latin typeface="Arial" panose="020B0604020202020204" pitchFamily="34" charset="0"/>
              </a:rPr>
              <a:t>Aplicando RAD no desenvolvimento de software</a:t>
            </a:r>
            <a:r>
              <a:rPr lang="pt-BR" dirty="0" smtClean="0">
                <a:solidFill>
                  <a:srgbClr val="00B0F0"/>
                </a:solidFill>
                <a:latin typeface="Arial" panose="020B0604020202020204" pitchFamily="34" charset="0"/>
              </a:rPr>
              <a:t>. Disponível em: https://blog.cronapp.io/como-aplicar-o-rad-no-desenvolvimento-de-softwares/. Acesso em: 29 set. 2019.</a:t>
            </a:r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1107583" y="3560425"/>
            <a:ext cx="100326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B0F0"/>
                </a:solidFill>
                <a:latin typeface="Arial" panose="020B0604020202020204" pitchFamily="34" charset="0"/>
              </a:rPr>
              <a:t>JKOLB. </a:t>
            </a:r>
            <a:r>
              <a:rPr lang="pt-BR" b="1" dirty="0">
                <a:solidFill>
                  <a:srgbClr val="00B0F0"/>
                </a:solidFill>
                <a:latin typeface="Arial" panose="020B0604020202020204" pitchFamily="34" charset="0"/>
              </a:rPr>
              <a:t>Modelo RAD</a:t>
            </a:r>
            <a:r>
              <a:rPr lang="pt-BR" dirty="0">
                <a:solidFill>
                  <a:srgbClr val="00B0F0"/>
                </a:solidFill>
                <a:latin typeface="Arial" panose="020B0604020202020204" pitchFamily="34" charset="0"/>
              </a:rPr>
              <a:t>. Disponível em: http://jkolb.com.br. Acesso em: 29 set. 2019.</a:t>
            </a:r>
            <a:endParaRPr lang="pt-BR" dirty="0">
              <a:solidFill>
                <a:srgbClr val="00B0F0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107583" y="4464453"/>
            <a:ext cx="100326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B0F0"/>
                </a:solidFill>
                <a:latin typeface="Arial" panose="020B0604020202020204" pitchFamily="34" charset="0"/>
              </a:rPr>
              <a:t>TESTINGEXCELLENCE. </a:t>
            </a:r>
            <a:r>
              <a:rPr lang="pt-BR" b="1" dirty="0">
                <a:solidFill>
                  <a:srgbClr val="00B0F0"/>
                </a:solidFill>
                <a:latin typeface="Arial" panose="020B0604020202020204" pitchFamily="34" charset="0"/>
              </a:rPr>
              <a:t>Desenvolvimento rápido de aplicações RAD</a:t>
            </a:r>
            <a:r>
              <a:rPr lang="pt-BR" dirty="0">
                <a:solidFill>
                  <a:srgbClr val="00B0F0"/>
                </a:solidFill>
                <a:latin typeface="Arial" panose="020B0604020202020204" pitchFamily="34" charset="0"/>
              </a:rPr>
              <a:t>. Disponível em: https://www.testingexcellence.com/rapid-application-development-rad/. Acesso em: 29 set. 2019.</a:t>
            </a:r>
            <a:endParaRPr lang="pt-B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46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2156</TotalTime>
  <Words>583</Words>
  <Application>Microsoft Office PowerPoint</Application>
  <PresentationFormat>Widescreen</PresentationFormat>
  <Paragraphs>237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Arial</vt:lpstr>
      <vt:lpstr>Arial Black</vt:lpstr>
      <vt:lpstr>Droid Serif</vt:lpstr>
      <vt:lpstr>Narkisim</vt:lpstr>
      <vt:lpstr>Trebuchet MS</vt:lpstr>
      <vt:lpstr>Tw Cen MT</vt:lpstr>
      <vt:lpstr>Wingdings</vt:lpstr>
      <vt:lpstr>Circuito</vt:lpstr>
      <vt:lpstr>Apresentação do PowerPoint</vt:lpstr>
      <vt:lpstr>TÓPICOS ABORDADOS</vt:lpstr>
      <vt:lpstr>História - RAD</vt:lpstr>
      <vt:lpstr>INTRODUÇÃO - RAD</vt:lpstr>
      <vt:lpstr>O QUE É RAD</vt:lpstr>
      <vt:lpstr>Vantagens - rad</vt:lpstr>
      <vt:lpstr>Desvantagens</vt:lpstr>
      <vt:lpstr>Estrutura / etapas - rad</vt:lpstr>
      <vt:lpstr>Etapas - RAD</vt:lpstr>
      <vt:lpstr>descrição das etapas - rad</vt:lpstr>
      <vt:lpstr>descrição das etapas - rad</vt:lpstr>
      <vt:lpstr>descrição das etapas - rad</vt:lpstr>
      <vt:lpstr>descrição das etapas - rad</vt:lpstr>
      <vt:lpstr>descrição das etapas - rad</vt:lpstr>
      <vt:lpstr>Conceitos / desafios</vt:lpstr>
      <vt:lpstr>Qualidade de software e divisão</vt:lpstr>
      <vt:lpstr>Qualidade do produto</vt:lpstr>
      <vt:lpstr>Qualidade do processo</vt:lpstr>
      <vt:lpstr>Conclusão</vt:lpstr>
      <vt:lpstr>referências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Metodologia rad</dc:title>
  <dc:creator>Gabriel Fernando Pera Pacheco</dc:creator>
  <cp:lastModifiedBy>Gabriel Fernando Pera Pacheco</cp:lastModifiedBy>
  <cp:revision>105</cp:revision>
  <dcterms:created xsi:type="dcterms:W3CDTF">2019-09-29T13:20:02Z</dcterms:created>
  <dcterms:modified xsi:type="dcterms:W3CDTF">2019-10-01T11:34:44Z</dcterms:modified>
</cp:coreProperties>
</file>