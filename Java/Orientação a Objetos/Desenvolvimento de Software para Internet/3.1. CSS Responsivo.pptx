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y="5143500" cx="9144000"/>
  <p:notesSz cx="6858000" cy="9144000"/>
  <p:embeddedFontLst>
    <p:embeddedFont>
      <p:font typeface="Roboto"/>
      <p:regular r:id="rId41"/>
      <p:bold r:id="rId42"/>
      <p:italic r:id="rId43"/>
      <p:boldItalic r:id="rId44"/>
    </p:embeddedFont>
    <p:embeddedFont>
      <p:font typeface="Roboto Mon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22" Type="http://schemas.openxmlformats.org/officeDocument/2006/relationships/slide" Target="slides/slide18.xml"/><Relationship Id="rId44" Type="http://schemas.openxmlformats.org/officeDocument/2006/relationships/font" Target="fonts/Roboto-boldItalic.fntdata"/><Relationship Id="rId21" Type="http://schemas.openxmlformats.org/officeDocument/2006/relationships/slide" Target="slides/slide17.xml"/><Relationship Id="rId43" Type="http://schemas.openxmlformats.org/officeDocument/2006/relationships/font" Target="fonts/Roboto-italic.fntdata"/><Relationship Id="rId24" Type="http://schemas.openxmlformats.org/officeDocument/2006/relationships/slide" Target="slides/slide20.xml"/><Relationship Id="rId46" Type="http://schemas.openxmlformats.org/officeDocument/2006/relationships/font" Target="fonts/RobotoMono-bold.fntdata"/><Relationship Id="rId23" Type="http://schemas.openxmlformats.org/officeDocument/2006/relationships/slide" Target="slides/slide19.xml"/><Relationship Id="rId45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schemas.openxmlformats.org/officeDocument/2006/relationships/font" Target="fonts/RobotoMono-boldItalic.fntdata"/><Relationship Id="rId25" Type="http://schemas.openxmlformats.org/officeDocument/2006/relationships/slide" Target="slides/slide21.xml"/><Relationship Id="rId47" Type="http://schemas.openxmlformats.org/officeDocument/2006/relationships/font" Target="fonts/RobotoMono-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94b87c97b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94b87c97b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21318812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21318812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4b87c97bd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94b87c97bd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c35c4bb3_5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c35c4bb3_5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0b19044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0b19044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0b19044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0b19044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0b19044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0b19044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0b19044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0b19044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0b19044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0b19044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0b19044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0b19044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0b19044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0b19044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0b190449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0b190449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0b19044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0b19044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0b19044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0b19044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0b190449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0b19044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0b19044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0b19044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0b19044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0b19044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0b190449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0b190449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0b190449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0b19044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0b19044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0b19044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0b190449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0b190449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0b190449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0b190449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0b190449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0b190449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0b190449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f0b190449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0b190449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0b19044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255028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f255028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2550281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f2550281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2550281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f2550281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2550281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2550281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27f82a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27f82a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43de11b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43de11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43de11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43de11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43de11b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f43de11b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43de11b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f43de11b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5e748f6e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5e748f6e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it.ly/3lkwnby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venilton.junior@docente.unip.br" TargetMode="External"/><Relationship Id="rId4" Type="http://schemas.openxmlformats.org/officeDocument/2006/relationships/hyperlink" Target="https://bit.ly/2FGvp9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w3schools.com/css/css_rwd_viewport.asp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w3schools.com/css/css_rwd_grid.asp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w3schools.com/css/css_rwd_mediaqueries.asp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stackoverflow.com/a/3445591/3072570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w3schools.com/css/css3_buttons.asp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w3schools.com/css/css3_flexbox.asp" TargetMode="External"/><Relationship Id="rId4" Type="http://schemas.openxmlformats.org/officeDocument/2006/relationships/hyperlink" Target="http://flexboxfroggy.com" TargetMode="External"/><Relationship Id="rId5" Type="http://schemas.openxmlformats.org/officeDocument/2006/relationships/hyperlink" Target="https://youtu.be/x-4z_u8LcGc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Desenvolvimento de Software para Internet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3.1</a:t>
            </a:r>
            <a:r>
              <a:rPr lang="en"/>
              <a:t>. CSS Responsivo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Disponível em: </a:t>
            </a:r>
            <a:r>
              <a:rPr b="1" lang="en" sz="1800" u="sng">
                <a:solidFill>
                  <a:schemeClr val="hlink"/>
                </a:solidFill>
                <a:hlinkClick r:id="rId3"/>
              </a:rPr>
              <a:t>bit.ly/3lkwnby</a:t>
            </a:r>
            <a:endParaRPr b="1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Google Classroom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/>
              <a:t>i53s6fk</a:t>
            </a:r>
            <a:endParaRPr b="1" sz="7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Conteúdo Programático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Introdução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Hyper Text Markup Language (HTML)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Cascading Style Sheets (CSS)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 sz="1800"/>
              <a:t>CSS Responsivo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JavaScript (JS)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Frameworks e Bibliotecas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277550" y="1789500"/>
            <a:ext cx="4045200" cy="15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Venilton FalvoJr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>
                <a:solidFill>
                  <a:schemeClr val="hlink"/>
                </a:solidFill>
                <a:hlinkClick r:id="rId3"/>
              </a:rPr>
              <a:t>venilton.junior@docente.unip.br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</a:rPr>
              <a:t>(16) 99721-8281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Repositório: </a:t>
            </a:r>
            <a:r>
              <a:rPr b="1" lang="en" sz="2100" u="sng">
                <a:solidFill>
                  <a:schemeClr val="hlink"/>
                </a:solidFill>
                <a:hlinkClick r:id="rId4"/>
              </a:rPr>
              <a:t>bit.ly/2FGvp9l</a:t>
            </a:r>
            <a:endParaRPr sz="3000"/>
          </a:p>
        </p:txBody>
      </p:sp>
      <p:sp>
        <p:nvSpPr>
          <p:cNvPr id="103" name="Google Shape;103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Estudante de Doutorado no ICMC-USP, onde contribui junto ao LabES no campus de São Carlos. Possui sólida experiência na área de desenvolvimento de software, com ênfase na análise, construção e arquitetura de sistemas web e mobile. </a:t>
            </a:r>
            <a:endParaRPr sz="16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Atualmente é professor na UNIP e sócio-fundador da Brain Machine, uma startup de consultoria especializada na otimização arquitetural de soluções de software.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Design Responsivo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É chamado de Web Design Responsivo o uso de CSS e HTML para redimensionar, ocultar, encolher, ampliar ou mover o conteúdo para torná-lo adequado à qualquer tela.</a:t>
            </a:r>
            <a:endParaRPr/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</a:t>
            </a:r>
            <a:r>
              <a:rPr lang="en"/>
              <a:t>orna a sua </a:t>
            </a:r>
            <a:r>
              <a:rPr b="1" lang="en"/>
              <a:t>página da Web com bom aspecto em todos os dispositivos</a:t>
            </a:r>
            <a:r>
              <a:rPr lang="en"/>
              <a:t>;</a:t>
            </a:r>
            <a:endParaRPr/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Usa apenas HTML e CSS;</a:t>
            </a:r>
            <a:endParaRPr b="1"/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Não é um programa ou JavaScript.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Design Responsivo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As páginas da Web podem ser visualizadas usando muitos dispositivos diferentes:</a:t>
            </a:r>
            <a:r>
              <a:rPr b="1" lang="en"/>
              <a:t> desktops, tablets e telefones</a:t>
            </a:r>
            <a:r>
              <a:rPr lang="en"/>
              <a:t>. Sua página da Web deve </a:t>
            </a:r>
            <a:r>
              <a:rPr b="1" lang="en"/>
              <a:t>ter boa aparência e ser fácil de usar, independentemente do dispositivo</a:t>
            </a:r>
            <a:r>
              <a:rPr lang="en"/>
              <a:t>.</a:t>
            </a:r>
            <a:endParaRPr/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462338"/>
            <a:ext cx="2857500" cy="1876425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0500" y="2462350"/>
            <a:ext cx="1143000" cy="16764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8" name="Google Shape;11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4800" y="2462350"/>
            <a:ext cx="666750" cy="116205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Viewport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Antes de tablets e celulares, as páginas da Web eram projetadas apenas para telas de PC e era comum que tivessem um design estático e um tamanho fixo.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Então, quando começamos a navegar na Internet usando tablets e celulares, as páginas Web de tamanho fixo eram grandes demais para caber na janela de visualização.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A </a:t>
            </a:r>
            <a:r>
              <a:rPr b="1" i="1" lang="en" u="sng">
                <a:solidFill>
                  <a:schemeClr val="hlink"/>
                </a:solidFill>
                <a:hlinkClick r:id="rId3"/>
              </a:rPr>
              <a:t>Viewport</a:t>
            </a:r>
            <a:r>
              <a:rPr b="1" lang="en"/>
              <a:t> é a área visível do usuário</a:t>
            </a:r>
            <a:r>
              <a:rPr lang="en"/>
              <a:t> </a:t>
            </a:r>
            <a:r>
              <a:rPr b="1" lang="en"/>
              <a:t>de uma página da Web e</a:t>
            </a:r>
            <a:r>
              <a:rPr lang="en"/>
              <a:t> </a:t>
            </a:r>
            <a:r>
              <a:rPr b="1" lang="en"/>
              <a:t>varia de acordo com o dispositivo</a:t>
            </a:r>
            <a:r>
              <a:rPr lang="en"/>
              <a:t>, ou seja, será menor em um celular do que em uma tela de PC.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Viewport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HTML5 introduziu um método para permitir que os web designers assumissem o controle da </a:t>
            </a:r>
            <a:r>
              <a:rPr b="1" i="1" lang="en"/>
              <a:t>viewport</a:t>
            </a:r>
            <a:r>
              <a:rPr lang="en"/>
              <a:t>, através da tag </a:t>
            </a:r>
            <a:r>
              <a:rPr b="1"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b="1"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/>
              <a:t>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Com isso, você deve incluir o seguinte elemento </a:t>
            </a:r>
            <a:r>
              <a:rPr b="1"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b="1"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/>
              <a:t> viewport em todas as suas páginas da Web: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7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b="1" lang="en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b="1" lang="en" sz="17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="viewport"</a:t>
            </a:r>
            <a:r>
              <a:rPr b="1" lang="en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content</a:t>
            </a:r>
            <a:r>
              <a:rPr b="1" lang="en" sz="17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="width=device-width,</a:t>
            </a:r>
            <a:r>
              <a:rPr b="1" lang="en" sz="12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initial-scale=1.0"&gt;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Viewport</a:t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 elemento </a:t>
            </a:r>
            <a:r>
              <a:rPr b="1"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b="1"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/>
              <a:t> viewport fornece ao navegador instruções sobre como controlar as dimensões e o dimensionamento da página.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 propriedade </a:t>
            </a:r>
            <a:r>
              <a:rPr b="1"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width=device-width</a:t>
            </a:r>
            <a:r>
              <a:rPr lang="en"/>
              <a:t> define a largura da página para seguir a largura da tela do dispositivo (que irá variar dependendo do dispositivo).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/>
              <a:t>propriedade</a:t>
            </a:r>
            <a:r>
              <a:rPr lang="en"/>
              <a:t> </a:t>
            </a:r>
            <a:r>
              <a:rPr b="1"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initial-scale=1.0</a:t>
            </a:r>
            <a:r>
              <a:rPr lang="en"/>
              <a:t> define o nível de zoom inicial quando a página é carregada pela primeira vez pelo navegador.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Viewport (Regras)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NÃO use elementos grandes de largura fixa;</a:t>
            </a:r>
            <a:endParaRPr b="1"/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NÃO deixe seu conteúdo depender de largura de janela para renderizar bem;</a:t>
            </a:r>
            <a:endParaRPr b="1"/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Arial"/>
              <a:buAutoNum type="arabicPeriod"/>
            </a:pPr>
            <a:r>
              <a:rPr b="1" lang="en"/>
              <a:t>Use </a:t>
            </a:r>
            <a:r>
              <a:rPr b="1" i="1" lang="en"/>
              <a:t>media queries</a:t>
            </a:r>
            <a:r>
              <a:rPr b="1" lang="en"/>
              <a:t> CSS para aplicar estilos específicos para telas diferentes.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Grid-View: Propriedade </a:t>
            </a:r>
            <a:r>
              <a:rPr i="1" lang="en"/>
              <a:t>box-sizing</a:t>
            </a:r>
            <a:endParaRPr i="1"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 aplicar o conceito de </a:t>
            </a:r>
            <a:r>
              <a:rPr b="1" i="1" lang="en" u="sng">
                <a:solidFill>
                  <a:schemeClr val="hlink"/>
                </a:solidFill>
                <a:hlinkClick r:id="rId3"/>
              </a:rPr>
              <a:t>Grid-View</a:t>
            </a:r>
            <a:r>
              <a:rPr lang="en"/>
              <a:t>, primeiro</a:t>
            </a:r>
            <a:r>
              <a:rPr lang="en"/>
              <a:t> certifique-se de que todos os elementos HTML tenham a propriedade </a:t>
            </a:r>
            <a:r>
              <a:rPr lang="en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box-sizing</a:t>
            </a:r>
            <a:r>
              <a:rPr lang="en"/>
              <a:t> definida como </a:t>
            </a:r>
            <a:r>
              <a:rPr lang="en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border-box</a:t>
            </a:r>
            <a:r>
              <a:rPr lang="en"/>
              <a:t>. Isso </a:t>
            </a:r>
            <a:r>
              <a:rPr b="1" lang="en"/>
              <a:t>garante que o preenchimento e a borda sejam incluídos na largura e na altura totais dos elementos</a:t>
            </a:r>
            <a:r>
              <a:rPr lang="en"/>
              <a:t>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box-sizing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border-box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Grid-View: Usando 12 colunas</a:t>
            </a:r>
            <a:endParaRPr/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000" y="1386850"/>
            <a:ext cx="8427976" cy="2369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Grid-View: Usando 12 colunas</a:t>
            </a:r>
            <a:endParaRPr/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.col-1 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5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5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8.33%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5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.col-2 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5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5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16.66%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5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.col-3 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5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5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25%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5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.col-4 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5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5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33.33%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5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.col-5 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5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5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41.66%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5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.col-6 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5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5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50%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5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.col-7 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5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5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58.33%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5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.col-8 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5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5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66.66%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5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.col-9 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5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5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75%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5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.col-10 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5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5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83.33%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5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.col-11 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5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5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91.66%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5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.col-12 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5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5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100%</a:t>
            </a:r>
            <a:r>
              <a:rPr b="1" lang="en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500">
              <a:solidFill>
                <a:srgbClr val="A52A2A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Grid-View: Seletor para TODAS as colunas</a:t>
            </a:r>
            <a:endParaRPr/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[class*="col-"] 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>
              <a:solidFill>
                <a:srgbClr val="000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	width</a:t>
            </a:r>
            <a:r>
              <a:rPr b="1" lang="en">
                <a:solidFill>
                  <a:srgbClr val="00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>
                <a:solidFill>
                  <a:srgbClr val="0000CD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100%</a:t>
            </a:r>
            <a:r>
              <a:rPr b="1" lang="en">
                <a:solidFill>
                  <a:srgbClr val="00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rgbClr val="FF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left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rgbClr val="A52A2A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Grid-View: HTML</a:t>
            </a:r>
            <a:endParaRPr/>
          </a:p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1"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="row"</a:t>
            </a:r>
            <a:r>
              <a:rPr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>
              <a:solidFill>
                <a:srgbClr val="0000C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1"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="col-6"</a:t>
            </a:r>
            <a:r>
              <a:rPr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/div</a:t>
            </a:r>
            <a:r>
              <a:rPr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&lt;!-- </a:t>
            </a:r>
            <a:r>
              <a:rPr b="1" lang="en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50%</a:t>
            </a:r>
            <a:r>
              <a:rPr lang="en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 --&gt;</a:t>
            </a:r>
            <a:endParaRPr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1"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="col-6"</a:t>
            </a:r>
            <a:r>
              <a:rPr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/div</a:t>
            </a:r>
            <a:r>
              <a:rPr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&lt;!-- </a:t>
            </a:r>
            <a:r>
              <a:rPr b="1" lang="en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50%</a:t>
            </a:r>
            <a:r>
              <a:rPr lang="en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 --&gt;</a:t>
            </a:r>
            <a:endParaRPr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/div</a:t>
            </a:r>
            <a:r>
              <a:rPr lang="en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1">
              <a:solidFill>
                <a:srgbClr val="A52A2A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Grid-View: Evitando sobreposicões</a:t>
            </a:r>
            <a:endParaRPr/>
          </a:p>
        </p:txBody>
      </p:sp>
      <p:sp>
        <p:nvSpPr>
          <p:cNvPr id="178" name="Google Shape;178;p28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.row::after 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content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""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clear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both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display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table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rgbClr val="A52A2A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Grid-View: Exemplo</a:t>
            </a:r>
            <a:endParaRPr/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partir dos conceitos apresentados, reproduza a seguinte estrutura usando o conceito de Grid-View: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2419809"/>
            <a:ext cx="8444400" cy="967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 Query</a:t>
            </a:r>
            <a:endParaRPr/>
          </a:p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3879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u="sng">
                <a:solidFill>
                  <a:schemeClr val="hlink"/>
                </a:solidFill>
                <a:hlinkClick r:id="rId3"/>
              </a:rPr>
              <a:t>Media Query</a:t>
            </a:r>
            <a:r>
              <a:rPr b="1" i="1" lang="en"/>
              <a:t> </a:t>
            </a:r>
            <a:r>
              <a:rPr lang="en"/>
              <a:t>é uma técnica CSS introduzida no CSS3.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Através dela, pode-se criar uma </a:t>
            </a:r>
            <a:r>
              <a:rPr b="1" lang="en"/>
              <a:t>regra </a:t>
            </a:r>
            <a:r>
              <a:rPr lang="en"/>
              <a:t>(</a:t>
            </a:r>
            <a:r>
              <a:rPr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@media</a:t>
            </a:r>
            <a:r>
              <a:rPr lang="en"/>
              <a:t>) </a:t>
            </a:r>
            <a:r>
              <a:rPr b="1" lang="en"/>
              <a:t>para incluir um bloco de propriedades CSS somente se uma determinada condição for verdadeira</a:t>
            </a:r>
            <a:r>
              <a:rPr lang="en"/>
              <a:t>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@media</a:t>
            </a:r>
            <a:r>
              <a:rPr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only screen and (max-width: 600px)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body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	background-color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blue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Quando usar </a:t>
            </a:r>
            <a:r>
              <a:rPr i="1" lang="en"/>
              <a:t>Media Queries</a:t>
            </a:r>
            <a:r>
              <a:rPr lang="en"/>
              <a:t>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Estilos para</a:t>
            </a:r>
            <a:r>
              <a:rPr lang="en"/>
              <a:t> Desktop</a:t>
            </a:r>
            <a:endParaRPr/>
          </a:p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Para desktop: */</a:t>
            </a:r>
            <a:endParaRPr b="1" sz="14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.col-1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8.33%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.col-2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16.66%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.col-3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25%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.col-4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33.33%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.col-5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41.66%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.col-6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50%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.col-7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58.33%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.col-8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66.66%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.col-9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75%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.col-10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83.33%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.col-11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91.66%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.col-12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100%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Estilos para</a:t>
            </a:r>
            <a:r>
              <a:rPr lang="en"/>
              <a:t> Tablets</a:t>
            </a:r>
            <a:endParaRPr/>
          </a:p>
        </p:txBody>
      </p:sp>
      <p:sp>
        <p:nvSpPr>
          <p:cNvPr id="208" name="Google Shape;208;p3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</a:t>
            </a:r>
            <a:r>
              <a:rPr b="1" lang="en" sz="14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Para</a:t>
            </a:r>
            <a:r>
              <a:rPr b="1" lang="en" sz="14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tablets: */</a:t>
            </a:r>
            <a:endParaRPr b="1" sz="14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.col-s-1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8.33%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.col-s-2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16.66%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.col-s-3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25%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.col-s-4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33.33%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.col-s-5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41.66%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.col-s-6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50%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.col-s-7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58.33%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.col-s-8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66.66%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.col-s-9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75%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.col-s-10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83.33%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.col-s-11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91.66%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.col-s-12 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1"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100%</a:t>
            </a:r>
            <a:r>
              <a:rPr b="1"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;}</a:t>
            </a:r>
            <a:endParaRPr b="1" sz="14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Estilos para</a:t>
            </a:r>
            <a:r>
              <a:rPr lang="en"/>
              <a:t> Mobile</a:t>
            </a:r>
            <a:endParaRPr/>
          </a:p>
        </p:txBody>
      </p:sp>
      <p:sp>
        <p:nvSpPr>
          <p:cNvPr id="214" name="Google Shape;214;p3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Para mobile: */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[class*="col-"] 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width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100%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 Query:</a:t>
            </a:r>
            <a:r>
              <a:rPr lang="en"/>
              <a:t> </a:t>
            </a:r>
            <a:r>
              <a:rPr i="1" lang="en"/>
              <a:t>Mobile First</a:t>
            </a:r>
            <a:endParaRPr i="1"/>
          </a:p>
        </p:txBody>
      </p:sp>
      <p:sp>
        <p:nvSpPr>
          <p:cNvPr id="220" name="Google Shape;220;p3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Mobile First</a:t>
            </a:r>
            <a:r>
              <a:rPr b="1" lang="en"/>
              <a:t> significa projetar para dispositivos móveis antes de projetar para desktop ou qualquer outro dispositivo</a:t>
            </a:r>
            <a:r>
              <a:rPr lang="en"/>
              <a:t> (isso fará com que a página seja exibida mais rapidamente em dispositivos menores).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Isso significa que devemos fazer algumas alterações no nosso CSS, usando o conceito de </a:t>
            </a:r>
            <a:r>
              <a:rPr i="1" lang="en"/>
              <a:t>Media Queries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 Query: </a:t>
            </a:r>
            <a:r>
              <a:rPr i="1" lang="en"/>
              <a:t>Mobile First</a:t>
            </a:r>
            <a:endParaRPr i="1"/>
          </a:p>
        </p:txBody>
      </p:sp>
      <p:sp>
        <p:nvSpPr>
          <p:cNvPr id="226" name="Google Shape;226;p3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Para mobile: */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[class*="col-"] 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width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100%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@media only screen and (min-width: 600px) 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Para tablets... */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@media only screen and (min-width: 768px) 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Para desktop... */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Exercícios</a:t>
            </a:r>
            <a:endParaRPr i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1</a:t>
            </a:r>
            <a:endParaRPr/>
          </a:p>
        </p:txBody>
      </p:sp>
      <p:sp>
        <p:nvSpPr>
          <p:cNvPr id="237" name="Google Shape;237;p3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Com base em todos os conceitos apresentados até aqui, faremos juntos uma Página Web responsiva que se comporte adequadamente em dispositivos Mobile, Tablets e Desktops. Para isso, entenderemos o arquivo </a:t>
            </a:r>
            <a:r>
              <a:rPr b="1" i="1" lang="en">
                <a:latin typeface="Roboto Mono"/>
                <a:ea typeface="Roboto Mono"/>
                <a:cs typeface="Roboto Mono"/>
                <a:sym typeface="Roboto Mono"/>
              </a:rPr>
              <a:t>dsi.css</a:t>
            </a:r>
            <a:r>
              <a:rPr lang="en"/>
              <a:t>.</a:t>
            </a:r>
            <a:endParaRPr/>
          </a:p>
        </p:txBody>
      </p:sp>
      <p:pic>
        <p:nvPicPr>
          <p:cNvPr id="238" name="Google Shape;23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462338"/>
            <a:ext cx="2857500" cy="1876425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9" name="Google Shape;23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0500" y="2462350"/>
            <a:ext cx="1143000" cy="16764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0" name="Google Shape;240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4800" y="2462350"/>
            <a:ext cx="666750" cy="116205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2</a:t>
            </a:r>
            <a:endParaRPr/>
          </a:p>
        </p:txBody>
      </p:sp>
      <p:sp>
        <p:nvSpPr>
          <p:cNvPr id="246" name="Google Shape;246;p3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 facilitar a </a:t>
            </a:r>
            <a:r>
              <a:rPr lang="en"/>
              <a:t>criação</a:t>
            </a:r>
            <a:r>
              <a:rPr lang="en"/>
              <a:t> de novas páginas, usaremos nosso arquivo externo de CSS (</a:t>
            </a:r>
            <a:r>
              <a:rPr b="1" i="1" lang="en">
                <a:latin typeface="Roboto Mono"/>
                <a:ea typeface="Roboto Mono"/>
                <a:cs typeface="Roboto Mono"/>
                <a:sym typeface="Roboto Mono"/>
              </a:rPr>
              <a:t>dsi.css)</a:t>
            </a:r>
            <a:r>
              <a:rPr lang="en"/>
              <a:t> como uma pequena biblioteca. 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Assim, iremos sempre importá-lo em nossas páginas para que seus estilos sejam aplicados/carregados. Para deixá-lo mais robusto, incluiremos mais alguns elementos, apresentados a seguir: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2</a:t>
            </a:r>
            <a:endParaRPr/>
          </a:p>
        </p:txBody>
      </p:sp>
      <p:sp>
        <p:nvSpPr>
          <p:cNvPr id="252" name="Google Shape;252;p4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padding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12px 12px 12px 0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display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inline-block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input:not([type='checkbox']):not([type='submit']), select, textarea</a:t>
            </a:r>
            <a:r>
              <a:rPr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width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100%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padding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12</a:t>
            </a:r>
            <a:r>
              <a:rPr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px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border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1px solid #ccc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border-radius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4px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Referência Pseudo-classes: </a:t>
            </a:r>
            <a:r>
              <a:rPr b="1" lang="en" sz="12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https://stackoverflow.com/a/3445591/3072570 </a:t>
            </a:r>
            <a:endParaRPr b="1" sz="12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2</a:t>
            </a:r>
            <a:endParaRPr/>
          </a:p>
        </p:txBody>
      </p:sp>
      <p:sp>
        <p:nvSpPr>
          <p:cNvPr id="258" name="Google Shape;258;p4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input[type=submit], button</a:t>
            </a:r>
            <a:r>
              <a:rPr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100%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background-color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#4CAF50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color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white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padding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12px 20px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border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none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border-radius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4px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cursor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pointer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input[type=submit]:hover, button:hover</a:t>
            </a:r>
            <a:r>
              <a:rPr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background-color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#45a049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Referência Botões: </a:t>
            </a:r>
            <a:r>
              <a:rPr lang="en" sz="12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https://www.w3schools.com/css/css3_buttons.asp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2</a:t>
            </a:r>
            <a:endParaRPr/>
          </a:p>
        </p:txBody>
      </p:sp>
      <p:sp>
        <p:nvSpPr>
          <p:cNvPr id="264" name="Google Shape;264;p4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D73A4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@media</a:t>
            </a:r>
            <a:r>
              <a:rPr b="1" lang="en" sz="1400">
                <a:solidFill>
                  <a:srgbClr val="24292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00">
                <a:solidFill>
                  <a:srgbClr val="D73A4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only</a:t>
            </a:r>
            <a:r>
              <a:rPr b="1" lang="en" sz="1400">
                <a:solidFill>
                  <a:srgbClr val="24292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00">
                <a:solidFill>
                  <a:srgbClr val="005CC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screen</a:t>
            </a:r>
            <a:r>
              <a:rPr b="1" lang="en" sz="1400">
                <a:solidFill>
                  <a:srgbClr val="24292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00">
                <a:solidFill>
                  <a:srgbClr val="D73A4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</a:t>
            </a:r>
            <a:r>
              <a:rPr b="1" lang="en" sz="1400">
                <a:solidFill>
                  <a:srgbClr val="24292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400">
                <a:solidFill>
                  <a:srgbClr val="005CC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min-width</a:t>
            </a:r>
            <a:r>
              <a:rPr b="1" lang="en" sz="1400">
                <a:solidFill>
                  <a:srgbClr val="24292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en" sz="1400">
                <a:solidFill>
                  <a:srgbClr val="005CC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768</a:t>
            </a:r>
            <a:r>
              <a:rPr b="1" lang="en" sz="1400">
                <a:solidFill>
                  <a:srgbClr val="D73A4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px</a:t>
            </a:r>
            <a:r>
              <a:rPr b="1" lang="en" sz="1400">
                <a:solidFill>
                  <a:srgbClr val="24292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" sz="1400">
                <a:solidFill>
                  <a:srgbClr val="24292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400">
              <a:solidFill>
                <a:srgbClr val="24292E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4292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input[type=submit], button</a:t>
            </a:r>
            <a:r>
              <a:rPr lang="en" sz="1400">
                <a:solidFill>
                  <a:srgbClr val="A52A2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auto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400">
                <a:solidFill>
                  <a:srgbClr val="0000CD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right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4292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>
              <a:solidFill>
                <a:srgbClr val="24292E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2</a:t>
            </a:r>
            <a:endParaRPr/>
          </a:p>
        </p:txBody>
      </p:sp>
      <p:sp>
        <p:nvSpPr>
          <p:cNvPr id="270" name="Google Shape;270;p4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Utilizando o arquivo </a:t>
            </a:r>
            <a:r>
              <a:rPr b="1" i="1" lang="en">
                <a:latin typeface="Roboto Mono"/>
                <a:ea typeface="Roboto Mono"/>
                <a:cs typeface="Roboto Mono"/>
                <a:sym typeface="Roboto Mono"/>
              </a:rPr>
              <a:t>dsi.css</a:t>
            </a:r>
            <a:r>
              <a:rPr lang="en"/>
              <a:t>, crie as seguintes páginas, considerando seu PIM:</a:t>
            </a:r>
            <a:endParaRPr/>
          </a:p>
          <a:p>
            <a:pPr indent="-342900" lvl="0" marL="457200" rtl="0" algn="just">
              <a:spcBef>
                <a:spcPts val="1600"/>
              </a:spcBef>
              <a:spcAft>
                <a:spcPts val="0"/>
              </a:spcAft>
              <a:buSzPts val="1800"/>
              <a:buAutoNum type="alphaLcPeriod"/>
            </a:pPr>
            <a:r>
              <a:rPr lang="en"/>
              <a:t>Login;</a:t>
            </a:r>
            <a:endParaRPr/>
          </a:p>
          <a:p>
            <a:pPr indent="-342900" lvl="0" marL="457200" rtl="0" algn="just">
              <a:spcBef>
                <a:spcPts val="1600"/>
              </a:spcBef>
              <a:spcAft>
                <a:spcPts val="1600"/>
              </a:spcAft>
              <a:buSzPts val="1800"/>
              <a:buAutoNum type="alphaLcPeriod"/>
            </a:pPr>
            <a:r>
              <a:rPr lang="en"/>
              <a:t>Cadastro de Cliente.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3</a:t>
            </a:r>
            <a:endParaRPr/>
          </a:p>
        </p:txBody>
      </p:sp>
      <p:sp>
        <p:nvSpPr>
          <p:cNvPr id="276" name="Google Shape;276;p4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Crie uma página HTML que utilize as 3 formas de </a:t>
            </a:r>
            <a:r>
              <a:rPr lang="en"/>
              <a:t>aplicação</a:t>
            </a:r>
            <a:r>
              <a:rPr lang="en"/>
              <a:t> de CSS: Interna, Externa e Inline. 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/>
              <a:t>Não existe um layout pré-definido, crie apenas uma página simples que aplique os conceitos em questão.</a:t>
            </a:r>
            <a:endParaRPr i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4</a:t>
            </a:r>
            <a:endParaRPr/>
          </a:p>
        </p:txBody>
      </p:sp>
      <p:sp>
        <p:nvSpPr>
          <p:cNvPr id="282" name="Google Shape;282;p4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Evolua o exercício anterior para que ele </a:t>
            </a:r>
            <a:r>
              <a:rPr lang="en"/>
              <a:t>implemente</a:t>
            </a:r>
            <a:r>
              <a:rPr lang="en"/>
              <a:t> pelo menos 2 conceitos de Web Design Responsivo explorados na disciplina: Viewport, Grid-View e Media Query.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n"/>
              <a:t>Não existe um layout pré-definido, crie apenas uma página simples que aplique os conceitos em questão.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5</a:t>
            </a:r>
            <a:endParaRPr/>
          </a:p>
        </p:txBody>
      </p:sp>
      <p:sp>
        <p:nvSpPr>
          <p:cNvPr id="288" name="Google Shape;288;p4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Usando o conceito de Web Design Responsivo, crie uma página HTML a partir dos </a:t>
            </a:r>
            <a:r>
              <a:rPr i="1" lang="en"/>
              <a:t>mockups</a:t>
            </a:r>
            <a:r>
              <a:rPr lang="en"/>
              <a:t> a seguir</a:t>
            </a:r>
            <a:r>
              <a:rPr lang="en"/>
              <a:t> (Desktop e Mobile)</a:t>
            </a:r>
            <a:r>
              <a:rPr lang="en"/>
              <a:t>. Os blocos azuis são tags </a:t>
            </a:r>
            <a:r>
              <a:rPr b="1" i="1" lang="en"/>
              <a:t>&lt;li&gt;</a:t>
            </a:r>
            <a:r>
              <a:rPr lang="en"/>
              <a:t> que representam um menu e o vermelho uma </a:t>
            </a:r>
            <a:r>
              <a:rPr b="1" i="1" lang="en"/>
              <a:t>&lt;div&gt;</a:t>
            </a:r>
            <a:r>
              <a:rPr lang="en"/>
              <a:t> com títulos e parágrafos dentro</a:t>
            </a:r>
            <a:r>
              <a:rPr lang="en"/>
              <a:t>:</a:t>
            </a:r>
            <a:endParaRPr/>
          </a:p>
        </p:txBody>
      </p:sp>
      <p:sp>
        <p:nvSpPr>
          <p:cNvPr id="289" name="Google Shape;289;p46"/>
          <p:cNvSpPr/>
          <p:nvPr/>
        </p:nvSpPr>
        <p:spPr>
          <a:xfrm>
            <a:off x="311700" y="2398600"/>
            <a:ext cx="2052600" cy="2361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6"/>
          <p:cNvSpPr/>
          <p:nvPr/>
        </p:nvSpPr>
        <p:spPr>
          <a:xfrm>
            <a:off x="3545700" y="2398600"/>
            <a:ext cx="1783200" cy="2361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46"/>
          <p:cNvSpPr/>
          <p:nvPr/>
        </p:nvSpPr>
        <p:spPr>
          <a:xfrm>
            <a:off x="395650" y="2497575"/>
            <a:ext cx="457500" cy="1359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6"/>
          <p:cNvSpPr/>
          <p:nvPr/>
        </p:nvSpPr>
        <p:spPr>
          <a:xfrm>
            <a:off x="395650" y="2687075"/>
            <a:ext cx="457500" cy="1359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6"/>
          <p:cNvSpPr/>
          <p:nvPr/>
        </p:nvSpPr>
        <p:spPr>
          <a:xfrm>
            <a:off x="395650" y="2876575"/>
            <a:ext cx="457500" cy="1359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6"/>
          <p:cNvSpPr/>
          <p:nvPr/>
        </p:nvSpPr>
        <p:spPr>
          <a:xfrm>
            <a:off x="395650" y="3066075"/>
            <a:ext cx="457500" cy="1359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6"/>
          <p:cNvSpPr/>
          <p:nvPr/>
        </p:nvSpPr>
        <p:spPr>
          <a:xfrm>
            <a:off x="3651450" y="2491575"/>
            <a:ext cx="1590900" cy="1359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6"/>
          <p:cNvSpPr/>
          <p:nvPr/>
        </p:nvSpPr>
        <p:spPr>
          <a:xfrm>
            <a:off x="3651450" y="2681075"/>
            <a:ext cx="1590900" cy="1359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6"/>
          <p:cNvSpPr/>
          <p:nvPr/>
        </p:nvSpPr>
        <p:spPr>
          <a:xfrm>
            <a:off x="3651450" y="2870575"/>
            <a:ext cx="1590900" cy="1359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6"/>
          <p:cNvSpPr/>
          <p:nvPr/>
        </p:nvSpPr>
        <p:spPr>
          <a:xfrm>
            <a:off x="3651450" y="3060075"/>
            <a:ext cx="1590900" cy="1359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6"/>
          <p:cNvSpPr/>
          <p:nvPr/>
        </p:nvSpPr>
        <p:spPr>
          <a:xfrm>
            <a:off x="964400" y="2479000"/>
            <a:ext cx="1298400" cy="22008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75%</a:t>
            </a:r>
            <a:endParaRPr b="1"/>
          </a:p>
        </p:txBody>
      </p:sp>
      <p:sp>
        <p:nvSpPr>
          <p:cNvPr id="300" name="Google Shape;300;p46"/>
          <p:cNvSpPr/>
          <p:nvPr/>
        </p:nvSpPr>
        <p:spPr>
          <a:xfrm>
            <a:off x="3651450" y="3249575"/>
            <a:ext cx="1590900" cy="1448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100%</a:t>
            </a:r>
            <a:endParaRPr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6</a:t>
            </a:r>
            <a:endParaRPr/>
          </a:p>
        </p:txBody>
      </p:sp>
      <p:sp>
        <p:nvSpPr>
          <p:cNvPr id="306" name="Google Shape;306;p4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Usando o conceito de Web Design Responsivo, crie uma página HTML a partir dos </a:t>
            </a:r>
            <a:r>
              <a:rPr i="1" lang="en"/>
              <a:t>mockups</a:t>
            </a:r>
            <a:r>
              <a:rPr lang="en"/>
              <a:t> a seguir (Desktop e Mobile).</a:t>
            </a:r>
            <a:endParaRPr/>
          </a:p>
        </p:txBody>
      </p:sp>
      <p:sp>
        <p:nvSpPr>
          <p:cNvPr id="307" name="Google Shape;307;p47"/>
          <p:cNvSpPr/>
          <p:nvPr/>
        </p:nvSpPr>
        <p:spPr>
          <a:xfrm>
            <a:off x="311700" y="2398600"/>
            <a:ext cx="2052600" cy="2361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7"/>
          <p:cNvSpPr/>
          <p:nvPr/>
        </p:nvSpPr>
        <p:spPr>
          <a:xfrm>
            <a:off x="3545700" y="2398600"/>
            <a:ext cx="1783200" cy="2361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7"/>
          <p:cNvSpPr/>
          <p:nvPr/>
        </p:nvSpPr>
        <p:spPr>
          <a:xfrm>
            <a:off x="370425" y="2491575"/>
            <a:ext cx="457500" cy="1359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7"/>
          <p:cNvSpPr/>
          <p:nvPr/>
        </p:nvSpPr>
        <p:spPr>
          <a:xfrm>
            <a:off x="862975" y="2491575"/>
            <a:ext cx="457500" cy="1359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7"/>
          <p:cNvSpPr/>
          <p:nvPr/>
        </p:nvSpPr>
        <p:spPr>
          <a:xfrm>
            <a:off x="1355525" y="2491575"/>
            <a:ext cx="457500" cy="1359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7"/>
          <p:cNvSpPr/>
          <p:nvPr/>
        </p:nvSpPr>
        <p:spPr>
          <a:xfrm>
            <a:off x="1848075" y="2491575"/>
            <a:ext cx="457500" cy="1359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7"/>
          <p:cNvSpPr/>
          <p:nvPr/>
        </p:nvSpPr>
        <p:spPr>
          <a:xfrm>
            <a:off x="3651450" y="2491575"/>
            <a:ext cx="1590900" cy="1359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7"/>
          <p:cNvSpPr/>
          <p:nvPr/>
        </p:nvSpPr>
        <p:spPr>
          <a:xfrm>
            <a:off x="3651450" y="2681075"/>
            <a:ext cx="1590900" cy="1359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7"/>
          <p:cNvSpPr/>
          <p:nvPr/>
        </p:nvSpPr>
        <p:spPr>
          <a:xfrm>
            <a:off x="3651450" y="2870575"/>
            <a:ext cx="1590900" cy="1359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47"/>
          <p:cNvSpPr/>
          <p:nvPr/>
        </p:nvSpPr>
        <p:spPr>
          <a:xfrm>
            <a:off x="3651450" y="3060075"/>
            <a:ext cx="1590900" cy="1359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7"/>
          <p:cNvSpPr/>
          <p:nvPr/>
        </p:nvSpPr>
        <p:spPr>
          <a:xfrm>
            <a:off x="370425" y="2681075"/>
            <a:ext cx="1935300" cy="19986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100</a:t>
            </a:r>
            <a:r>
              <a:rPr b="1" lang="en"/>
              <a:t>%</a:t>
            </a:r>
            <a:endParaRPr b="1"/>
          </a:p>
        </p:txBody>
      </p:sp>
      <p:sp>
        <p:nvSpPr>
          <p:cNvPr id="318" name="Google Shape;318;p47"/>
          <p:cNvSpPr/>
          <p:nvPr/>
        </p:nvSpPr>
        <p:spPr>
          <a:xfrm>
            <a:off x="3651450" y="3249575"/>
            <a:ext cx="1590900" cy="14487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100%</a:t>
            </a:r>
            <a:endParaRPr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Links Úteis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3"/>
              </a:rPr>
              <a:t>W3Schools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4"/>
              </a:rPr>
              <a:t>Flexbox Froggy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5"/>
              </a:rPr>
              <a:t>CSS Grid Layout e Flexbox - Quando Utilizar?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