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94e41a398e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94e41a398e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21318812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21318812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4e41a398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94e41a398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c35c4bb3_5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c35c4bb3_5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7f05ee5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7f05ee5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7f05ee5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7f05ee5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7f05ee5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7f05ee5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7f05ee5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7f05ee5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7f05ee5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7f05ee5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7f05ee5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7f05ee5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7f05ee5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7f05ee5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7f05ee5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7f05ee5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7f05ee5f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7f05ee5f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7f05ee5f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7f05ee5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80e37f2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80e37f2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80e37f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80e37f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7f05ee5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7f05ee5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it.ly/34D3dyC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venilton.junior@docente.unip.br" TargetMode="External"/><Relationship Id="rId4" Type="http://schemas.openxmlformats.org/officeDocument/2006/relationships/hyperlink" Target="https://bit.ly/2FGvp9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w3schools.com/js/js_versions.asp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w3schools.com/code/tryit.asp?filename=FVTBL0TZMMAX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w3schools.com/js/tryit.asp?filename=tryjs_intro_lightbulb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w3schools.com/code/tryit.asp?filename=FVTD1IQ35RSW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w3schools.com/code/tryit.asp?filename=FVTD4R4UKM9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w3schools.com/code/tryit.asp?filename=FVTF29V611XE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w3schools.com/js/js_json_intro.asp" TargetMode="External"/><Relationship Id="rId4" Type="http://schemas.openxmlformats.org/officeDocument/2006/relationships/hyperlink" Target="https://www.w3schools.com/js/js_htmldom.asp" TargetMode="External"/><Relationship Id="rId5" Type="http://schemas.openxmlformats.org/officeDocument/2006/relationships/hyperlink" Target="https://www.w3schools.com/js/js_window.asp" TargetMode="External"/><Relationship Id="rId6" Type="http://schemas.openxmlformats.org/officeDocument/2006/relationships/hyperlink" Target="https://www.w3schools.com/js/js_ajax_intro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Desenvolvimento de Software para Internet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r>
              <a:rPr lang="en"/>
              <a:t>. JavaScript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Disponível em: </a:t>
            </a:r>
            <a:r>
              <a:rPr b="1" lang="en" sz="1800" u="sng">
                <a:solidFill>
                  <a:schemeClr val="hlink"/>
                </a:solidFill>
                <a:hlinkClick r:id="rId3"/>
              </a:rPr>
              <a:t>bit.ly/34D3dyC</a:t>
            </a:r>
            <a:endParaRPr b="1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Google Classroom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/>
              <a:t>i53s6fk</a:t>
            </a:r>
            <a:endParaRPr b="1" sz="7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Conteúdo Programático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Introdução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Hyper Text Markup Language (HTML)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Cascading Style Sheets (CSS)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CSS Responsivo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JavaScript (JS)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Frameworks e Bibliotecas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277550" y="1789500"/>
            <a:ext cx="4045200" cy="15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Venilton FalvoJr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 u="sng">
                <a:solidFill>
                  <a:schemeClr val="hlink"/>
                </a:solidFill>
                <a:hlinkClick r:id="rId3"/>
              </a:rPr>
              <a:t>venilton.junior@docente.unip.br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5"/>
                </a:solidFill>
              </a:rPr>
              <a:t>(16) 99721-8281</a:t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</a:rPr>
              <a:t>Repositório: </a:t>
            </a:r>
            <a:r>
              <a:rPr b="1" lang="en" sz="2100" u="sng">
                <a:solidFill>
                  <a:schemeClr val="hlink"/>
                </a:solidFill>
                <a:hlinkClick r:id="rId4"/>
              </a:rPr>
              <a:t>bit.ly/2FGvp9l</a:t>
            </a:r>
            <a:endParaRPr sz="3000"/>
          </a:p>
        </p:txBody>
      </p:sp>
      <p:sp>
        <p:nvSpPr>
          <p:cNvPr id="103" name="Google Shape;103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Estudante de Doutorado no ICMC-USP, onde contribui junto ao LabES no campus de São Carlos. Possui sólida experiência na área de desenvolvimento de software, com ênfase na análise, construção e arquitetura de sistemas web e mobile. </a:t>
            </a:r>
            <a:endParaRPr sz="16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Atualmente é professor na UNIP e sócio-fundador da Brain Machine, uma startup de consultoria especializada na otimização arquitetural de soluções de software.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JavaScript é a linguagem de programação do HTML e da Web.</a:t>
            </a:r>
            <a:endParaRPr b="1"/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JavaScript é uma das três linguagens que todos os desenvolvedores da Web precisam aprender: HTML, CSS e JavaScript.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/>
              <a:t>Páginas da Web não são o único lugar onde o JavaScript é usado</a:t>
            </a:r>
            <a:r>
              <a:rPr lang="en"/>
              <a:t>. Muitos programas de desktop e servidor usam JavaScript. O </a:t>
            </a:r>
            <a:r>
              <a:rPr b="1" lang="en"/>
              <a:t>Node.js</a:t>
            </a:r>
            <a:r>
              <a:rPr lang="en"/>
              <a:t> é o mais conhecido. Alguns bancos de dados, como o </a:t>
            </a:r>
            <a:r>
              <a:rPr b="1" lang="en"/>
              <a:t>MongoDB</a:t>
            </a:r>
            <a:r>
              <a:rPr lang="en"/>
              <a:t> e o </a:t>
            </a:r>
            <a:r>
              <a:rPr b="1" lang="en"/>
              <a:t>CouchDB</a:t>
            </a:r>
            <a:r>
              <a:rPr lang="en"/>
              <a:t>, também usam JavaScript como linguagem de programação.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JavaScript, você sabia?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JavaScript e Java são linguagens completamente diferentes</a:t>
            </a:r>
            <a:r>
              <a:rPr lang="en"/>
              <a:t>, tanto em conceito quanto em design.</a:t>
            </a:r>
            <a:endParaRPr/>
          </a:p>
          <a:p>
            <a:pPr indent="-3429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JavaScript foi inventado por </a:t>
            </a:r>
            <a:r>
              <a:rPr b="1" lang="en"/>
              <a:t>Brendan Eich</a:t>
            </a:r>
            <a:r>
              <a:rPr lang="en"/>
              <a:t> em 1995 e se tornou um padrão ECMA em 1997:</a:t>
            </a:r>
            <a:endParaRPr/>
          </a:p>
          <a:p>
            <a:pPr indent="-3175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ECMA-262 é o nome oficial do padrão;</a:t>
            </a:r>
            <a:endParaRPr/>
          </a:p>
          <a:p>
            <a:pPr indent="-3175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ECMAScript é o nome oficial do idioma.</a:t>
            </a:r>
            <a:endParaRPr/>
          </a:p>
          <a:p>
            <a:pPr indent="-3429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Você pode ler mais sobre as diferentes versões do JavaScript </a:t>
            </a:r>
            <a:r>
              <a:rPr lang="en" u="sng">
                <a:solidFill>
                  <a:schemeClr val="hlink"/>
                </a:solidFill>
                <a:hlinkClick r:id="rId3"/>
              </a:rPr>
              <a:t>aqui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pode alterar o </a:t>
            </a:r>
            <a:r>
              <a:rPr b="1" lang="en"/>
              <a:t>conteúdo</a:t>
            </a:r>
            <a:r>
              <a:rPr lang="en"/>
              <a:t> </a:t>
            </a:r>
            <a:r>
              <a:rPr b="1" lang="en"/>
              <a:t>HTML</a:t>
            </a:r>
            <a:endParaRPr b="1"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Sintaxe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: 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document.getElementById(</a:t>
            </a: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"meuId"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innerHTML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"Olá JavaScript"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AF5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Também é possível usar aspas simples:</a:t>
            </a:r>
            <a:endParaRPr>
              <a:solidFill>
                <a:srgbClr val="4CAF5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document.getElementById(</a:t>
            </a: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'meuId'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innerHTML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'Olá JavaScript'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Exemplo: 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exemplo01.html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400">
                <a:solidFill>
                  <a:srgbClr val="000000"/>
                </a:solidFill>
                <a:highlight>
                  <a:srgbClr val="FFFFFF"/>
                </a:highlight>
              </a:rPr>
              <a:t>Nota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</a:rPr>
              <a:t>: Um dos muitos métodos JS para manipular HTML é </a:t>
            </a:r>
            <a:r>
              <a:rPr b="1" i="1" lang="en" sz="1400">
                <a:solidFill>
                  <a:srgbClr val="000000"/>
                </a:solidFill>
                <a:highlight>
                  <a:srgbClr val="FFFFFF"/>
                </a:highlight>
              </a:rPr>
              <a:t>getElementById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</a:rPr>
              <a:t>.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</a:rPr>
              <a:t>Ele recupera um elemento HTML pelo ID.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pode alterar </a:t>
            </a:r>
            <a:r>
              <a:rPr b="1" lang="en"/>
              <a:t>atributos</a:t>
            </a:r>
            <a:r>
              <a:rPr lang="en"/>
              <a:t> </a:t>
            </a:r>
            <a:r>
              <a:rPr b="1" lang="en"/>
              <a:t>HTML</a:t>
            </a:r>
            <a:endParaRPr b="1"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Sintaxe: 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document.getElementById(</a:t>
            </a: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"minhaImg"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"pic_bulbon.gif"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AF5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Ou</a:t>
            </a:r>
            <a:endParaRPr>
              <a:solidFill>
                <a:srgbClr val="4CAF5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document.getElementById(</a:t>
            </a: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'minhaImg'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'pic_bulbon.gif'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Exemplo: 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45720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exemplo02.html</a:t>
            </a:r>
            <a:endParaRPr b="1" sz="24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pode alterar </a:t>
            </a:r>
            <a:r>
              <a:rPr b="1" lang="en"/>
              <a:t>estilos HTML (CSS)</a:t>
            </a:r>
            <a:endParaRPr b="1"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Sintaxe: 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document.getElementById(</a:t>
            </a: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"meuId"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.fontSize = </a:t>
            </a:r>
            <a:r>
              <a:rPr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"35px"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AF5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Ou</a:t>
            </a:r>
            <a:endParaRPr>
              <a:solidFill>
                <a:srgbClr val="4CAF5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document.getElementById(</a:t>
            </a: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'meuId'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.fontSize = </a:t>
            </a:r>
            <a:r>
              <a:rPr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'35px'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Exemplo: 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45720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exemplo03.html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pode </a:t>
            </a:r>
            <a:r>
              <a:rPr b="1" lang="en"/>
              <a:t>ocultar</a:t>
            </a:r>
            <a:r>
              <a:rPr lang="en"/>
              <a:t> elementos HTML</a:t>
            </a:r>
            <a:endParaRPr b="1"/>
          </a:p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Sintaxe: 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document.getElementById(</a:t>
            </a: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"meuId"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style.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display = </a:t>
            </a: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"none"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AF5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Ou</a:t>
            </a:r>
            <a:endParaRPr>
              <a:solidFill>
                <a:srgbClr val="4CAF5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document.getElementById(</a:t>
            </a: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'meuId'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style.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display = </a:t>
            </a: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'none'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Exemplo: 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45720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exemplo04.html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pode </a:t>
            </a:r>
            <a:r>
              <a:rPr b="1" lang="en"/>
              <a:t>mostrar</a:t>
            </a:r>
            <a:r>
              <a:rPr lang="en"/>
              <a:t> elementos HTML</a:t>
            </a:r>
            <a:endParaRPr b="1"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Sintaxe: 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document.getElementById(</a:t>
            </a: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"meuId"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style.display = </a:t>
            </a: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"block"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AF5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Ou</a:t>
            </a:r>
            <a:endParaRPr>
              <a:solidFill>
                <a:srgbClr val="4CAF5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document.getElementById(</a:t>
            </a: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'meuId'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style.display = </a:t>
            </a: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'block'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Exemplo: 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45720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exemplo05.html</a:t>
            </a:r>
            <a:endParaRPr b="1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Tag &lt;script&gt;</a:t>
            </a:r>
            <a:endParaRPr b="1"/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script</a:t>
            </a:r>
            <a:r>
              <a:rPr b="1"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1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document.getElementById(</a:t>
            </a:r>
            <a:r>
              <a:rPr lang="en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"meuId"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).innerHTML = </a:t>
            </a:r>
            <a:r>
              <a:rPr lang="en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"Olá JavaScript"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/script</a:t>
            </a:r>
            <a:r>
              <a:rPr b="1"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1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&lt;!-- Ou, podemos referenciar um arquivo externo: --&gt;</a:t>
            </a:r>
            <a:endParaRPr b="1">
              <a:solidFill>
                <a:srgbClr val="4CAF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script</a:t>
            </a:r>
            <a:r>
              <a:rPr b="1"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src</a:t>
            </a:r>
            <a:r>
              <a:rPr b="1"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="meuScript.js"&gt;&lt;</a:t>
            </a:r>
            <a:r>
              <a:rPr b="1" lang="en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/script</a:t>
            </a:r>
            <a:r>
              <a:rPr b="1"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1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52525"/>
                </a:solidFill>
              </a:rPr>
              <a:t>Algumas referências usam o atributo type: &lt;script </a:t>
            </a:r>
            <a:r>
              <a:rPr b="1" i="1" lang="en">
                <a:solidFill>
                  <a:srgbClr val="252525"/>
                </a:solidFill>
              </a:rPr>
              <a:t>type="text/javascript"</a:t>
            </a:r>
            <a:r>
              <a:rPr lang="en">
                <a:solidFill>
                  <a:srgbClr val="252525"/>
                </a:solidFill>
              </a:rPr>
              <a:t>&gt;. Entretanto, o atributo type não é obrigatório.</a:t>
            </a:r>
            <a:endParaRPr>
              <a:solidFill>
                <a:srgbClr val="252525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>
                <a:solidFill>
                  <a:srgbClr val="252525"/>
                </a:solidFill>
              </a:rPr>
              <a:t>JavaScript é a linguagem de script padrão no HTML.</a:t>
            </a:r>
            <a:endParaRPr b="1">
              <a:solidFill>
                <a:srgbClr val="252525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Vantagens do JavaScript Externo</a:t>
            </a:r>
            <a:endParaRPr b="1"/>
          </a:p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800"/>
              <a:buChar char="●"/>
            </a:pPr>
            <a:r>
              <a:rPr lang="en">
                <a:solidFill>
                  <a:srgbClr val="252525"/>
                </a:solidFill>
              </a:rPr>
              <a:t>Ele separa HTML de seu respectivo código;</a:t>
            </a:r>
            <a:endParaRPr>
              <a:solidFill>
                <a:srgbClr val="252525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Clr>
                <a:srgbClr val="252525"/>
              </a:buClr>
              <a:buSzPts val="1800"/>
              <a:buChar char="●"/>
            </a:pPr>
            <a:r>
              <a:rPr lang="en">
                <a:solidFill>
                  <a:srgbClr val="252525"/>
                </a:solidFill>
              </a:rPr>
              <a:t>Torna o HTML e o JavaScript mais fáceis de ler e manter;</a:t>
            </a:r>
            <a:endParaRPr>
              <a:solidFill>
                <a:srgbClr val="252525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Clr>
                <a:srgbClr val="252525"/>
              </a:buClr>
              <a:buSzPts val="1800"/>
              <a:buChar char="●"/>
            </a:pPr>
            <a:r>
              <a:rPr lang="en">
                <a:solidFill>
                  <a:srgbClr val="252525"/>
                </a:solidFill>
              </a:rPr>
              <a:t>Arquivos JS podem ser armazenados em cache, acelerando o carregamento das páginas.</a:t>
            </a:r>
            <a:endParaRPr>
              <a:solidFill>
                <a:srgbClr val="252525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no &lt;head&gt; ou &lt;body&gt;</a:t>
            </a:r>
            <a:endParaRPr b="1"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52525"/>
                </a:solidFill>
              </a:rPr>
              <a:t>Você pode colocar qualquer número de scripts em um documento HTML. </a:t>
            </a:r>
            <a:endParaRPr>
              <a:solidFill>
                <a:srgbClr val="252525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52525"/>
                </a:solidFill>
              </a:rPr>
              <a:t>A Tag &lt;script&gt; pode ser colocada no &lt;body&gt; ou na seção &lt;head&gt; de uma página HTML ou, até mesmo, em ambos</a:t>
            </a:r>
            <a:r>
              <a:rPr lang="en">
                <a:solidFill>
                  <a:srgbClr val="252525"/>
                </a:solidFill>
              </a:rPr>
              <a:t>.</a:t>
            </a:r>
            <a:endParaRPr>
              <a:solidFill>
                <a:srgbClr val="252525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52525"/>
                </a:solidFill>
              </a:rPr>
              <a:t>Entretanto, colocar scripts na parte inferior do elemento &lt;body&gt; melhora a velocidade de exibição, porque a compilação de scripts não onera a exibição da página HTML.</a:t>
            </a:r>
            <a:endParaRPr>
              <a:solidFill>
                <a:srgbClr val="252525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Funcões JavaScript</a:t>
            </a:r>
            <a:endParaRPr b="1"/>
          </a:p>
        </p:txBody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52525"/>
                </a:solidFill>
              </a:rPr>
              <a:t>Funções JavaScript são definidas com a palavra-chave da </a:t>
            </a:r>
            <a:r>
              <a:rPr b="1" i="1" lang="en">
                <a:solidFill>
                  <a:srgbClr val="252525"/>
                </a:solidFill>
              </a:rPr>
              <a:t>function</a:t>
            </a:r>
            <a:r>
              <a:rPr lang="en">
                <a:solidFill>
                  <a:srgbClr val="252525"/>
                </a:solidFill>
              </a:rPr>
              <a:t>. A nível de simplicidade, fazemos uma analogia desse conceito com os métodos em Java.</a:t>
            </a:r>
            <a:endParaRPr>
              <a:solidFill>
                <a:srgbClr val="252525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52525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nomeDaFuncao(parametros) {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en" sz="2000">
                <a:solidFill>
                  <a:srgbClr val="4CAF5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Código a ser executado</a:t>
            </a:r>
            <a:endParaRPr i="1" sz="2000">
              <a:solidFill>
                <a:srgbClr val="4CAF5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rgbClr val="252525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Funcões JavaScript (Exemplo)</a:t>
            </a:r>
            <a:endParaRPr b="1"/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somar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 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 =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document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.getElementById(</a:t>
            </a:r>
            <a:r>
              <a:rPr lang="en" sz="2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).value;</a:t>
            </a:r>
            <a:b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 =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document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.getElementById(</a:t>
            </a:r>
            <a:r>
              <a:rPr lang="en" sz="2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).value;</a:t>
            </a:r>
            <a:b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total = </a:t>
            </a:r>
            <a:r>
              <a:rPr lang="en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(a) + </a:t>
            </a:r>
            <a:r>
              <a:rPr lang="en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(b);</a:t>
            </a:r>
            <a:b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alert(total);</a:t>
            </a:r>
            <a:b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rgbClr val="25252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Funcões JavaScript (Exemplo)</a:t>
            </a:r>
            <a:endParaRPr b="1"/>
          </a:p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somar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 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 =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document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.getElementById(</a:t>
            </a:r>
            <a:r>
              <a:rPr lang="en" sz="2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).value;</a:t>
            </a:r>
            <a:b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 =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document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.getElementById(</a:t>
            </a:r>
            <a:r>
              <a:rPr lang="en" sz="2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).value;</a:t>
            </a:r>
            <a:b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n" sz="2000">
                <a:solidFill>
                  <a:srgbClr val="00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total = 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somar(a, b);</a:t>
            </a:r>
            <a:br>
              <a:rPr lang="en" sz="2000">
                <a:solidFill>
                  <a:srgbClr val="00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rgbClr val="00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	alert(total);</a:t>
            </a:r>
            <a:b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somarValores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(a, b) 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(a) + </a:t>
            </a:r>
            <a:r>
              <a:rPr lang="en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(b);</a:t>
            </a:r>
            <a:b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rgbClr val="25252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Mais Sobre...</a:t>
            </a:r>
            <a:endParaRPr b="1"/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nsolas"/>
              <a:buChar char="●"/>
            </a:pPr>
            <a:r>
              <a:rPr b="1" lang="en" sz="2400" u="sng">
                <a:solidFill>
                  <a:schemeClr val="accent5"/>
                </a:solidFill>
                <a:highlight>
                  <a:schemeClr val="lt1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JSON</a:t>
            </a:r>
            <a:r>
              <a:rPr lang="en" sz="2400">
                <a:solidFill>
                  <a:srgbClr val="000000"/>
                </a:solidFill>
                <a:highlight>
                  <a:schemeClr val="lt1"/>
                </a:highlight>
              </a:rPr>
              <a:t> (</a:t>
            </a:r>
            <a:r>
              <a:rPr i="1" lang="en" sz="2400">
                <a:solidFill>
                  <a:srgbClr val="000000"/>
                </a:solidFill>
                <a:highlight>
                  <a:schemeClr val="lt1"/>
                </a:highlight>
              </a:rPr>
              <a:t>JavaScript Object Notation</a:t>
            </a:r>
            <a:r>
              <a:rPr lang="en" sz="2400">
                <a:solidFill>
                  <a:srgbClr val="000000"/>
                </a:solidFill>
                <a:highlight>
                  <a:schemeClr val="lt1"/>
                </a:highlight>
              </a:rPr>
              <a:t>)</a:t>
            </a:r>
            <a:endParaRPr sz="24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nsolas"/>
              <a:buChar char="●"/>
            </a:pPr>
            <a:r>
              <a:rPr b="1" lang="en" sz="24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DOM</a:t>
            </a:r>
            <a:r>
              <a:rPr lang="en" sz="2400">
                <a:solidFill>
                  <a:srgbClr val="000000"/>
                </a:solidFill>
                <a:highlight>
                  <a:srgbClr val="FFFFFF"/>
                </a:highlight>
              </a:rPr>
              <a:t> (</a:t>
            </a:r>
            <a:r>
              <a:rPr i="1" lang="en" sz="2400">
                <a:solidFill>
                  <a:srgbClr val="000000"/>
                </a:solidFill>
                <a:highlight>
                  <a:srgbClr val="FFFFFF"/>
                </a:highlight>
              </a:rPr>
              <a:t>Document Object Model</a:t>
            </a:r>
            <a:r>
              <a:rPr lang="en" sz="2400">
                <a:solidFill>
                  <a:srgbClr val="000000"/>
                </a:solidFill>
                <a:highlight>
                  <a:srgbClr val="FFFFFF"/>
                </a:highlight>
              </a:rPr>
              <a:t>)</a:t>
            </a:r>
            <a:endParaRPr sz="2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b="1" lang="en" sz="2400" u="sng">
                <a:solidFill>
                  <a:schemeClr val="hlink"/>
                </a:solidFill>
                <a:highlight>
                  <a:srgbClr val="FFFFFF"/>
                </a:highlight>
                <a:hlinkClick r:id="rId5"/>
              </a:rPr>
              <a:t>BOM</a:t>
            </a:r>
            <a:r>
              <a:rPr lang="en" sz="2400">
                <a:solidFill>
                  <a:srgbClr val="000000"/>
                </a:solidFill>
                <a:highlight>
                  <a:srgbClr val="FFFFFF"/>
                </a:highlight>
              </a:rPr>
              <a:t> (</a:t>
            </a:r>
            <a:r>
              <a:rPr i="1" lang="en" sz="2400">
                <a:solidFill>
                  <a:srgbClr val="000000"/>
                </a:solidFill>
                <a:highlight>
                  <a:srgbClr val="FFFFFF"/>
                </a:highlight>
              </a:rPr>
              <a:t>Browser Object Model</a:t>
            </a:r>
            <a:r>
              <a:rPr lang="en" sz="2400">
                <a:solidFill>
                  <a:srgbClr val="000000"/>
                </a:solidFill>
                <a:highlight>
                  <a:srgbClr val="FFFFFF"/>
                </a:highlight>
              </a:rPr>
              <a:t>)</a:t>
            </a:r>
            <a:endParaRPr sz="2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b="1" lang="en" sz="2400" u="sng">
                <a:solidFill>
                  <a:schemeClr val="hlink"/>
                </a:solidFill>
                <a:highlight>
                  <a:srgbClr val="FFFFFF"/>
                </a:highlight>
                <a:hlinkClick r:id="rId6"/>
              </a:rPr>
              <a:t>AJAX</a:t>
            </a:r>
            <a:r>
              <a:rPr lang="en" sz="2400">
                <a:solidFill>
                  <a:srgbClr val="000000"/>
                </a:solidFill>
                <a:highlight>
                  <a:srgbClr val="FFFFFF"/>
                </a:highlight>
              </a:rPr>
              <a:t> (</a:t>
            </a:r>
            <a:r>
              <a:rPr i="1" lang="en" sz="2400">
                <a:solidFill>
                  <a:srgbClr val="000000"/>
                </a:solidFill>
                <a:highlight>
                  <a:srgbClr val="FFFFFF"/>
                </a:highlight>
              </a:rPr>
              <a:t>Asynchronous JavaScript And XML</a:t>
            </a:r>
            <a:r>
              <a:rPr lang="en" sz="2400">
                <a:solidFill>
                  <a:srgbClr val="000000"/>
                </a:solidFill>
                <a:highlight>
                  <a:srgbClr val="FFFFFF"/>
                </a:highlight>
              </a:rPr>
              <a:t>)</a:t>
            </a:r>
            <a:endParaRPr sz="24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