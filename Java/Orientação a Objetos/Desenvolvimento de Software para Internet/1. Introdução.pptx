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7.xml"/><Relationship Id="rId22" Type="http://schemas.openxmlformats.org/officeDocument/2006/relationships/font" Target="fonts/Roboto-italic.fntdata"/><Relationship Id="rId10" Type="http://schemas.openxmlformats.org/officeDocument/2006/relationships/slide" Target="slides/slide6.xml"/><Relationship Id="rId21" Type="http://schemas.openxmlformats.org/officeDocument/2006/relationships/font" Target="fonts/Robot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1a266d7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1a266d7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21318812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21318812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5e4b73e42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5e4b73e42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a7057bb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a7057bb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ad1a53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ad1a53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c3468c16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c3468c1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c3468c1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c3468c1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3468c1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c3468c1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c3468c1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c3468c1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c3468c1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c3468c1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321ae4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c321ae4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ab57a244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ab57a244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321ae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c321ae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2EmBaZ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venilton.junior@docente.unip.br" TargetMode="External"/><Relationship Id="rId4" Type="http://schemas.openxmlformats.org/officeDocument/2006/relationships/hyperlink" Target="https://bit.ly/2FGvp9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w3schools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w3counter.com/globalstats.php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Desenvolvimento de Software para Internet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Introdução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Disponível em: </a:t>
            </a:r>
            <a:r>
              <a:rPr b="1" lang="en" sz="1800" u="sng">
                <a:solidFill>
                  <a:schemeClr val="hlink"/>
                </a:solidFill>
                <a:hlinkClick r:id="rId3"/>
              </a:rPr>
              <a:t>bit.ly/2EmBaZe</a:t>
            </a: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i53s6fk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Introdução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Hyper Text Markup Language (</a:t>
            </a:r>
            <a:r>
              <a:rPr b="1" lang="en"/>
              <a:t>HTML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Cascading Style Sheets (</a:t>
            </a:r>
            <a:r>
              <a:rPr b="1" lang="en"/>
              <a:t>CSS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CSS Responsivo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JavaScript (</a:t>
            </a:r>
            <a:r>
              <a:rPr b="1" lang="en"/>
              <a:t>JS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Frameworks e Bibliotecas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Critérios de Avaliação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Média do Semestre (MS)</a:t>
            </a:r>
            <a:r>
              <a:rPr lang="en"/>
              <a:t> será obtida por meio de provas, bem como pela participação do aluno durante as aulas e demais atividades.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NP1</a:t>
            </a:r>
            <a:r>
              <a:rPr lang="en"/>
              <a:t>: conteúdo programático até </a:t>
            </a:r>
            <a:r>
              <a:rPr i="1" lang="en"/>
              <a:t>3. CSS / 3.1. CSS Responsivo</a:t>
            </a:r>
            <a:r>
              <a:rPr lang="en"/>
              <a:t>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NP2</a:t>
            </a:r>
            <a:r>
              <a:rPr lang="en"/>
              <a:t>: conteúdo programático até </a:t>
            </a:r>
            <a:r>
              <a:rPr i="1" lang="en"/>
              <a:t>5. Frameworks e Bibliotecas</a:t>
            </a:r>
            <a:r>
              <a:rPr lang="en"/>
              <a:t>.</a:t>
            </a:r>
            <a:endParaRPr/>
          </a:p>
          <a:p>
            <a:pPr indent="0" lvl="0" marL="4572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MS = (NP1 * 0.4) + (NP2 * 0.4) + (PIM * 0.2)</a:t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Para a aprovação, a MS deverá ser igual ou superior a 5.0. Lembrando que é exigida a frequência mínima de 75%.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277550" y="1789500"/>
            <a:ext cx="40452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hlink"/>
                </a:solidFill>
                <a:hlinkClick r:id="rId3"/>
              </a:rPr>
              <a:t>venilton.junior@docente.unip.br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(16) 99721-8281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bit.ly/2FGvp9l</a:t>
            </a:r>
            <a:endParaRPr sz="3000"/>
          </a:p>
        </p:txBody>
      </p:sp>
      <p:sp>
        <p:nvSpPr>
          <p:cNvPr id="109" name="Google Shape;109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Estudante de Doutorado no ICMC-USP, onde contribui junto ao LabES no campus de São Carlos. Possui sólida experiência na área de desenvolvimento de software, com ênfase na análise, construção e arquitetura de sistemas web e mobile. 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Atualmente é professor na UNIP e sócio-fundador da Brain Machine, uma startup de consultoria especializada na otimização arquitetural de soluções de software.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História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internet, até o início da década de 90, era acessível somente a pesquisadores, governo e indústria. Nesse sentido, surge uma nova aplicação, a </a:t>
            </a:r>
            <a:r>
              <a:rPr b="1" lang="en"/>
              <a:t>W</a:t>
            </a:r>
            <a:r>
              <a:rPr lang="en"/>
              <a:t>orld </a:t>
            </a:r>
            <a:r>
              <a:rPr b="1" lang="en"/>
              <a:t>W</a:t>
            </a:r>
            <a:r>
              <a:rPr lang="en"/>
              <a:t>ide </a:t>
            </a:r>
            <a:r>
              <a:rPr b="1" lang="en"/>
              <a:t>W</a:t>
            </a:r>
            <a:r>
              <a:rPr lang="en"/>
              <a:t>eb</a:t>
            </a:r>
            <a:r>
              <a:rPr lang="en"/>
              <a:t> (</a:t>
            </a:r>
            <a:r>
              <a:rPr b="1" lang="en"/>
              <a:t>WWW</a:t>
            </a:r>
            <a:r>
              <a:rPr lang="en"/>
              <a:t> ou simplesmente </a:t>
            </a:r>
            <a:r>
              <a:rPr b="1" lang="en"/>
              <a:t>Web</a:t>
            </a:r>
            <a:r>
              <a:rPr lang="en"/>
              <a:t>).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O cientista </a:t>
            </a:r>
            <a:r>
              <a:rPr b="1" lang="en"/>
              <a:t>Tim Berners-Lee</a:t>
            </a:r>
            <a:r>
              <a:rPr lang="en"/>
              <a:t>, criou a WWW em 1992. </a:t>
            </a:r>
            <a:r>
              <a:rPr lang="en"/>
              <a:t>Antes</a:t>
            </a:r>
            <a:r>
              <a:rPr lang="en"/>
              <a:t> disso, implementou a primeira comunicação </a:t>
            </a:r>
            <a:r>
              <a:rPr lang="en"/>
              <a:t>entre um </a:t>
            </a:r>
            <a:r>
              <a:rPr b="1" lang="en"/>
              <a:t>Cliente</a:t>
            </a:r>
            <a:r>
              <a:rPr lang="en"/>
              <a:t> (</a:t>
            </a:r>
            <a:r>
              <a:rPr b="1" lang="en"/>
              <a:t>HTTP)</a:t>
            </a:r>
            <a:r>
              <a:rPr lang="en"/>
              <a:t> </a:t>
            </a:r>
            <a:r>
              <a:rPr lang="en"/>
              <a:t>e um</a:t>
            </a:r>
            <a:r>
              <a:rPr lang="en"/>
              <a:t> </a:t>
            </a:r>
            <a:r>
              <a:rPr b="1" lang="en"/>
              <a:t>Servidor</a:t>
            </a:r>
            <a:r>
              <a:rPr lang="en"/>
              <a:t> através da Internet.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Conceitos Fundamentais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Três linguagens</a:t>
            </a:r>
            <a:r>
              <a:rPr lang="en"/>
              <a:t> </a:t>
            </a:r>
            <a:r>
              <a:rPr b="1" lang="en"/>
              <a:t>que todo desenvolvedor Web precisa aprender</a:t>
            </a:r>
            <a:r>
              <a:rPr lang="en"/>
              <a:t>: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HTML</a:t>
            </a:r>
            <a:r>
              <a:rPr lang="en"/>
              <a:t>: para definir o conteúdo de páginas Web;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CSS</a:t>
            </a:r>
            <a:r>
              <a:rPr lang="en"/>
              <a:t>: para especificar o layout/estilo das páginas Web;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JavaScript</a:t>
            </a:r>
            <a:r>
              <a:rPr lang="en"/>
              <a:t>: para programar o comportamento de páginas da Web.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/>
              <a:t>Referência: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https://www.w3schools.com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Sintetizando...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Um site é escrito utilizando </a:t>
            </a:r>
            <a:r>
              <a:rPr b="1" lang="en"/>
              <a:t>três linguagens fundamentais</a:t>
            </a:r>
            <a:r>
              <a:rPr lang="en"/>
              <a:t>: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HTML</a:t>
            </a:r>
            <a:endParaRPr b="1"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CSS</a:t>
            </a:r>
            <a:endParaRPr b="1"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JavaScript (JS)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Web</a:t>
            </a:r>
            <a:r>
              <a:rPr lang="en"/>
              <a:t> </a:t>
            </a:r>
            <a:r>
              <a:rPr b="1" lang="en"/>
              <a:t>é um</a:t>
            </a:r>
            <a:r>
              <a:rPr lang="en"/>
              <a:t> </a:t>
            </a:r>
            <a:r>
              <a:rPr b="1" lang="en"/>
              <a:t>conjunto de computadores (</a:t>
            </a:r>
            <a:r>
              <a:rPr b="1" lang="en" u="sng"/>
              <a:t>Servidores</a:t>
            </a:r>
            <a:r>
              <a:rPr b="1" lang="en"/>
              <a:t>) interconectados que hospedam sites</a:t>
            </a:r>
            <a:r>
              <a:rPr lang="en"/>
              <a:t>.</a:t>
            </a:r>
            <a:endParaRPr b="1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 </a:t>
            </a:r>
            <a:r>
              <a:rPr b="1" lang="en" u="sng"/>
              <a:t>Clientes</a:t>
            </a:r>
            <a:r>
              <a:rPr b="1" lang="en"/>
              <a:t> acessam os sites através de navegadores </a:t>
            </a:r>
            <a:r>
              <a:rPr lang="en"/>
              <a:t>(ou </a:t>
            </a:r>
            <a:r>
              <a:rPr b="1" i="1" lang="en"/>
              <a:t>browsers</a:t>
            </a:r>
            <a:r>
              <a:rPr lang="en"/>
              <a:t>):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Chrome</a:t>
            </a:r>
            <a:endParaRPr i="1"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Safari</a:t>
            </a:r>
            <a:endParaRPr i="1"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Firefox</a:t>
            </a:r>
            <a:endParaRPr i="1"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Internet Explorer/Edge</a:t>
            </a:r>
            <a:endParaRPr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Clientes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/>
              <a:t>Inicia pedidos para Servidores; 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/>
              <a:t>Normalmente interagem diretamente com os Servidores através de um software específico, que lhe possibilita a comunicação com o servidor. Por exemplo, um navegador/browser;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O termo Cliente geralmente remete ao dispositivo em que o acesso ao servidor teve origem. Por exemplo, um smartphone, Laptop ou PC.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Servidores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/>
              <a:t>Sempre espera por um pedido de um Cliente;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/>
              <a:t>Atende os pedidos e responde aos Clientes com os dados solicitados. Por exemplo, uma página HTML, um arquivo CSS ou JavaScript ou até mesmo um texto simples;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/>
              <a:t>Podem se conectar com outros Servidores para atender uma solicitação específica do Cliente.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Representação simplificada do Modelo Cliente-Servidor</a:t>
            </a:r>
            <a:endParaRPr i="1"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525" y="304800"/>
            <a:ext cx="6542958" cy="39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/>
        </p:nvSpPr>
        <p:spPr>
          <a:xfrm>
            <a:off x="2352350" y="2523000"/>
            <a:ext cx="14382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Clientes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3767550" y="1968275"/>
            <a:ext cx="1608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 sz="25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Internet</a:t>
            </a:r>
            <a:endParaRPr sz="25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6234400" y="3114175"/>
            <a:ext cx="14382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Servidor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u="sng">
                <a:solidFill>
                  <a:schemeClr val="hlink"/>
                </a:solidFill>
                <a:hlinkClick r:id="rId3"/>
              </a:rPr>
              <a:t>Web Browser Market Share</a:t>
            </a:r>
            <a:br>
              <a:rPr i="1" lang="en"/>
            </a:br>
            <a:r>
              <a:rPr i="1" lang="en"/>
              <a:t>Acesso 19/08/2020</a:t>
            </a:r>
            <a:endParaRPr i="1"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7800"/>
            <a:ext cx="8839202" cy="309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AutoNum type="arabicPeriod"/>
            </a:pPr>
            <a:r>
              <a:rPr lang="en">
                <a:solidFill>
                  <a:srgbClr val="434343"/>
                </a:solidFill>
              </a:rPr>
              <a:t>Inspecionando Páginas </a:t>
            </a:r>
            <a:r>
              <a:rPr lang="en">
                <a:solidFill>
                  <a:srgbClr val="434343"/>
                </a:solidFill>
              </a:rPr>
              <a:t>Web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 o objetivo de evidenciar o uso dessas linguagens, iremos navegar em algumas páginas e inspecionar sua estrutura HTML, estilos CSS e códigos JavaScript. Com isso, teremos uma dimensão da </a:t>
            </a:r>
            <a:r>
              <a:rPr lang="en"/>
              <a:t>onipresença</a:t>
            </a:r>
            <a:r>
              <a:rPr lang="en"/>
              <a:t> dessas tecnologias na Internet de forma geral.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/>
              <a:t>Nota: para inspecionar uma página no Chrome, basta pressionar F12.</a:t>
            </a:r>
            <a:endParaRPr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AutoNum type="arabicPeriod" startAt="2"/>
            </a:pPr>
            <a:r>
              <a:rPr lang="en">
                <a:solidFill>
                  <a:srgbClr val="434343"/>
                </a:solidFill>
              </a:rPr>
              <a:t>Nossa Primeira Página HTML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Com base em um layout especificado, vamos utilizar algumas tags HTML para criar nossa primeira página.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