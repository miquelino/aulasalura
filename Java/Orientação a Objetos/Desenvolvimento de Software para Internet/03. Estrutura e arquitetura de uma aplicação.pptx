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2b0dcc38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2b0dcc38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2b0dcc38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2b0dcc38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2b0dcc382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2b0dcc382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2b0dcc382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2b0dcc382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2b0dcc382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2b0dcc382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2b0dcc382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2b0dcc382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2b0dcc382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92b0dcc382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2b0dcc382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92b0dcc382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2b0dcc382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2b0dcc382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2b0dcc382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2b0dcc382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2b0dcc382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2b0dcc38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4xhpsX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s://bit.ly/3iSHXc2" TargetMode="External"/><Relationship Id="rId5" Type="http://schemas.openxmlformats.org/officeDocument/2006/relationships/hyperlink" Target="https://www.youracclaim.com/badges/d23b45f3-a10b-4b79-b21d-59bbf777a1a5" TargetMode="External"/><Relationship Id="rId6" Type="http://schemas.openxmlformats.org/officeDocument/2006/relationships/hyperlink" Target="https://www.credential.net/gy7a7rs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ource.android.com/source/code-style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android.com/guide/platform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ource.android.com/devices/tech/dalvik/index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semobile.com.br/o-que-e-o-android-jetpack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TÓPICOS ESPECIAIS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Estrutura e arquitetura de uma aplicação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bit.ly/34xhpsX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ul3ojae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 ao Android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Conceitos fundamentais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Estrutura e arquitetura de uma aplicação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Activity, Layouts, Telas, Intent, Services e BroadCastReceiver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 de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26550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bit.ly/3iSHXc2</a:t>
            </a:r>
            <a:endParaRPr sz="3000"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</a:t>
            </a:r>
            <a:r>
              <a:rPr b="1" lang="en" u="sng">
                <a:solidFill>
                  <a:schemeClr val="hlink"/>
                </a:solidFill>
                <a:hlinkClick r:id="rId5"/>
              </a:rPr>
              <a:t>Java</a:t>
            </a:r>
            <a:r>
              <a:rPr lang="en"/>
              <a:t>, </a:t>
            </a:r>
            <a:r>
              <a:rPr b="1" lang="en" u="sng">
                <a:solidFill>
                  <a:schemeClr val="hlink"/>
                </a:solidFill>
                <a:hlinkClick r:id="rId6"/>
              </a:rPr>
              <a:t>Android</a:t>
            </a:r>
            <a:r>
              <a:rPr lang="en"/>
              <a:t> e .NET.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Estrutura de Projeto: Android Studio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4203" r="-2416" t="0"/>
          <a:stretch/>
        </p:blipFill>
        <p:spPr>
          <a:xfrm>
            <a:off x="492150" y="1417550"/>
            <a:ext cx="3096300" cy="2514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7"/>
          <p:cNvCxnSpPr>
            <a:endCxn id="112" idx="1"/>
          </p:cNvCxnSpPr>
          <p:nvPr/>
        </p:nvCxnSpPr>
        <p:spPr>
          <a:xfrm flipH="1" rot="10800000">
            <a:off x="2587800" y="1585550"/>
            <a:ext cx="2347800" cy="32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" name="Google Shape;112;p17"/>
          <p:cNvSpPr txBox="1"/>
          <p:nvPr/>
        </p:nvSpPr>
        <p:spPr>
          <a:xfrm>
            <a:off x="4935600" y="1387550"/>
            <a:ext cx="37155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Configurações gerais do App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113;p17"/>
          <p:cNvCxnSpPr>
            <a:endCxn id="114" idx="1"/>
          </p:cNvCxnSpPr>
          <p:nvPr/>
        </p:nvCxnSpPr>
        <p:spPr>
          <a:xfrm>
            <a:off x="1390500" y="2106475"/>
            <a:ext cx="354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" name="Google Shape;114;p17"/>
          <p:cNvSpPr txBox="1"/>
          <p:nvPr/>
        </p:nvSpPr>
        <p:spPr>
          <a:xfrm>
            <a:off x="4935600" y="1908475"/>
            <a:ext cx="3896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Código Fonte (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Code Guidelines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7"/>
          <p:cNvCxnSpPr/>
          <p:nvPr/>
        </p:nvCxnSpPr>
        <p:spPr>
          <a:xfrm flipH="1" rot="10800000">
            <a:off x="1760775" y="2572175"/>
            <a:ext cx="3172200" cy="29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" name="Google Shape;116;p17"/>
          <p:cNvSpPr txBox="1"/>
          <p:nvPr/>
        </p:nvSpPr>
        <p:spPr>
          <a:xfrm>
            <a:off x="4935600" y="2374175"/>
            <a:ext cx="37155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Imagens, Ícones, Shapes etc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935600" y="2761550"/>
            <a:ext cx="23754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Definições de Telas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" name="Google Shape;118;p17"/>
          <p:cNvCxnSpPr/>
          <p:nvPr/>
        </p:nvCxnSpPr>
        <p:spPr>
          <a:xfrm flipH="1" rot="10800000">
            <a:off x="1760775" y="2959550"/>
            <a:ext cx="3172200" cy="7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" name="Google Shape;119;p17"/>
          <p:cNvSpPr txBox="1"/>
          <p:nvPr/>
        </p:nvSpPr>
        <p:spPr>
          <a:xfrm>
            <a:off x="4935600" y="3116500"/>
            <a:ext cx="23754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Definições de Menus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p17"/>
          <p:cNvCxnSpPr/>
          <p:nvPr/>
        </p:nvCxnSpPr>
        <p:spPr>
          <a:xfrm>
            <a:off x="1760775" y="3256300"/>
            <a:ext cx="3172200" cy="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" name="Google Shape;121;p17"/>
          <p:cNvSpPr txBox="1"/>
          <p:nvPr/>
        </p:nvSpPr>
        <p:spPr>
          <a:xfrm>
            <a:off x="4935600" y="3844575"/>
            <a:ext cx="3896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Definição de Estilos e Strings (i18n)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>
            <a:off x="1760775" y="3622275"/>
            <a:ext cx="3172200" cy="42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" name="Google Shape;123;p17"/>
          <p:cNvSpPr txBox="1"/>
          <p:nvPr/>
        </p:nvSpPr>
        <p:spPr>
          <a:xfrm>
            <a:off x="4935600" y="4194025"/>
            <a:ext cx="3896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Scripts de Build e Gestão de Dependências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" name="Google Shape;124;p17"/>
          <p:cNvCxnSpPr/>
          <p:nvPr/>
        </p:nvCxnSpPr>
        <p:spPr>
          <a:xfrm>
            <a:off x="1760775" y="3822100"/>
            <a:ext cx="3174900" cy="57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5" name="Google Shape;125;p17"/>
          <p:cNvSpPr txBox="1"/>
          <p:nvPr/>
        </p:nvSpPr>
        <p:spPr>
          <a:xfrm>
            <a:off x="4935600" y="3477800"/>
            <a:ext cx="37155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Ícones do Launcher (ícone do App)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>
            <a:off x="1760775" y="3422588"/>
            <a:ext cx="3172500" cy="25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 Android é um Sistema Operacional (SO) de código aberto baseado em Linux. Nesse contexto, o diagrama ao lado apresenta suas camadas, além de seus principais componentes.</a:t>
            </a:r>
            <a:endParaRPr sz="17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Fonte: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Google Developers</a:t>
            </a:r>
            <a:r>
              <a:rPr lang="en" sz="1700"/>
              <a:t>.</a:t>
            </a:r>
            <a:endParaRPr sz="1700"/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 b="1046" l="1608" r="1473" t="1183"/>
          <a:stretch/>
        </p:blipFill>
        <p:spPr>
          <a:xfrm>
            <a:off x="517196" y="0"/>
            <a:ext cx="346215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Dalvik</a:t>
            </a:r>
            <a:r>
              <a:rPr lang="en"/>
              <a:t> e ART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sngStrike"/>
              <a:t>Dalvik (Just-in-Time)</a:t>
            </a:r>
            <a:r>
              <a:rPr b="1" lang="en" sz="1800"/>
              <a:t>: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Execução interpretada;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Instalação mais rápida;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Maior consumo de memória;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Maior consumo de energia;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Menor armazenamento em mídia.</a:t>
            </a:r>
            <a:endParaRPr/>
          </a:p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ART (Ahead-of-Time):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Instalação interpretada;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Instalação mais lenta;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Menor consumo de memória;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Menor consumo de energia;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Maior armazenamento em mídia.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311700" y="4250375"/>
            <a:ext cx="8520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Fonte: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Android Runtime (ART) and Dalvik</a:t>
            </a:r>
            <a:endParaRPr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Jetpack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</a:t>
            </a:r>
            <a:r>
              <a:rPr lang="en" u="sng">
                <a:solidFill>
                  <a:schemeClr val="hlink"/>
                </a:solidFill>
                <a:hlinkClick r:id="rId3"/>
              </a:rPr>
              <a:t>Android Jetpack</a:t>
            </a:r>
            <a:r>
              <a:rPr lang="en"/>
              <a:t> é um conjunto de componentes, ferramentas e orientações que nos ajudam a construir aplicativos mais robustos e eficientes, de forma rápida e simples, intensificando o desempenho de produção. Esses componentes reúnem a antiga Biblioteca de Suporte (</a:t>
            </a:r>
            <a:r>
              <a:rPr i="1" lang="en"/>
              <a:t>Support Library</a:t>
            </a:r>
            <a:r>
              <a:rPr lang="en"/>
              <a:t>), os componentes de arquitetura existentes e os organizam em quatro categorias: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Fundamentos (Base);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Interface de Usuário (UI);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Arquitetura;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Comportamento.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9850"/>
            <a:ext cx="8839200" cy="446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Features</a:t>
            </a:r>
            <a:r>
              <a:rPr lang="en"/>
              <a:t> a serem exploradas: Android Jetpack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Fundamentos (Base)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AppCompat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Interface do Usuário (UI) </a:t>
            </a:r>
            <a:r>
              <a:rPr lang="en" strike="sngStrike"/>
              <a:t>e Experiência do Usuário (UX)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AndroidX</a:t>
            </a:r>
            <a:r>
              <a:rPr lang="en"/>
              <a:t>; </a:t>
            </a:r>
            <a:r>
              <a:rPr b="1" lang="en"/>
              <a:t>Material Design</a:t>
            </a:r>
            <a:r>
              <a:rPr lang="en"/>
              <a:t>; </a:t>
            </a:r>
            <a:r>
              <a:rPr b="1" lang="en"/>
              <a:t>Layouts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Arquitetura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Data Binding</a:t>
            </a:r>
            <a:r>
              <a:rPr lang="en"/>
              <a:t>; </a:t>
            </a:r>
            <a:r>
              <a:rPr b="1" lang="en"/>
              <a:t>Room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Comportamento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Permissões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/>
        </p:nvSpPr>
        <p:spPr>
          <a:xfrm>
            <a:off x="427050" y="1925700"/>
            <a:ext cx="828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Talk is cheap. 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Show me the code.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Linus Torvalds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