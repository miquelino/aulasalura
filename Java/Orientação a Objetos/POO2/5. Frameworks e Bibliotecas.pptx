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regular.fntdata"/><Relationship Id="rId25" Type="http://schemas.openxmlformats.org/officeDocument/2006/relationships/slide" Target="slides/slide21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4b6a2a74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4b6a2a74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4b6a2a74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4b6a2a74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7cc674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7cc674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4290ccc9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4290ccc9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44290ccc9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44290ccc9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4290ccc9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4290ccc9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4290ccc9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4290ccc9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4290ccc9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4290ccc9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4290ccc9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44290ccc9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4290ccc9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4290ccc9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4290ccc9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4290ccc9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4290ccc9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4290ccc9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4290ccc9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4290ccc9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4290ccc9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4290ccc9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4290ccc9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4290ccc9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4290ccc9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4290ccc9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4290ccc9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4290ccc9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44290ccc9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44290ccc9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41b0ef9e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41b0ef9e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do/e3iHj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venilton.junior@docente.unip.br" TargetMode="External"/><Relationship Id="rId4" Type="http://schemas.openxmlformats.org/officeDocument/2006/relationships/hyperlink" Target="https://bit.ly/2FGvp9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pring.io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ics.uci.edu/~fielding/pubs/dissertation/top.htm" TargetMode="External"/><Relationship Id="rId4" Type="http://schemas.openxmlformats.org/officeDocument/2006/relationships/hyperlink" Target="http://blog.caelum.com.br/rest-principios-e-boas-praticas/" TargetMode="External"/><Relationship Id="rId5" Type="http://schemas.openxmlformats.org/officeDocument/2006/relationships/hyperlink" Target="https://pt.stackoverflow.com/a/45787/37960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blog.caelum.com.br/modelando-apis-rest-com-swagger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tart.spring.io/" TargetMode="External"/><Relationship Id="rId4" Type="http://schemas.openxmlformats.org/officeDocument/2006/relationships/hyperlink" Target="https://github.com/falvojr-classes/unip-2019-2-ads-template-pim/blob/master/src/main/resources/application.properties" TargetMode="External"/><Relationship Id="rId5" Type="http://schemas.openxmlformats.org/officeDocument/2006/relationships/hyperlink" Target="https://youtu.be/ghTrp1x_1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PROGRAMAÇÃO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 II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Frameworks e Bibliotecas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Disponível em: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bit.do/e3iHj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223wwwv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Unified Modeling Language (UML)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Diagrama de Classes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Diagrama de Sequencias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Tratamento de </a:t>
            </a:r>
            <a:r>
              <a:rPr lang="en"/>
              <a:t>Exceções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Padrões de Projeto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Frameworks e Bibliotecas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27755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venilton.junior@docente.unip.br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(16) 99721-8281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bit.ly/2FGvp9l</a:t>
            </a:r>
            <a:endParaRPr sz="3000"/>
          </a:p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Estudante de Doutorado no ICMC-USP, onde contribui junto ao LabES no campus de São Carlos. Possui sólida experiência na área de desenvolvimento de software, com ênfase na análise, construção e arquitetura de sistemas web e mobile. 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Atualmente é professor na UNIP e sócio-fundador da Brain Machine, uma startup de consultoria especializada na otimização arquitetural de soluções de software.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 e Bibliotecas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</a:t>
            </a:r>
            <a:r>
              <a:rPr lang="en"/>
              <a:t>Framework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Spring</a:t>
            </a:r>
            <a:r>
              <a:rPr lang="en"/>
              <a:t> é um framework de código aberto (</a:t>
            </a:r>
            <a:r>
              <a:rPr i="1" lang="en"/>
              <a:t>open source</a:t>
            </a:r>
            <a:r>
              <a:rPr lang="en"/>
              <a:t>), criado por Rod Johnson, em meados de 2002, e apresentado no seu livro </a:t>
            </a:r>
            <a:r>
              <a:rPr i="1" lang="en"/>
              <a:t>Expert One-on-One: JEE Design and Development</a:t>
            </a:r>
            <a:r>
              <a:rPr lang="en"/>
              <a:t>. Trata-se de um </a:t>
            </a:r>
            <a:r>
              <a:rPr b="1" lang="en"/>
              <a:t>framework não intrusivo, baseado em padrões de projeto</a:t>
            </a:r>
            <a:r>
              <a:rPr lang="en"/>
              <a:t>, dentre os quais destacam-se </a:t>
            </a:r>
            <a:r>
              <a:rPr b="1" lang="en"/>
              <a:t>Inversão de Controle</a:t>
            </a:r>
            <a:r>
              <a:rPr lang="en"/>
              <a:t> </a:t>
            </a:r>
            <a:r>
              <a:rPr b="1" lang="en"/>
              <a:t>(IoC) </a:t>
            </a:r>
            <a:r>
              <a:rPr lang="en"/>
              <a:t>e </a:t>
            </a:r>
            <a:r>
              <a:rPr b="1" lang="en"/>
              <a:t>Injeção</a:t>
            </a:r>
            <a:r>
              <a:rPr b="1" lang="en"/>
              <a:t> de Dependências (DI)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Atualmente </a:t>
            </a:r>
            <a:r>
              <a:rPr b="1" lang="en"/>
              <a:t>possui diversos módulos</a:t>
            </a:r>
            <a:r>
              <a:rPr lang="en"/>
              <a:t> como </a:t>
            </a:r>
            <a:r>
              <a:rPr b="1" i="1" lang="en"/>
              <a:t>Spring Data</a:t>
            </a:r>
            <a:r>
              <a:rPr lang="en"/>
              <a:t> (trata da persistência), </a:t>
            </a:r>
            <a:r>
              <a:rPr b="1" i="1" lang="en"/>
              <a:t>Spring Security</a:t>
            </a:r>
            <a:r>
              <a:rPr lang="en"/>
              <a:t> (trata da segurança da aplicação) entre outro. Mas o principal (core) pode ser utilizado em qualquer aplicação Java.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usar o Spring </a:t>
            </a:r>
            <a:r>
              <a:rPr lang="en"/>
              <a:t>Framework</a:t>
            </a:r>
            <a:r>
              <a:rPr lang="en"/>
              <a:t>?</a:t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825" y="1166175"/>
            <a:ext cx="5570333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Framework: Visão Geral</a:t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 b="3895" l="6269" r="8194" t="15459"/>
          <a:stretch/>
        </p:blipFill>
        <p:spPr>
          <a:xfrm>
            <a:off x="1748412" y="1150525"/>
            <a:ext cx="5647174" cy="39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Web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Módulo destinado à componentes que tangem tecnologias/padrões da Web, como </a:t>
            </a:r>
            <a:r>
              <a:rPr b="1" lang="en"/>
              <a:t>Representational State Transfer (REST)</a:t>
            </a:r>
            <a:r>
              <a:rPr lang="en"/>
              <a:t>,</a:t>
            </a:r>
            <a:r>
              <a:rPr lang="en"/>
              <a:t> WebSocket, Servlet etc.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Nesse contexto, </a:t>
            </a:r>
            <a:r>
              <a:rPr b="1" lang="en"/>
              <a:t>REST é um estilo arquitetural</a:t>
            </a:r>
            <a:r>
              <a:rPr lang="en"/>
              <a:t> que foi descrito por </a:t>
            </a:r>
            <a:r>
              <a:rPr b="1" lang="en"/>
              <a:t>Roy Fielding</a:t>
            </a:r>
            <a:r>
              <a:rPr lang="en"/>
              <a:t>, um dos principais criadores do protocolo HTTP, em sua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tese de doutorado</a:t>
            </a:r>
            <a:r>
              <a:rPr lang="en"/>
              <a:t> e que foi adotado como o modelo a ser utilizado na evolução da arquitetura do protocolo HTTP.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Mais Sobre REST: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blog.caelum.com.br/rest-principios-e-boas-praticas</a:t>
            </a:r>
            <a:endParaRPr sz="14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5"/>
              </a:rPr>
              <a:t>https://pt.stackoverflow.com/a/45787/37960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Security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Módulo de </a:t>
            </a:r>
            <a:r>
              <a:rPr lang="en"/>
              <a:t>segurança</a:t>
            </a:r>
            <a:r>
              <a:rPr lang="en"/>
              <a:t>, onde encontram-se </a:t>
            </a:r>
            <a:r>
              <a:rPr lang="en"/>
              <a:t>abstrações</a:t>
            </a:r>
            <a:r>
              <a:rPr lang="en"/>
              <a:t> relacionadas à diversos mecanismos de </a:t>
            </a:r>
            <a:r>
              <a:rPr lang="en"/>
              <a:t>autenticação e</a:t>
            </a:r>
            <a:r>
              <a:rPr lang="en"/>
              <a:t> </a:t>
            </a:r>
            <a:r>
              <a:rPr lang="en"/>
              <a:t>autorização</a:t>
            </a:r>
            <a:r>
              <a:rPr lang="en"/>
              <a:t>. Dentre algumas das estratégias mais conhecidas estão, OAuth, OAuth2, </a:t>
            </a:r>
            <a:r>
              <a:rPr b="1" lang="en"/>
              <a:t>Basic Authentication</a:t>
            </a:r>
            <a:r>
              <a:rPr lang="en"/>
              <a:t> etc.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Nesse contexto, o</a:t>
            </a:r>
            <a:r>
              <a:rPr lang="en"/>
              <a:t> </a:t>
            </a:r>
            <a:r>
              <a:rPr b="1" lang="en"/>
              <a:t>Basic Authentication é o sistema de autenticação mais comum do protocolo HTTP</a:t>
            </a:r>
            <a:r>
              <a:rPr lang="en"/>
              <a:t>. Para isso, basta incluir um simples Header </a:t>
            </a:r>
            <a:r>
              <a:rPr lang="en"/>
              <a:t>na</a:t>
            </a:r>
            <a:r>
              <a:rPr lang="en"/>
              <a:t> requisição:</a:t>
            </a:r>
            <a:endParaRPr/>
          </a:p>
          <a:p>
            <a:pPr indent="0" lvl="0" marL="50800" marR="50800" rtl="0" algn="l">
              <a:spcBef>
                <a:spcPts val="1600"/>
              </a:spcBef>
              <a:spcAft>
                <a:spcPts val="1100"/>
              </a:spcAft>
              <a:buNone/>
            </a:pPr>
            <a:r>
              <a:rPr b="1" lang="en">
                <a:solidFill>
                  <a:srgbClr val="242729"/>
                </a:solidFill>
                <a:highlight>
                  <a:srgbClr val="EFF0F1"/>
                </a:highlight>
                <a:latin typeface="Consolas"/>
                <a:ea typeface="Consolas"/>
                <a:cs typeface="Consolas"/>
                <a:sym typeface="Consolas"/>
              </a:rPr>
              <a:t>Authorization: Basic {Hash Base64 do “usuario:senha”}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Data (JPA)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módulo Spring Data, tem a proposta de unificar e facilitar o acesso a diferentes tecnologias de armazenamento de dados, como bancos de dados relacionais e os NoSQL.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Nesse contexto, o </a:t>
            </a:r>
            <a:r>
              <a:rPr b="1" i="1" lang="en"/>
              <a:t>Java Persistence API</a:t>
            </a:r>
            <a:r>
              <a:rPr b="1" lang="en"/>
              <a:t> (JPA), define uma API unificada para acessar bancos de dados relacionais</a:t>
            </a:r>
            <a:r>
              <a:rPr lang="en"/>
              <a:t>. Diversos frameworks de mapeamento objeto/relacional, como o Hibernate, implementam a JPA.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Swagger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</a:t>
            </a:r>
            <a:r>
              <a:rPr b="1" lang="en"/>
              <a:t>Swagger é um projeto composto por algumas ferramentas que auxiliam o desenvolvedor de APIs REST</a:t>
            </a:r>
            <a:r>
              <a:rPr lang="en"/>
              <a:t> em algumas tarefas como: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Modelagem da API;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Geração de documentação (legível) da API</a:t>
            </a:r>
            <a:r>
              <a:rPr lang="en"/>
              <a:t>;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Geração de códigos do Cliente e do Servidor, com suporte a várias linguagens de programação.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Mais Sobre Swagger: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blog.caelum.com.br/modelando-apis-rest-com-swagger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/>
        </p:nvSpPr>
        <p:spPr>
          <a:xfrm>
            <a:off x="311700" y="3882350"/>
            <a:ext cx="8520600" cy="106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iew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311700" y="1166170"/>
            <a:ext cx="8520600" cy="2085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latin typeface="Roboto"/>
                <a:ea typeface="Roboto"/>
                <a:cs typeface="Roboto"/>
                <a:sym typeface="Roboto"/>
              </a:rPr>
              <a:t>API REST</a:t>
            </a:r>
            <a:endParaRPr b="1" i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510300" y="1627720"/>
            <a:ext cx="8123400" cy="44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odel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510300" y="2482570"/>
            <a:ext cx="1987200" cy="44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ontroller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3578400" y="2482558"/>
            <a:ext cx="1987200" cy="44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Service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6646500" y="2482558"/>
            <a:ext cx="1987200" cy="44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Repository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" name="Google Shape;161;p25"/>
          <p:cNvCxnSpPr>
            <a:stCxn id="158" idx="0"/>
          </p:cNvCxnSpPr>
          <p:nvPr/>
        </p:nvCxnSpPr>
        <p:spPr>
          <a:xfrm rot="10800000">
            <a:off x="1496100" y="2064670"/>
            <a:ext cx="7800" cy="41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" name="Google Shape;162;p25"/>
          <p:cNvCxnSpPr>
            <a:stCxn id="159" idx="0"/>
            <a:endCxn id="157" idx="2"/>
          </p:cNvCxnSpPr>
          <p:nvPr/>
        </p:nvCxnSpPr>
        <p:spPr>
          <a:xfrm rot="10800000">
            <a:off x="4572000" y="2077258"/>
            <a:ext cx="0" cy="40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" name="Google Shape;163;p25"/>
          <p:cNvCxnSpPr/>
          <p:nvPr/>
        </p:nvCxnSpPr>
        <p:spPr>
          <a:xfrm rot="10800000">
            <a:off x="7640100" y="2064670"/>
            <a:ext cx="7800" cy="41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" name="Google Shape;164;p25"/>
          <p:cNvCxnSpPr>
            <a:stCxn id="158" idx="3"/>
            <a:endCxn id="159" idx="1"/>
          </p:cNvCxnSpPr>
          <p:nvPr/>
        </p:nvCxnSpPr>
        <p:spPr>
          <a:xfrm>
            <a:off x="2497500" y="2707270"/>
            <a:ext cx="108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" name="Google Shape;165;p25"/>
          <p:cNvCxnSpPr>
            <a:stCxn id="159" idx="3"/>
            <a:endCxn id="160" idx="1"/>
          </p:cNvCxnSpPr>
          <p:nvPr/>
        </p:nvCxnSpPr>
        <p:spPr>
          <a:xfrm>
            <a:off x="5565600" y="2707258"/>
            <a:ext cx="108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Base: Visão Geral</a:t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51951" r="19012" t="0"/>
          <a:stretch/>
        </p:blipFill>
        <p:spPr>
          <a:xfrm>
            <a:off x="5565605" y="4148100"/>
            <a:ext cx="322235" cy="6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b="0" l="18856" r="54243" t="0"/>
          <a:stretch/>
        </p:blipFill>
        <p:spPr>
          <a:xfrm>
            <a:off x="3256166" y="4124043"/>
            <a:ext cx="322225" cy="65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0587" y="4124050"/>
            <a:ext cx="839027" cy="65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/>
          <p:cNvPicPr preferRelativeResize="0"/>
          <p:nvPr/>
        </p:nvPicPr>
        <p:blipFill rotWithShape="1">
          <a:blip r:embed="rId5">
            <a:alphaModFix/>
          </a:blip>
          <a:srcRect b="14251" l="8087" r="4485" t="12665"/>
          <a:stretch/>
        </p:blipFill>
        <p:spPr>
          <a:xfrm>
            <a:off x="886495" y="4148100"/>
            <a:ext cx="1227029" cy="606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5"/>
          <p:cNvCxnSpPr>
            <a:stCxn id="155" idx="0"/>
            <a:endCxn id="156" idx="2"/>
          </p:cNvCxnSpPr>
          <p:nvPr/>
        </p:nvCxnSpPr>
        <p:spPr>
          <a:xfrm rot="10800000">
            <a:off x="4572000" y="3251750"/>
            <a:ext cx="0" cy="6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Base: Model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pacote model contém as </a:t>
            </a:r>
            <a:r>
              <a:rPr b="1" lang="en"/>
              <a:t>entidades do domínio em questão</a:t>
            </a:r>
            <a:r>
              <a:rPr lang="en"/>
              <a:t>, ou seja, nele são armazenadas todas as classes que representam os objetos negocialmente relevantes do sistema.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Nesse sentido, </a:t>
            </a:r>
            <a:r>
              <a:rPr lang="en"/>
              <a:t>tais classes foram </a:t>
            </a:r>
            <a:r>
              <a:rPr b="1" lang="en"/>
              <a:t>configuradas com </a:t>
            </a:r>
            <a:r>
              <a:rPr b="1" i="1" lang="en"/>
              <a:t>Annotations</a:t>
            </a:r>
            <a:r>
              <a:rPr b="1" lang="en"/>
              <a:t> do JPA</a:t>
            </a:r>
            <a:r>
              <a:rPr lang="en"/>
              <a:t>, algo </a:t>
            </a:r>
            <a:r>
              <a:rPr lang="en"/>
              <a:t>comumente</a:t>
            </a:r>
            <a:r>
              <a:rPr lang="en"/>
              <a:t> chamado de </a:t>
            </a:r>
            <a:r>
              <a:rPr b="1" lang="en"/>
              <a:t>mapeamento </a:t>
            </a:r>
            <a:r>
              <a:rPr b="1" lang="en"/>
              <a:t>objeto/relacional</a:t>
            </a:r>
            <a:r>
              <a:rPr lang="en"/>
              <a:t>.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525" y="152400"/>
            <a:ext cx="488096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Base: Repository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 módulo Spring Data possui uma abstração muito interessante do </a:t>
            </a:r>
            <a:r>
              <a:rPr b="1" lang="en"/>
              <a:t>padrão Repository, que permite um acesso extremamente simplificado ao nosso Banco de Dados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Com isso, podemos utilizar classes base e padrões de sintaxe para aumento de produtividade e qualidade de código.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3541300"/>
            <a:ext cx="6993097" cy="6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958126"/>
            <a:ext cx="7450042" cy="6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2196248"/>
            <a:ext cx="6680665" cy="6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Base: Controller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pacote controller contém os </a:t>
            </a:r>
            <a:r>
              <a:rPr b="1" lang="en"/>
              <a:t>endpoints REST, que irão processar as </a:t>
            </a:r>
            <a:r>
              <a:rPr b="1" lang="en"/>
              <a:t>requisições</a:t>
            </a:r>
            <a:r>
              <a:rPr b="1" lang="en"/>
              <a:t> HTTP enviadas para a API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Além disso, nossos </a:t>
            </a:r>
            <a:r>
              <a:rPr b="1" lang="en"/>
              <a:t>controladores REST devem garantir que a semântica do protocolo HTTP seja respeitada, com seus respectivos métodos, status code etc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Futuramente, utilizaremos algumas </a:t>
            </a:r>
            <a:r>
              <a:rPr i="1" lang="en"/>
              <a:t>Annotations</a:t>
            </a:r>
            <a:r>
              <a:rPr lang="en"/>
              <a:t> do Swagger para documentar nossos endpoints.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238" y="152400"/>
            <a:ext cx="851552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Base: Service</a:t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camada de </a:t>
            </a:r>
            <a:r>
              <a:rPr lang="en"/>
              <a:t>serviço</a:t>
            </a:r>
            <a:r>
              <a:rPr lang="en"/>
              <a:t> é </a:t>
            </a:r>
            <a:r>
              <a:rPr b="1" lang="en"/>
              <a:t>responsável por todas as regras de negócio do sistema, garantindo a integridade dos dados</a:t>
            </a:r>
            <a:r>
              <a:rPr lang="en"/>
              <a:t> que serão armazenados em Banco de Dados pelo Repository.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Essa camada implementará o </a:t>
            </a:r>
            <a:r>
              <a:rPr b="1" lang="en"/>
              <a:t>padrão de projetos Strategy, garantindo a </a:t>
            </a:r>
            <a:r>
              <a:rPr b="1" lang="en"/>
              <a:t>injeção</a:t>
            </a:r>
            <a:r>
              <a:rPr b="1" lang="en"/>
              <a:t> de dependências através de sua interface</a:t>
            </a:r>
            <a:r>
              <a:rPr lang="en"/>
              <a:t>. Entretanto, construiremos essa camada posteriormente.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Criando nossa API RESTful</a:t>
            </a:r>
            <a:endParaRPr b="1"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Website </a:t>
            </a:r>
            <a:r>
              <a:rPr lang="en" sz="3000" u="sng">
                <a:solidFill>
                  <a:schemeClr val="hlink"/>
                </a:solidFill>
                <a:hlinkClick r:id="rId3"/>
              </a:rPr>
              <a:t>Spring Initializr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Arquivo </a:t>
            </a:r>
            <a:r>
              <a:rPr lang="en" sz="3000" u="sng">
                <a:solidFill>
                  <a:schemeClr val="hlink"/>
                </a:solidFill>
                <a:hlinkClick r:id="rId4"/>
              </a:rPr>
              <a:t>application.properties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Mais Sobre (Vídeo):</a:t>
            </a:r>
            <a:br>
              <a:rPr lang="en" sz="3000"/>
            </a:br>
            <a:r>
              <a:rPr i="1" lang="en" sz="3000" u="sng">
                <a:solidFill>
                  <a:schemeClr val="hlink"/>
                </a:solidFill>
                <a:hlinkClick r:id="rId5"/>
              </a:rPr>
              <a:t>O que é API, REST e RESTful?</a:t>
            </a:r>
            <a:endParaRPr i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