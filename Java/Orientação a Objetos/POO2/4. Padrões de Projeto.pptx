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Robot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92e72d0e12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92e72d0e12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21318812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21318812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2e72d0e1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92e72d0e1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57cc6749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57cc6749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57cc6749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57cc6749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57cc6749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57cc674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57cc6749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57cc6749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57cc6749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57cc6749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57cc6749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57cc6749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57cc6749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57cc6749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57cc6749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57cc6749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57cc6749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57cc6749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57cc6749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57cc674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57cc6749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57cc674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57cc6749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57cc6749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57cc6749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57cc6749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57cc6749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57cc6749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57cc6749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57cc6749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57cc6749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57cc6749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57cc6749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57cc6749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57cc6749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57cc6749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bit.do/e3iGk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venilton.junior@docente.unip.br" TargetMode="External"/><Relationship Id="rId4" Type="http://schemas.openxmlformats.org/officeDocument/2006/relationships/hyperlink" Target="https://bit.ly/2FGvp9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www.k19.com.br/downloads/apostilas/java/k19-k51-design-patterns-em-java" TargetMode="External"/><Relationship Id="rId4" Type="http://schemas.openxmlformats.org/officeDocument/2006/relationships/hyperlink" Target="https://brizeno.wordpress.com/padroes" TargetMode="External"/><Relationship Id="rId5" Type="http://schemas.openxmlformats.org/officeDocument/2006/relationships/hyperlink" Target="http://www.oodesign.com" TargetMode="External"/><Relationship Id="rId6" Type="http://schemas.openxmlformats.org/officeDocument/2006/relationships/hyperlink" Target="https://github.com/iluwatar/java-design-patterns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PROGRAMAÇÃO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ORIENTADA A OBJETOS II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Padrões de Projeto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Disponível em: </a:t>
            </a:r>
            <a:r>
              <a:rPr b="1" lang="en" sz="1800" u="sng">
                <a:solidFill>
                  <a:schemeClr val="hlink"/>
                </a:solidFill>
                <a:hlinkClick r:id="rId3"/>
              </a:rPr>
              <a:t>bit.do/e3iGk</a:t>
            </a:r>
            <a:endParaRPr b="1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Google Classroom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/>
              <a:t>223wwwv</a:t>
            </a:r>
            <a:endParaRPr b="1" sz="7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Conteúdo Programático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Introdução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Unified Modeling Language (UML)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Diagrama de Classes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Diagrama de Sequencias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Tratamento de </a:t>
            </a:r>
            <a:r>
              <a:rPr lang="en"/>
              <a:t>Exceções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Padrões de Projeto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Frameworks e Bibliotecas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277550" y="1789500"/>
            <a:ext cx="4045200" cy="15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Venilton FalvoJr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 u="sng">
                <a:solidFill>
                  <a:schemeClr val="hlink"/>
                </a:solidFill>
                <a:hlinkClick r:id="rId3"/>
              </a:rPr>
              <a:t>venilton.junior@docente.unip.br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</a:rPr>
              <a:t>(16) 99721-8281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Repositório: </a:t>
            </a:r>
            <a:r>
              <a:rPr b="1" lang="en" sz="2100" u="sng">
                <a:solidFill>
                  <a:schemeClr val="hlink"/>
                </a:solidFill>
                <a:hlinkClick r:id="rId4"/>
              </a:rPr>
              <a:t>bit.ly/2FGvp9l</a:t>
            </a:r>
            <a:endParaRPr sz="3000"/>
          </a:p>
        </p:txBody>
      </p:sp>
      <p:sp>
        <p:nvSpPr>
          <p:cNvPr id="103" name="Google Shape;103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Estudante de Doutorado no ICMC-USP, onde contribui junto ao LabES no campus de São Carlos. Possui sólida experiência na área de desenvolvimento de software, com ênfase na análise, construção e arquitetura de sistemas web e mobile. </a:t>
            </a:r>
            <a:endParaRPr sz="16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Atualmente é professor na UNIP e sócio-fundador da Brain Machine, uma startup de consultoria especializada na otimização arquitetural de soluções de software.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Padrões de Projeto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Um padrão de projeto é uma solução consolidada para um problema recorrente no desenvolvimento e manutenção de software orientado a objetos.</a:t>
            </a:r>
            <a:endParaRPr b="1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 referência mais importante relacionada a padrões de projeto é o livro </a:t>
            </a:r>
            <a:r>
              <a:rPr b="1" lang="en"/>
              <a:t>Design Patterns: Elements of Reusable Object-Oriented Software (1995)</a:t>
            </a:r>
            <a:r>
              <a:rPr lang="en"/>
              <a:t> dos autores Erich </a:t>
            </a:r>
            <a:r>
              <a:rPr b="1" lang="en"/>
              <a:t>Gamma</a:t>
            </a:r>
            <a:r>
              <a:rPr lang="en"/>
              <a:t>, Richard </a:t>
            </a:r>
            <a:r>
              <a:rPr b="1" lang="en"/>
              <a:t>Helm</a:t>
            </a:r>
            <a:r>
              <a:rPr lang="en"/>
              <a:t>, Ralph </a:t>
            </a:r>
            <a:r>
              <a:rPr b="1" lang="en"/>
              <a:t>Johnson </a:t>
            </a:r>
            <a:r>
              <a:rPr lang="en"/>
              <a:t>e John </a:t>
            </a:r>
            <a:r>
              <a:rPr b="1" lang="en"/>
              <a:t>Vlissides</a:t>
            </a:r>
            <a:r>
              <a:rPr lang="en"/>
              <a:t>. Esses quatro autores são conhecidos como </a:t>
            </a:r>
            <a:r>
              <a:rPr b="1" lang="en"/>
              <a:t>“Gang of Four” (GoF)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Padrões de Criação</a:t>
            </a:r>
            <a:endParaRPr/>
          </a:p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Factory Method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Abstract Factory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Builder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Prototype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Singleton</a:t>
            </a:r>
            <a:endParaRPr b="1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Multiton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Object Pool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Padrões de Criação: Singleton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/>
              <a:t>Objetivo: Permitir a criação de uma única instância de uma classe e fornecer um modo para recuperá-la.</a:t>
            </a:r>
            <a:endParaRPr b="1" i="1" sz="2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Padrões de Criação: Singleton</a:t>
            </a:r>
            <a:endParaRPr/>
          </a:p>
        </p:txBody>
      </p:sp>
      <p:pic>
        <p:nvPicPr>
          <p:cNvPr id="132" name="Google Shape;132;p21" title="Click to close image, click and drag to move. Use arrow keys for next and previous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3775" y="1318175"/>
            <a:ext cx="4456425" cy="336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Padrões Estruturais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Adapter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Bridge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Composite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Decorator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Facade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Front Controller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Flyweight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Proxy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Padrões Comportamentais</a:t>
            </a:r>
            <a:endParaRPr/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Command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Iterator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Mediator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Observer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State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Template Method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Strategy</a:t>
            </a:r>
            <a:endParaRPr b="1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Visitor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Padrões Comportamentais: Template Method</a:t>
            </a:r>
            <a:endParaRPr/>
          </a:p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/>
              <a:t>Objetivo: Definir a ordem na qual determinados passos devem ser realizados na resolução de um problema e permitir que esses passos possam ser realizados de formas diferentes de acordo com a situação.</a:t>
            </a:r>
            <a:endParaRPr b="1" i="1" sz="2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Padrões Comportamentais: Template Method</a:t>
            </a:r>
            <a:endParaRPr/>
          </a:p>
        </p:txBody>
      </p:sp>
      <p:pic>
        <p:nvPicPr>
          <p:cNvPr id="156" name="Google Shape;156;p25" title="Click to bring to fron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5524" y="1308675"/>
            <a:ext cx="4892950" cy="3226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6" title="Click to close image, click and drag to move. Use arrow keys for next and previous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0967" y="207464"/>
            <a:ext cx="4542059" cy="47285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Padrões Comportamentais: Strategy</a:t>
            </a:r>
            <a:endParaRPr/>
          </a:p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/>
              <a:t>Objetivo: Permitir de maneira simples a variação dos algoritmos utilizados na resolução de um determinado problema.</a:t>
            </a:r>
            <a:endParaRPr b="1" i="1" sz="2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Padrões Comportamentais: Strategy</a:t>
            </a:r>
            <a:endParaRPr/>
          </a:p>
        </p:txBody>
      </p:sp>
      <p:pic>
        <p:nvPicPr>
          <p:cNvPr id="173" name="Google Shape;173;p28" title="Click to bring to fron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898" y="1421900"/>
            <a:ext cx="6852200" cy="33177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9" title="Click to close image, click and drag to move. Use arrow keys for next and previous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12" y="667662"/>
            <a:ext cx="7631975" cy="38081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Mais Sobre...</a:t>
            </a:r>
            <a:endParaRPr/>
          </a:p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u="sng">
                <a:solidFill>
                  <a:schemeClr val="hlink"/>
                </a:solidFill>
                <a:hlinkClick r:id="rId3"/>
              </a:rPr>
              <a:t>Apostila K19</a:t>
            </a:r>
            <a:endParaRPr b="1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u="sng">
                <a:solidFill>
                  <a:schemeClr val="hlink"/>
                </a:solidFill>
                <a:hlinkClick r:id="rId4"/>
              </a:rPr>
              <a:t>Marcos Brizeno</a:t>
            </a:r>
            <a:endParaRPr b="1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OODesign</a:t>
            </a:r>
            <a:endParaRPr b="1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u="sng">
                <a:solidFill>
                  <a:schemeClr val="hlink"/>
                </a:solidFill>
                <a:hlinkClick r:id="rId6"/>
              </a:rPr>
              <a:t>Ilkka Seppälä</a:t>
            </a:r>
            <a:r>
              <a:rPr b="1" lang="en"/>
              <a:t> (GitHub)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 1</a:t>
            </a:r>
            <a:endParaRPr/>
          </a:p>
        </p:txBody>
      </p:sp>
      <p:sp>
        <p:nvSpPr>
          <p:cNvPr id="195" name="Google Shape;195;p3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 partir do Diagrama de Classes apresentado no slide 8</a:t>
            </a:r>
            <a:r>
              <a:rPr lang="en"/>
              <a:t>, implemente/analise o Design Pattern </a:t>
            </a:r>
            <a:r>
              <a:rPr b="1" lang="en"/>
              <a:t>Singleton</a:t>
            </a:r>
            <a:r>
              <a:rPr lang="en"/>
              <a:t>.</a:t>
            </a:r>
            <a:endParaRPr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</a:t>
            </a:r>
            <a:r>
              <a:rPr lang="en"/>
              <a:t> 2</a:t>
            </a:r>
            <a:endParaRPr/>
          </a:p>
        </p:txBody>
      </p:sp>
      <p:sp>
        <p:nvSpPr>
          <p:cNvPr id="201" name="Google Shape;201;p3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 partir do Diagrama de Classes apresentado no slide 13, </a:t>
            </a:r>
            <a:r>
              <a:rPr lang="en"/>
              <a:t>implemente/analise</a:t>
            </a:r>
            <a:r>
              <a:rPr lang="en"/>
              <a:t> o Design Pattern </a:t>
            </a:r>
            <a:r>
              <a:rPr b="1" lang="en"/>
              <a:t>Template Method</a:t>
            </a:r>
            <a:r>
              <a:rPr lang="en"/>
              <a:t>.</a:t>
            </a:r>
            <a:endParaRPr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</a:t>
            </a:r>
            <a:r>
              <a:rPr lang="en"/>
              <a:t> 3</a:t>
            </a:r>
            <a:endParaRPr/>
          </a:p>
        </p:txBody>
      </p:sp>
      <p:sp>
        <p:nvSpPr>
          <p:cNvPr id="207" name="Google Shape;207;p3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 partir do Diagrama de Classes apresentado no slide 16</a:t>
            </a:r>
            <a:r>
              <a:rPr lang="en"/>
              <a:t>, </a:t>
            </a:r>
            <a:r>
              <a:rPr lang="en"/>
              <a:t>implemente/analise</a:t>
            </a:r>
            <a:r>
              <a:rPr lang="en"/>
              <a:t> o Design Pattern </a:t>
            </a:r>
            <a:r>
              <a:rPr b="1" lang="en"/>
              <a:t>Strategy</a:t>
            </a:r>
            <a:r>
              <a:rPr lang="en"/>
              <a:t>.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