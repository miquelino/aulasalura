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oboto-regular.fntdata"/><Relationship Id="rId21" Type="http://schemas.openxmlformats.org/officeDocument/2006/relationships/slide" Target="slides/slide17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94e1e60bf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94e1e60bf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94e1e60bff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94e1e60bff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cc9bdf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cc9bdf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cc9bdf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bcc9bdf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bcc9bdf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fbcc9bdf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bcc9bdf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bcc9bdf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cc9bdf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cc9bdf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bcc9bdfb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bcc9bdfb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bcc9bdf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bcc9bdf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cc9bdfb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cc9bdfb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cc9bdfb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bcc9bdfb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bcc9bdfb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bcc9bdfb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bcc9bdfb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bcc9bdfb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04bab9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f04bab9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04bab9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04bab9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bit.ly/2EljVa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venilton.junior@docente.unip.br" TargetMode="External"/><Relationship Id="rId4" Type="http://schemas.openxmlformats.org/officeDocument/2006/relationships/hyperlink" Target="https://bit.ly/2FGvp9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document/d/1YJk6kO9Vqa7EVNf1woUbKePcaQ9cBv_7qrTLx108rb8/edit?usp=sharing" TargetMode="External"/><Relationship Id="rId4" Type="http://schemas.openxmlformats.org/officeDocument/2006/relationships/hyperlink" Target="https://github.com/caelum/caelum-stella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r>
              <a:rPr lang="en"/>
              <a:t>. UML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Disponível em: </a:t>
            </a:r>
            <a:r>
              <a:rPr b="1" lang="en" sz="1800" u="sng">
                <a:solidFill>
                  <a:schemeClr val="hlink"/>
                </a:solidFill>
                <a:hlinkClick r:id="rId3"/>
              </a:rPr>
              <a:t>bit.ly/2EljVay</a:t>
            </a:r>
            <a:endParaRPr b="1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Google Classroom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/>
              <a:t>223wwwv</a:t>
            </a:r>
            <a:endParaRPr b="1" sz="7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Unified Modeling Language (UML)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Diagrama de Classes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Diagrama de Sequencias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Tratamento de </a:t>
            </a:r>
            <a:r>
              <a:rPr lang="en"/>
              <a:t>Exceções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Padrões de Projeto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Frameworks e Bibliotecas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Spring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277550" y="1789500"/>
            <a:ext cx="4045200" cy="15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venilton.junior@docente.unip.br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(16) 99721-8281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bit.ly/2FGvp9l</a:t>
            </a:r>
            <a:endParaRPr sz="3000"/>
          </a:p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Estudante de Doutorado no ICMC-USP, onde contribui junto ao LabES no campus de São Carlos. Possui sólida experiência na área de desenvolvimento de software, com ênfase na análise, construção e arquitetura de sistemas web e mobile. </a:t>
            </a:r>
            <a:endParaRPr sz="1600"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Atualmente é professor na UNIP e sócio-fundador da Brain Machine, uma startup de consultoria especializada na otimização arquitetural de soluções de software.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é um acrônimo para a expressão </a:t>
            </a:r>
            <a:r>
              <a:rPr b="1" lang="en"/>
              <a:t>Unified Modeling Language</a:t>
            </a:r>
            <a:r>
              <a:rPr lang="en"/>
              <a:t>. Pela definição de seu nome, vemos que UML é uma </a:t>
            </a:r>
            <a:r>
              <a:rPr b="1" lang="en"/>
              <a:t>linguagem que define uma série de artefatos</a:t>
            </a:r>
            <a:r>
              <a:rPr lang="en"/>
              <a:t> que nos ajuda na tarefa de </a:t>
            </a:r>
            <a:r>
              <a:rPr b="1" lang="en"/>
              <a:t>modelar e documentar software.</a:t>
            </a:r>
            <a:endParaRPr b="1"/>
          </a:p>
          <a:p>
            <a:pPr indent="0" lvl="0" marL="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Ela surgiu da fusão de três grandes métodos: </a:t>
            </a:r>
            <a:r>
              <a:rPr b="1" lang="en"/>
              <a:t>BOOCH</a:t>
            </a:r>
            <a:r>
              <a:rPr lang="en"/>
              <a:t>, </a:t>
            </a:r>
            <a:r>
              <a:rPr b="1" lang="en"/>
              <a:t>OMT</a:t>
            </a:r>
            <a:r>
              <a:rPr lang="en"/>
              <a:t> </a:t>
            </a:r>
            <a:r>
              <a:rPr b="1" lang="en"/>
              <a:t>(Rumbaugh) e OOSE (Jacobson).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Afinal, o que é modelagem de software?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Modelar um software é desenvolver determinados </a:t>
            </a:r>
            <a:r>
              <a:rPr b="1" lang="en"/>
              <a:t>diagramas para representar</a:t>
            </a:r>
            <a:r>
              <a:rPr lang="en"/>
              <a:t> características específicas de </a:t>
            </a:r>
            <a:r>
              <a:rPr b="1" lang="en"/>
              <a:t>sistemas de software</a:t>
            </a:r>
            <a:r>
              <a:rPr lang="en"/>
              <a:t>.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Como um sistema é algo complexo existem vários diagramas que podem ser utilizados, cada qual com recursos específicos para evidenciar uma determinada característica do sistema.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Há diagramas que evidenciam as características dinâmicas do sistema, outros as características estáticas, outros características de interação, arquitetura e assim por diante.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Afinal, o que é modelagem de software?</a:t>
            </a:r>
            <a:endParaRPr/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Existem diagramas específicos para cada fase do desenvolvimento: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/>
              <a:t>Por exemplo, diagramas de caso de uso auxiliam no levantamento de requisitos.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Por outro lado, existem diagramas que podem ser utilizados em mais de uma fase: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/>
              <a:t>Por exemplo, diagramas de classe  podem ser usados tanto em nível de análise quanto de projeto. O que que irá diferenciar os dois diagramas é o nível de abstração das duas etapas, ou seja, o diagrama de classes de análise contém menos detalhes do que esse mesmo diagrama no projeto.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que devo modelar um software?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Cada diagrama exibe níveis diferentes de detalhes (nível de abstração);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É mais barato mudar um diagrama que o código;</a:t>
            </a:r>
            <a:endParaRPr/>
          </a:p>
          <a:p>
            <a:pPr indent="-3429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/>
              <a:t>É possível mudar alguma decisão tomada na modelagem no momento de implementação!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/>
              <a:t>Afinal, sempre podemos errar ou evoluir algo;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Entretanto, tais mudanças devem ser refletidas nos diagramas previamente construído;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Isso deve ocorrer pois os </a:t>
            </a:r>
            <a:r>
              <a:rPr b="1" lang="en"/>
              <a:t>diagramas servem como documentação do software</a:t>
            </a:r>
            <a:r>
              <a:rPr lang="en"/>
              <a:t>;</a:t>
            </a:r>
            <a:endParaRPr/>
          </a:p>
          <a:p>
            <a:pPr indent="-317500" lvl="1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Manutenções </a:t>
            </a:r>
            <a:r>
              <a:rPr lang="en"/>
              <a:t>devem ser feitas consultando a documentação do software.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Diagramas UML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caso de uso;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classes;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objetos;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pacotes;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sequência;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comunicação;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máquina de estados.</a:t>
            </a:r>
            <a:endParaRPr sz="1800"/>
          </a:p>
        </p:txBody>
      </p:sp>
      <p:sp>
        <p:nvSpPr>
          <p:cNvPr id="134" name="Google Shape;134;p21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atividade;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visão geral de interação;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componentes;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implantação;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estrutura composta;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tempo.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upload.wikimedia.org/wikipedia/commons/thumb/c/c0/UML_diagrams_overview_pt.svg/792px-UML_diagrams_overview_pt.svg.png" id="139" name="Google Shape;13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925"/>
            <a:ext cx="9144000" cy="4987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Sempre devemos usar todos os diagramas?</a:t>
            </a:r>
            <a:endParaRPr/>
          </a:p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Definitivamente não! Devemos analisar as características e necessidades do projeto, equipe, empresa e cliente e selecionar o conjunto de diagramas mais adequado ao projeto!</a:t>
            </a:r>
            <a:endParaRPr b="1"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Diagramas UML</a:t>
            </a:r>
            <a:endParaRPr/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caso de uso;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" sz="1800" u="sng"/>
              <a:t>Diagrama de classes;</a:t>
            </a:r>
            <a:endParaRPr b="1" sz="1800" u="sng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objetos;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pacotes;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b="1" lang="en" sz="1800" u="sng"/>
              <a:t>Diagrama de sequência;</a:t>
            </a:r>
            <a:endParaRPr b="1" sz="1800" u="sng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comunicação;</a:t>
            </a:r>
            <a:endParaRPr sz="1800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/>
              <a:t>Diagrama de máquina de estados.</a:t>
            </a:r>
            <a:endParaRPr sz="1800"/>
          </a:p>
        </p:txBody>
      </p:sp>
      <p:sp>
        <p:nvSpPr>
          <p:cNvPr id="152" name="Google Shape;152;p24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atividade;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visão geral de interação;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componentes;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implantação;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estrutura composta;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Diagrama de tempo.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Sistema de Leilão</a:t>
            </a:r>
            <a:endParaRPr/>
          </a:p>
        </p:txBody>
      </p:sp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 o objetivo de simular a dinâmica de uma empresa de desenvolvimento de software, iremos atuar nas fases de Análise, Projeto e </a:t>
            </a:r>
            <a:r>
              <a:rPr lang="en"/>
              <a:t>Construção</a:t>
            </a:r>
            <a:r>
              <a:rPr lang="en"/>
              <a:t>. Nesse sentido, iremos considerar os seguintes artefatos de entrada: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Documento de Caso de Uso</a:t>
            </a:r>
            <a:r>
              <a:rPr lang="en"/>
              <a:t> 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Diagrama de Caso de Uso</a:t>
            </a:r>
            <a:r>
              <a:rPr i="1" lang="en"/>
              <a:t> (próximo slide)</a:t>
            </a:r>
            <a:endParaRPr i="1"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Com isso, modele os </a:t>
            </a:r>
            <a:r>
              <a:rPr b="1" lang="en"/>
              <a:t>Diagramas de Classes </a:t>
            </a:r>
            <a:r>
              <a:rPr lang="en"/>
              <a:t>e</a:t>
            </a:r>
            <a:r>
              <a:rPr b="1" lang="en"/>
              <a:t> </a:t>
            </a:r>
            <a:r>
              <a:rPr b="1" lang="en"/>
              <a:t>Sequências</a:t>
            </a:r>
            <a:r>
              <a:rPr lang="en"/>
              <a:t>, além da implementação Java dos mesmos. Para isso, a seguinte biblioteca será utilizada:</a:t>
            </a:r>
            <a:r>
              <a:rPr b="1" lang="en"/>
              <a:t> </a:t>
            </a:r>
            <a:r>
              <a:rPr b="1" lang="en" u="sng">
                <a:solidFill>
                  <a:schemeClr val="hlink"/>
                </a:solidFill>
                <a:hlinkClick r:id="rId4"/>
              </a:rPr>
              <a:t>Caelum Stella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0" y="4544700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Casos de Uso (Tiosso, 2016)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 rotWithShape="1">
          <a:blip r:embed="rId3">
            <a:alphaModFix/>
          </a:blip>
          <a:srcRect b="8960" l="2725" r="3280" t="7913"/>
          <a:stretch/>
        </p:blipFill>
        <p:spPr>
          <a:xfrm>
            <a:off x="1667297" y="378925"/>
            <a:ext cx="5809415" cy="416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8"/>
          <p:cNvPicPr preferRelativeResize="0"/>
          <p:nvPr/>
        </p:nvPicPr>
        <p:blipFill rotWithShape="1">
          <a:blip r:embed="rId3">
            <a:alphaModFix/>
          </a:blip>
          <a:srcRect b="3467" l="3294" r="3897" t="5532"/>
          <a:stretch/>
        </p:blipFill>
        <p:spPr>
          <a:xfrm>
            <a:off x="1946380" y="0"/>
            <a:ext cx="525124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0" y="4544700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Classes (ADS, 2020)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0" y="4544700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Diagrama de Sequencias (ADS, 2020)</a:t>
            </a:r>
            <a:endParaRPr/>
          </a:p>
        </p:txBody>
      </p:sp>
      <p:pic>
        <p:nvPicPr>
          <p:cNvPr id="181" name="Google Shape;181;p29"/>
          <p:cNvPicPr preferRelativeResize="0"/>
          <p:nvPr/>
        </p:nvPicPr>
        <p:blipFill rotWithShape="1">
          <a:blip r:embed="rId3">
            <a:alphaModFix/>
          </a:blip>
          <a:srcRect b="6144" l="3632" r="2267" t="4926"/>
          <a:stretch/>
        </p:blipFill>
        <p:spPr>
          <a:xfrm>
            <a:off x="1447225" y="0"/>
            <a:ext cx="6249549" cy="461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