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5143500" cx="9144000"/>
  <p:notesSz cx="6858000" cy="9144000"/>
  <p:embeddedFontLst>
    <p:embeddedFont>
      <p:font typeface="Roboto"/>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Roboto-regular.fntdata"/><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Roboto-italic.fntdata"/><Relationship Id="rId14" Type="http://schemas.openxmlformats.org/officeDocument/2006/relationships/font" Target="fonts/Roboto-bold.fntdata"/><Relationship Id="rId16" Type="http://schemas.openxmlformats.org/officeDocument/2006/relationships/font" Target="fonts/Roboto-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92ef1b5243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92ef1b5243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221318812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221318812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92ef1b5243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92ef1b5243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3a4e49d0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3a4e49d0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f3a4e49d0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f3a4e49d0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fbcc9bdfb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fbcc9bdfb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f3a4e49d0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f3a4e49d0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1600"/>
              </a:spcBef>
              <a:spcAft>
                <a:spcPts val="0"/>
              </a:spcAft>
              <a:buClr>
                <a:schemeClr val="lt1"/>
              </a:buClr>
              <a:buSzPts val="1400"/>
              <a:buChar char="○"/>
              <a:defRPr>
                <a:solidFill>
                  <a:schemeClr val="lt1"/>
                </a:solidFill>
              </a:defRPr>
            </a:lvl2pPr>
            <a:lvl3pPr indent="-317500" lvl="2" marL="1371600" algn="ctr">
              <a:spcBef>
                <a:spcPts val="1600"/>
              </a:spcBef>
              <a:spcAft>
                <a:spcPts val="0"/>
              </a:spcAft>
              <a:buClr>
                <a:schemeClr val="lt1"/>
              </a:buClr>
              <a:buSzPts val="1400"/>
              <a:buChar char="■"/>
              <a:defRPr>
                <a:solidFill>
                  <a:schemeClr val="lt1"/>
                </a:solidFill>
              </a:defRPr>
            </a:lvl3pPr>
            <a:lvl4pPr indent="-317500" lvl="3" marL="1828800" algn="ctr">
              <a:spcBef>
                <a:spcPts val="1600"/>
              </a:spcBef>
              <a:spcAft>
                <a:spcPts val="0"/>
              </a:spcAft>
              <a:buClr>
                <a:schemeClr val="lt1"/>
              </a:buClr>
              <a:buSzPts val="1400"/>
              <a:buChar char="●"/>
              <a:defRPr>
                <a:solidFill>
                  <a:schemeClr val="lt1"/>
                </a:solidFill>
              </a:defRPr>
            </a:lvl4pPr>
            <a:lvl5pPr indent="-317500" lvl="4" marL="2286000" algn="ctr">
              <a:spcBef>
                <a:spcPts val="1600"/>
              </a:spcBef>
              <a:spcAft>
                <a:spcPts val="0"/>
              </a:spcAft>
              <a:buClr>
                <a:schemeClr val="lt1"/>
              </a:buClr>
              <a:buSzPts val="1400"/>
              <a:buChar char="○"/>
              <a:defRPr>
                <a:solidFill>
                  <a:schemeClr val="lt1"/>
                </a:solidFill>
              </a:defRPr>
            </a:lvl5pPr>
            <a:lvl6pPr indent="-317500" lvl="5" marL="2743200" algn="ctr">
              <a:spcBef>
                <a:spcPts val="1600"/>
              </a:spcBef>
              <a:spcAft>
                <a:spcPts val="0"/>
              </a:spcAft>
              <a:buClr>
                <a:schemeClr val="lt1"/>
              </a:buClr>
              <a:buSzPts val="1400"/>
              <a:buChar char="■"/>
              <a:defRPr>
                <a:solidFill>
                  <a:schemeClr val="lt1"/>
                </a:solidFill>
              </a:defRPr>
            </a:lvl6pPr>
            <a:lvl7pPr indent="-317500" lvl="6" marL="3200400" algn="ctr">
              <a:spcBef>
                <a:spcPts val="1600"/>
              </a:spcBef>
              <a:spcAft>
                <a:spcPts val="0"/>
              </a:spcAft>
              <a:buClr>
                <a:schemeClr val="lt1"/>
              </a:buClr>
              <a:buSzPts val="1400"/>
              <a:buChar char="●"/>
              <a:defRPr>
                <a:solidFill>
                  <a:schemeClr val="lt1"/>
                </a:solidFill>
              </a:defRPr>
            </a:lvl7pPr>
            <a:lvl8pPr indent="-317500" lvl="7" marL="3657600" algn="ctr">
              <a:spcBef>
                <a:spcPts val="1600"/>
              </a:spcBef>
              <a:spcAft>
                <a:spcPts val="0"/>
              </a:spcAft>
              <a:buClr>
                <a:schemeClr val="lt1"/>
              </a:buClr>
              <a:buSzPts val="1400"/>
              <a:buChar char="○"/>
              <a:defRPr>
                <a:solidFill>
                  <a:schemeClr val="lt1"/>
                </a:solidFill>
              </a:defRPr>
            </a:lvl8pPr>
            <a:lvl9pPr indent="-317500" lvl="8" marL="4114800" algn="ctr">
              <a:spcBef>
                <a:spcPts val="1600"/>
              </a:spcBef>
              <a:spcAft>
                <a:spcPts val="160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bit.do/e3iFD"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hyperlink" Target="mailto:venilton.junior@docente.unip.br" TargetMode="External"/><Relationship Id="rId4" Type="http://schemas.openxmlformats.org/officeDocument/2006/relationships/hyperlink" Target="https://bit.ly/2FGvp9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PROGRAMAÇÃO </a:t>
            </a:r>
            <a:endParaRPr/>
          </a:p>
          <a:p>
            <a:pPr indent="0" lvl="0" marL="0" rtl="0" algn="l">
              <a:spcBef>
                <a:spcPts val="0"/>
              </a:spcBef>
              <a:spcAft>
                <a:spcPts val="0"/>
              </a:spcAft>
              <a:buNone/>
            </a:pPr>
            <a:r>
              <a:rPr lang="en"/>
              <a:t>ORIENTADA A OBJETOS II</a:t>
            </a:r>
            <a:endParaRPr/>
          </a:p>
        </p:txBody>
      </p:sp>
      <p:sp>
        <p:nvSpPr>
          <p:cNvPr id="86" name="Google Shape;86;p13"/>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Tratamento de </a:t>
            </a:r>
            <a:r>
              <a:rPr lang="en"/>
              <a:t>Exceções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800"/>
              <a:t>Disponível em: </a:t>
            </a:r>
            <a:r>
              <a:rPr b="1" lang="en" sz="1800" u="sng">
                <a:solidFill>
                  <a:schemeClr val="hlink"/>
                </a:solidFill>
                <a:hlinkClick r:id="rId3"/>
              </a:rPr>
              <a:t>bit.do/e3iFD</a:t>
            </a:r>
            <a:endParaRPr b="1"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600"/>
              <a:t>Google Classroom</a:t>
            </a:r>
            <a:endParaRPr sz="3600"/>
          </a:p>
          <a:p>
            <a:pPr indent="0" lvl="0" marL="0" rtl="0" algn="l">
              <a:spcBef>
                <a:spcPts val="0"/>
              </a:spcBef>
              <a:spcAft>
                <a:spcPts val="0"/>
              </a:spcAft>
              <a:buNone/>
            </a:pPr>
            <a:r>
              <a:t/>
            </a:r>
            <a:endParaRPr sz="1100"/>
          </a:p>
          <a:p>
            <a:pPr indent="0" lvl="0" marL="0" rtl="0" algn="l">
              <a:spcBef>
                <a:spcPts val="0"/>
              </a:spcBef>
              <a:spcAft>
                <a:spcPts val="0"/>
              </a:spcAft>
              <a:buNone/>
            </a:pPr>
            <a:r>
              <a:rPr b="1" lang="en" sz="7200"/>
              <a:t>223wwwv</a:t>
            </a:r>
            <a:endParaRPr b="1" sz="7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Conteúdo Programático</a:t>
            </a:r>
            <a:endParaRPr/>
          </a:p>
        </p:txBody>
      </p:sp>
      <p:sp>
        <p:nvSpPr>
          <p:cNvPr id="97" name="Google Shape;97;p15"/>
          <p:cNvSpPr txBox="1"/>
          <p:nvPr>
            <p:ph idx="1" type="body"/>
          </p:nvPr>
        </p:nvSpPr>
        <p:spPr>
          <a:xfrm>
            <a:off x="311700" y="1229875"/>
            <a:ext cx="8520600" cy="33390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AutoNum type="arabicPeriod"/>
            </a:pPr>
            <a:r>
              <a:rPr lang="en"/>
              <a:t>Introdução</a:t>
            </a:r>
            <a:endParaRPr/>
          </a:p>
          <a:p>
            <a:pPr indent="-342900" lvl="0" marL="457200" rtl="0" algn="l">
              <a:spcBef>
                <a:spcPts val="0"/>
              </a:spcBef>
              <a:spcAft>
                <a:spcPts val="0"/>
              </a:spcAft>
              <a:buSzPts val="1800"/>
              <a:buAutoNum type="arabicPeriod"/>
            </a:pPr>
            <a:r>
              <a:rPr lang="en"/>
              <a:t>Unified Modeling Language (UML)</a:t>
            </a:r>
            <a:endParaRPr/>
          </a:p>
          <a:p>
            <a:pPr indent="-317500" lvl="1" marL="914400" rtl="0" algn="l">
              <a:spcBef>
                <a:spcPts val="0"/>
              </a:spcBef>
              <a:spcAft>
                <a:spcPts val="0"/>
              </a:spcAft>
              <a:buSzPts val="1400"/>
              <a:buAutoNum type="alphaLcPeriod"/>
            </a:pPr>
            <a:r>
              <a:rPr lang="en"/>
              <a:t>Diagrama de Classes</a:t>
            </a:r>
            <a:endParaRPr/>
          </a:p>
          <a:p>
            <a:pPr indent="-317500" lvl="1" marL="914400" rtl="0" algn="l">
              <a:spcBef>
                <a:spcPts val="0"/>
              </a:spcBef>
              <a:spcAft>
                <a:spcPts val="0"/>
              </a:spcAft>
              <a:buSzPts val="1400"/>
              <a:buAutoNum type="alphaLcPeriod"/>
            </a:pPr>
            <a:r>
              <a:rPr lang="en"/>
              <a:t>Diagrama de Sequencias</a:t>
            </a:r>
            <a:endParaRPr/>
          </a:p>
          <a:p>
            <a:pPr indent="-342900" lvl="0" marL="457200" rtl="0" algn="l">
              <a:spcBef>
                <a:spcPts val="0"/>
              </a:spcBef>
              <a:spcAft>
                <a:spcPts val="0"/>
              </a:spcAft>
              <a:buSzPts val="1800"/>
              <a:buAutoNum type="arabicPeriod"/>
            </a:pPr>
            <a:r>
              <a:rPr b="1" lang="en"/>
              <a:t>Tratamento de </a:t>
            </a:r>
            <a:r>
              <a:rPr b="1" lang="en"/>
              <a:t>Exceções</a:t>
            </a:r>
            <a:endParaRPr b="1"/>
          </a:p>
          <a:p>
            <a:pPr indent="-342900" lvl="0" marL="457200" rtl="0" algn="l">
              <a:spcBef>
                <a:spcPts val="0"/>
              </a:spcBef>
              <a:spcAft>
                <a:spcPts val="0"/>
              </a:spcAft>
              <a:buSzPts val="1800"/>
              <a:buAutoNum type="arabicPeriod"/>
            </a:pPr>
            <a:r>
              <a:rPr lang="en"/>
              <a:t>Padrões de Projeto</a:t>
            </a:r>
            <a:endParaRPr/>
          </a:p>
          <a:p>
            <a:pPr indent="-342900" lvl="0" marL="457200" rtl="0" algn="l">
              <a:spcBef>
                <a:spcPts val="0"/>
              </a:spcBef>
              <a:spcAft>
                <a:spcPts val="0"/>
              </a:spcAft>
              <a:buSzPts val="1800"/>
              <a:buAutoNum type="arabicPeriod"/>
            </a:pPr>
            <a:r>
              <a:rPr lang="en"/>
              <a:t>Frameworks e Bibliotecas</a:t>
            </a:r>
            <a:endParaRPr/>
          </a:p>
          <a:p>
            <a:pPr indent="-317500" lvl="1" marL="914400" rtl="0" algn="l">
              <a:spcBef>
                <a:spcPts val="0"/>
              </a:spcBef>
              <a:spcAft>
                <a:spcPts val="0"/>
              </a:spcAft>
              <a:buSzPts val="1400"/>
              <a:buAutoNum type="alphaLcPeriod"/>
            </a:pPr>
            <a:r>
              <a:rPr lang="en"/>
              <a:t>Spring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277550" y="1789500"/>
            <a:ext cx="4045200" cy="156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Venilton FalvoJr</a:t>
            </a:r>
            <a:endParaRPr/>
          </a:p>
          <a:p>
            <a:pPr indent="0" lvl="0" marL="0" rtl="0" algn="ctr">
              <a:spcBef>
                <a:spcPts val="0"/>
              </a:spcBef>
              <a:spcAft>
                <a:spcPts val="0"/>
              </a:spcAft>
              <a:buNone/>
            </a:pPr>
            <a:r>
              <a:rPr b="1" lang="en" sz="2100" u="sng">
                <a:solidFill>
                  <a:schemeClr val="hlink"/>
                </a:solidFill>
                <a:hlinkClick r:id="rId3"/>
              </a:rPr>
              <a:t>venilton.junior@docente.unip.br</a:t>
            </a:r>
            <a:endParaRPr/>
          </a:p>
          <a:p>
            <a:pPr indent="0" lvl="0" marL="0" rtl="0" algn="ctr">
              <a:spcBef>
                <a:spcPts val="0"/>
              </a:spcBef>
              <a:spcAft>
                <a:spcPts val="0"/>
              </a:spcAft>
              <a:buNone/>
            </a:pPr>
            <a:r>
              <a:rPr b="1" lang="en" sz="2100">
                <a:solidFill>
                  <a:schemeClr val="accent5"/>
                </a:solidFill>
              </a:rPr>
              <a:t>(16) 99721-8281</a:t>
            </a:r>
            <a:endParaRPr b="1" sz="2100">
              <a:solidFill>
                <a:schemeClr val="accent5"/>
              </a:solidFill>
            </a:endParaRPr>
          </a:p>
          <a:p>
            <a:pPr indent="0" lvl="0" marL="0" rtl="0" algn="l">
              <a:spcBef>
                <a:spcPts val="0"/>
              </a:spcBef>
              <a:spcAft>
                <a:spcPts val="0"/>
              </a:spcAft>
              <a:buClr>
                <a:srgbClr val="000000"/>
              </a:buClr>
              <a:buSzPts val="1100"/>
              <a:buFont typeface="Arial"/>
              <a:buNone/>
            </a:pPr>
            <a:r>
              <a:t/>
            </a:r>
            <a:endParaRPr b="1" sz="2100">
              <a:solidFill>
                <a:schemeClr val="dk2"/>
              </a:solidFill>
            </a:endParaRPr>
          </a:p>
          <a:p>
            <a:pPr indent="0" lvl="0" marL="0" rtl="0" algn="l">
              <a:spcBef>
                <a:spcPts val="0"/>
              </a:spcBef>
              <a:spcAft>
                <a:spcPts val="0"/>
              </a:spcAft>
              <a:buNone/>
            </a:pPr>
            <a:r>
              <a:rPr lang="en" sz="2100">
                <a:solidFill>
                  <a:schemeClr val="dk2"/>
                </a:solidFill>
              </a:rPr>
              <a:t>Repositório: </a:t>
            </a:r>
            <a:r>
              <a:rPr b="1" lang="en" sz="2100" u="sng">
                <a:solidFill>
                  <a:schemeClr val="hlink"/>
                </a:solidFill>
                <a:hlinkClick r:id="rId4"/>
              </a:rPr>
              <a:t>bit.ly/2FGvp9l</a:t>
            </a:r>
            <a:endParaRPr sz="3000"/>
          </a:p>
        </p:txBody>
      </p:sp>
      <p:sp>
        <p:nvSpPr>
          <p:cNvPr id="103" name="Google Shape;103;p16"/>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0" lvl="0" marL="0" rtl="0" algn="just">
              <a:spcBef>
                <a:spcPts val="0"/>
              </a:spcBef>
              <a:spcAft>
                <a:spcPts val="0"/>
              </a:spcAft>
              <a:buNone/>
            </a:pPr>
            <a:r>
              <a:rPr lang="en" sz="1600"/>
              <a:t>Estudante de Doutorado no ICMC-USP, onde contribui junto ao LabES no campus de São Carlos. Possui sólida experiência na área de desenvolvimento de software, com ênfase na análise, construção e arquitetura de sistemas web e mobile. </a:t>
            </a:r>
            <a:endParaRPr sz="1600"/>
          </a:p>
          <a:p>
            <a:pPr indent="0" lvl="0" marL="0" rtl="0" algn="just">
              <a:spcBef>
                <a:spcPts val="1600"/>
              </a:spcBef>
              <a:spcAft>
                <a:spcPts val="0"/>
              </a:spcAft>
              <a:buNone/>
            </a:pPr>
            <a:r>
              <a:rPr lang="en" sz="1600"/>
              <a:t>Atualmente é professor na UNIP e sócio-fundador da Brain Machine, uma startup de consultoria especializada na otimização arquitetural de soluções de software.</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Tratamento de Exceções</a:t>
            </a:r>
            <a:endParaRPr/>
          </a:p>
        </p:txBody>
      </p:sp>
      <p:sp>
        <p:nvSpPr>
          <p:cNvPr id="109" name="Google Shape;109;p17"/>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a:t>Uma exceção representa uma situação que normalmente não ocorre e representa algo de estranho ou inesperado no sistema.</a:t>
            </a:r>
            <a:endParaRPr b="1"/>
          </a:p>
          <a:p>
            <a:pPr indent="-342900" lvl="0" marL="457200" rtl="0" algn="just">
              <a:spcBef>
                <a:spcPts val="1600"/>
              </a:spcBef>
              <a:spcAft>
                <a:spcPts val="0"/>
              </a:spcAft>
              <a:buSzPts val="1800"/>
              <a:buChar char="●"/>
            </a:pPr>
            <a:r>
              <a:rPr b="1" i="1" lang="en"/>
              <a:t>Unchecked Exceptions</a:t>
            </a:r>
            <a:r>
              <a:rPr b="1" lang="en"/>
              <a:t>: </a:t>
            </a:r>
            <a:r>
              <a:rPr lang="en"/>
              <a:t>possuem tratamento (</a:t>
            </a:r>
            <a:r>
              <a:rPr b="1" lang="en"/>
              <a:t>try/catch</a:t>
            </a:r>
            <a:r>
              <a:rPr lang="en"/>
              <a:t>) opcional. Em outras palavras, o compilador simplesmente ignora tais exceções.</a:t>
            </a:r>
            <a:endParaRPr/>
          </a:p>
          <a:p>
            <a:pPr indent="-342900" lvl="0" marL="457200" rtl="0" algn="just">
              <a:spcBef>
                <a:spcPts val="1000"/>
              </a:spcBef>
              <a:spcAft>
                <a:spcPts val="0"/>
              </a:spcAft>
              <a:buSzPts val="1800"/>
              <a:buChar char="●"/>
            </a:pPr>
            <a:r>
              <a:rPr b="1" i="1" lang="en"/>
              <a:t>Checked Exceptions</a:t>
            </a:r>
            <a:r>
              <a:rPr b="1" lang="en"/>
              <a:t>: </a:t>
            </a:r>
            <a:r>
              <a:rPr lang="en"/>
              <a:t>a chamada a um método ou construtor que lança (</a:t>
            </a:r>
            <a:r>
              <a:rPr b="1" lang="en"/>
              <a:t>throw</a:t>
            </a:r>
            <a:r>
              <a:rPr lang="en"/>
              <a:t>) esse tipo de exceção precisa ser tratada. O compilador verificará se ela está sendo devidamente tratada.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8"/>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Uma pequena parte da Família Throwable</a:t>
            </a:r>
            <a:endParaRPr/>
          </a:p>
        </p:txBody>
      </p:sp>
      <p:pic>
        <p:nvPicPr>
          <p:cNvPr id="115" name="Google Shape;115;p18"/>
          <p:cNvPicPr preferRelativeResize="0"/>
          <p:nvPr/>
        </p:nvPicPr>
        <p:blipFill>
          <a:blip r:embed="rId3">
            <a:alphaModFix/>
          </a:blip>
          <a:stretch>
            <a:fillRect/>
          </a:stretch>
        </p:blipFill>
        <p:spPr>
          <a:xfrm>
            <a:off x="1944298" y="164800"/>
            <a:ext cx="5255414" cy="4065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Exemplo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0"/>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PIM (Modelagem Genérica)</a:t>
            </a:r>
            <a:endParaRPr/>
          </a:p>
        </p:txBody>
      </p:sp>
      <p:sp>
        <p:nvSpPr>
          <p:cNvPr id="126" name="Google Shape;126;p20"/>
          <p:cNvSpPr txBox="1"/>
          <p:nvPr>
            <p:ph idx="1" type="body"/>
          </p:nvPr>
        </p:nvSpPr>
        <p:spPr>
          <a:xfrm>
            <a:off x="311700" y="1229875"/>
            <a:ext cx="8520600" cy="3339000"/>
          </a:xfrm>
          <a:prstGeom prst="rect">
            <a:avLst/>
          </a:prstGeom>
        </p:spPr>
        <p:txBody>
          <a:bodyPr anchorCtr="0" anchor="ctr" bIns="91425" lIns="91425" spcFirstLastPara="1" rIns="91425" wrap="square" tIns="91425">
            <a:noAutofit/>
          </a:bodyPr>
          <a:lstStyle/>
          <a:p>
            <a:pPr indent="0" lvl="0" marL="0" rtl="0" algn="just">
              <a:spcBef>
                <a:spcPts val="0"/>
              </a:spcBef>
              <a:spcAft>
                <a:spcPts val="1600"/>
              </a:spcAft>
              <a:buNone/>
            </a:pPr>
            <a:r>
              <a:rPr lang="en"/>
              <a:t>Com o objetivo de explorar o PIM na disciplina de POO2, iremos nos basear em uma modelagem genérica (com base nos diagramas do semestre anterior) para construir as classes base em um novo projeto. Depois disso, iremos explorar o conceito de tratamento de </a:t>
            </a:r>
            <a:r>
              <a:rPr lang="en"/>
              <a:t>exceções em nossa classe de testes</a:t>
            </a:r>
            <a:r>
              <a:rPr lang="en"/>
              <a:t>.</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