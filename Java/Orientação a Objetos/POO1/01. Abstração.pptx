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7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6.xml"/><Relationship Id="rId32" Type="http://schemas.openxmlformats.org/officeDocument/2006/relationships/font" Target="fonts/Robot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6eb0f2c3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6eb0f2c3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21318812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221318812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21318812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21318812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6eb2c741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6eb2c741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21318812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22131881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Explicar que o conceito de classes não possui </a:t>
            </a:r>
            <a:r>
              <a:rPr lang="en"/>
              <a:t>relação</a:t>
            </a:r>
            <a:r>
              <a:rPr lang="en"/>
              <a:t> direta com OO.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9b2a1c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9b2a1c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9b2a1cf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9b2a1cf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21318812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221318812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28c0cd0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128c0cd0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21318812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221318812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21318812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221318812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4eced090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4eced090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6e7cb6291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6e7cb6291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ba5c9d28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ba5c9d28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28c0cd0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128c0cd0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221318812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221318812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21318812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221318812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ed925ac9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4ed925ac9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128c0cd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128c0cd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21318812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221318812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4ed925ac9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4ed925ac9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221318812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221318812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128c0cd0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128c0cd0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ed925ac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4ed925ac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bit.do/eHLEe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hyperlink" Target="mailto:falvojr@gmail.com" TargetMode="External"/><Relationship Id="rId4" Type="http://schemas.openxmlformats.org/officeDocument/2006/relationships/hyperlink" Target="http://bit.ly/3rM7Sqk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ime.usp.br/~kon/MAC5714/aulas/Aula2.htm" TargetMode="External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tiobe.com/tiobe-index/" TargetMode="External"/><Relationship Id="rId4" Type="http://schemas.openxmlformats.org/officeDocument/2006/relationships/hyperlink" Target="https://www.tiobe.com/tiobe-index/" TargetMode="External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tiobe.com/tiobe-index/" TargetMode="External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tiobe.com/tiobe-index/" TargetMode="External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insights.stackoverflow.com/survey/2020#overview" TargetMode="External"/><Relationship Id="rId4" Type="http://schemas.openxmlformats.org/officeDocument/2006/relationships/hyperlink" Target="https://insights.stackoverflow.com/survey/2020#overview" TargetMode="External"/><Relationship Id="rId5" Type="http://schemas.openxmlformats.org/officeDocument/2006/relationships/hyperlink" Target="https://insights.stackoverflow.com/survey/2020#overview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tnetfiddle.net/OwtEka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tnetfiddle.net/aEIwfs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tnetfiddle.net/c2vrz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PROGRAMAÇÃO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ORIENTADA A OBJETOS I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Abstração</a:t>
            </a:r>
            <a:endParaRPr b="1" sz="1800"/>
          </a:p>
        </p:txBody>
      </p:sp>
      <p:sp>
        <p:nvSpPr>
          <p:cNvPr id="87" name="Google Shape;87;p13"/>
          <p:cNvSpPr txBox="1"/>
          <p:nvPr/>
        </p:nvSpPr>
        <p:spPr>
          <a:xfrm>
            <a:off x="598100" y="4406850"/>
            <a:ext cx="3696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Disponível em: </a:t>
            </a:r>
            <a:r>
              <a:rPr b="1" lang="en" sz="18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bit.do/eHLEe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172475" y="3250725"/>
            <a:ext cx="1647600" cy="158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1088" y="3340087"/>
            <a:ext cx="1410375" cy="141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Google Classroom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/>
              <a:t>4x6xngo</a:t>
            </a:r>
            <a:endParaRPr b="1" sz="7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Conteúdo Programático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u="sng"/>
              <a:t>Abstração</a:t>
            </a:r>
            <a:endParaRPr b="1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Linguagem C#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Encapsulamento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Herança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Polimorfismo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Padrões de Projeto (Visão Geral)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Persistência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Plataforma .NET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Critérios de Avaliação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Média do Semestre (MS)</a:t>
            </a:r>
            <a:r>
              <a:rPr lang="en"/>
              <a:t> será obtida por meio de provas, bem como pela participação do aluno durante as aulas e demais atividades.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NP1</a:t>
            </a:r>
            <a:r>
              <a:rPr lang="en"/>
              <a:t>: conteúdo programático até </a:t>
            </a:r>
            <a:r>
              <a:rPr b="1" i="1" lang="en"/>
              <a:t>3. Encapsulamento</a:t>
            </a:r>
            <a:r>
              <a:rPr lang="en"/>
              <a:t>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NP2</a:t>
            </a:r>
            <a:r>
              <a:rPr lang="en"/>
              <a:t>: conteúdo programático até </a:t>
            </a:r>
            <a:r>
              <a:rPr b="1" i="1" lang="en"/>
              <a:t>6. Padrões de Projeto</a:t>
            </a:r>
            <a:r>
              <a:rPr lang="en"/>
              <a:t>.</a:t>
            </a:r>
            <a:endParaRPr/>
          </a:p>
          <a:p>
            <a:pPr indent="0" lvl="0" marL="45720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MS = (NP1 * 0.4) + (NP2 * 0.4) + (PIM * 0.2)</a:t>
            </a:r>
            <a:endParaRPr b="1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Para a aprovação, a MS deverá ser igual ou superior a 5.0. Lembrando que é exigida a frequência mínima de 75%.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265500" y="724200"/>
            <a:ext cx="4045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Venilton FalvoJr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falvojr@gmail.com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</a:rPr>
              <a:t>@falvojr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Repositório: </a:t>
            </a:r>
            <a:r>
              <a:rPr b="1" lang="en" sz="2100" u="sng">
                <a:solidFill>
                  <a:schemeClr val="hlink"/>
                </a:solidFill>
                <a:hlinkClick r:id="rId4"/>
              </a:rPr>
              <a:t>bit.ly/3rM7Sqk</a:t>
            </a:r>
            <a:endParaRPr sz="3000"/>
          </a:p>
        </p:txBody>
      </p:sp>
      <p:sp>
        <p:nvSpPr>
          <p:cNvPr id="112" name="Google Shape;112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Estudante de Doutorado na USP, onde contribui junto ao LabES do ICMC, campus de São Carlos.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Possui experiência sólida na área de desenvolvimento de software, com ênfase na análise, construção e arquitetura de aplicações Web e Mobile. Além disso, é certificado nas plataformas Java, Android e .NET.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é OO?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Orientação a Objetos (OO)</a:t>
            </a:r>
            <a:r>
              <a:rPr lang="en"/>
              <a:t>, em uma definição formal, é um paradigma de análise, projeto e programação de sistemas de software baseado na composição e interação entre diversas unidades de software chamadas de objetos.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 OO visa um pensamento o mais próximo possível da vida real. Ao programar OO não teremos apenas funções que são chamadas uma seguida da outra, mas sim </a:t>
            </a:r>
            <a:r>
              <a:rPr b="1" lang="en"/>
              <a:t>objetos</a:t>
            </a:r>
            <a:r>
              <a:rPr lang="en"/>
              <a:t> que encapsulam </a:t>
            </a:r>
            <a:r>
              <a:rPr b="1" lang="en"/>
              <a:t>atributos</a:t>
            </a:r>
            <a:r>
              <a:rPr lang="en"/>
              <a:t> (características) e </a:t>
            </a:r>
            <a:r>
              <a:rPr b="1" lang="en"/>
              <a:t>métodos</a:t>
            </a:r>
            <a:r>
              <a:rPr lang="en"/>
              <a:t> (ações ou comportamentos).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é um Paradigma?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Quando uma linguagem de programação é criada, a partir das suas características, ela é categorizada em um ou mais paradigmas.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O paradigma de uma linguagem de programação é a sua identidade. </a:t>
            </a:r>
            <a:r>
              <a:rPr b="1" lang="en"/>
              <a:t>Corresponde a um conjunto de características</a:t>
            </a:r>
            <a:r>
              <a:rPr lang="en"/>
              <a:t> que, juntas, definem como ela opera e resolve os problemas. Algumas linguagens, inclusive, possuem mais de um paradigma, são as chamadas </a:t>
            </a:r>
            <a:r>
              <a:rPr b="1" lang="en"/>
              <a:t>multi-paradigmas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Principais </a:t>
            </a:r>
            <a:r>
              <a:rPr lang="en"/>
              <a:t>Paradigmas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Alguns dos principais paradigmas utilizados hoje no mercado:</a:t>
            </a:r>
            <a:endParaRPr/>
          </a:p>
          <a:p>
            <a:pPr indent="-342900" lvl="0" marL="457200" rtl="0" algn="just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Funcional </a:t>
            </a:r>
            <a:r>
              <a:rPr lang="en"/>
              <a:t>(F# , Lisp, Heskell, PHP etc)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Lógico </a:t>
            </a:r>
            <a:r>
              <a:rPr lang="en"/>
              <a:t>(Prolog)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Declarativo </a:t>
            </a:r>
            <a:r>
              <a:rPr lang="en"/>
              <a:t>(HTML, XML, XSLT, XAML etc)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Imperativo </a:t>
            </a:r>
            <a:r>
              <a:rPr lang="en"/>
              <a:t>(C, C++, PHP, Perl, C#, Ruby etc)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Orientado a Objetos</a:t>
            </a:r>
            <a:r>
              <a:rPr lang="en"/>
              <a:t> (C#, Java, PHP, Ruby, C++, Python etc)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Orientado a Eventos</a:t>
            </a:r>
            <a:r>
              <a:rPr lang="en"/>
              <a:t> (Delphi, Visual Basic, C#, Python, Java etc)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surgiu a POO?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 termo </a:t>
            </a:r>
            <a:r>
              <a:rPr b="1" lang="en"/>
              <a:t>Programação Orientada a Objetos (POO)</a:t>
            </a:r>
            <a:r>
              <a:rPr lang="en"/>
              <a:t> foi criado por </a:t>
            </a:r>
            <a:r>
              <a:rPr b="1" lang="en"/>
              <a:t>Alan Kay</a:t>
            </a:r>
            <a:r>
              <a:rPr lang="en"/>
              <a:t>, autor da linguagem de programação </a:t>
            </a:r>
            <a:r>
              <a:rPr b="1" lang="en"/>
              <a:t>Smalltalk</a:t>
            </a:r>
            <a:r>
              <a:rPr lang="en"/>
              <a:t>. Mas mesmo antes da criação do Smalltalk, algumas das idéias da POO já eram aplicadas, sendo que a primeira linguagem a realmente utilizar estas idéias foi a linguagem </a:t>
            </a:r>
            <a:r>
              <a:rPr b="1" lang="en"/>
              <a:t>Simula 67</a:t>
            </a:r>
            <a:r>
              <a:rPr lang="en"/>
              <a:t>, criada por Ole-Johan Dahl e Kristen Nygaard em 1967. Entretanto só veio a ser aceito realmente nas grandes empresas de desenvolvimento de software por volta dos anos 90.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Analogia A</a:t>
            </a:r>
            <a:r>
              <a:rPr lang="en"/>
              <a:t>lgébrico-Biológica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Alan Kay formulou uma interessante analogia para o conceito de POO. Segundo ele, um sistema ideal deveria funcionar como um </a:t>
            </a:r>
            <a:r>
              <a:rPr b="1" lang="en"/>
              <a:t>organismo vivo</a:t>
            </a:r>
            <a:r>
              <a:rPr lang="en"/>
              <a:t>, isto é, cada "</a:t>
            </a:r>
            <a:r>
              <a:rPr b="1" lang="en"/>
              <a:t>célula</a:t>
            </a:r>
            <a:r>
              <a:rPr lang="en"/>
              <a:t>" deveria relacionando-se com outras células a fim de alcançar um objetivo, entretanto, funcionando de forma </a:t>
            </a:r>
            <a:r>
              <a:rPr b="1" lang="en"/>
              <a:t>autônoma</a:t>
            </a:r>
            <a:r>
              <a:rPr lang="en"/>
              <a:t>. As células poderiam também reagrupar-se para resolver outros problemas ou desempenhar outras funções, </a:t>
            </a:r>
            <a:r>
              <a:rPr b="1" lang="en"/>
              <a:t>trocando mensagens</a:t>
            </a:r>
            <a:r>
              <a:rPr lang="en"/>
              <a:t> "químicas" entre elas.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Histórico/Evolução das linguagens até o C#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Referência: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https://www.ime.usp.br/~kon/MAC5714/aulas/Aula2.htm</a:t>
            </a:r>
            <a:endParaRPr sz="1100"/>
          </a:p>
        </p:txBody>
      </p:sp>
      <p:pic>
        <p:nvPicPr>
          <p:cNvPr id="148" name="Google Shape;14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513" y="177925"/>
            <a:ext cx="8162970" cy="39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Ranking TIOBE de Linguagens de Programação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Referência: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https://www.tiobe.com/tiobe-inde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x</a:t>
            </a:r>
            <a:endParaRPr sz="1100"/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8839201" cy="3667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Ranking TIOBE de Linguagens de Programação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Referência: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https://www.tiobe.com/tiobe-index</a:t>
            </a:r>
            <a:endParaRPr sz="1100"/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667750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Ranking TIOBE de Linguagens de Programação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Referência: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https://www.tiobe.com/tiobe-index</a:t>
            </a:r>
            <a:endParaRPr sz="1100"/>
          </a:p>
        </p:txBody>
      </p:sp>
      <p:pic>
        <p:nvPicPr>
          <p:cNvPr id="166" name="Google Shape;16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696325" cy="3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490250" y="526350"/>
            <a:ext cx="7640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 u="sng">
                <a:hlinkClick r:id="rId3"/>
              </a:rPr>
              <a:t>Survey </a:t>
            </a:r>
            <a:r>
              <a:rPr b="1" lang="en" sz="4600" u="sng">
                <a:hlinkClick r:id="rId4"/>
              </a:rPr>
              <a:t>StackOverflow</a:t>
            </a:r>
            <a:r>
              <a:rPr lang="en" sz="4600" u="sng">
                <a:hlinkClick r:id="rId5"/>
              </a:rPr>
              <a:t> 2020</a:t>
            </a:r>
            <a:endParaRPr sz="4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Abstração</a:t>
            </a:r>
            <a:endParaRPr/>
          </a:p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Segundo o dicionário Aurélio, abstrair significa s</a:t>
            </a:r>
            <a:r>
              <a:rPr lang="en"/>
              <a:t>eparar mentalmente uma parte de um todo, considerando-a assim independente das outras.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Em POO, abstração é a habilidade de </a:t>
            </a:r>
            <a:r>
              <a:rPr b="1" lang="en"/>
              <a:t>concentrar-se nos aspectos essenciais de um domínio</a:t>
            </a:r>
            <a:r>
              <a:rPr lang="en"/>
              <a:t>, ignorando características menos importantes ou acidentais. Nesse contexto, </a:t>
            </a:r>
            <a:r>
              <a:rPr b="1" lang="en"/>
              <a:t>objetos são abstrações de entidades</a:t>
            </a:r>
            <a:r>
              <a:rPr lang="en"/>
              <a:t> existentes no domínio em questão.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que, assim como em um jogo de RPG, existam raças (</a:t>
            </a:r>
            <a:r>
              <a:rPr b="1" lang="en"/>
              <a:t>tipos</a:t>
            </a:r>
            <a:r>
              <a:rPr lang="en"/>
              <a:t>) e todos nós sejamos humanos. Segundo nossas regras, é de bom grado que um humano execute a </a:t>
            </a:r>
            <a:r>
              <a:rPr b="1" lang="en"/>
              <a:t>ação</a:t>
            </a:r>
            <a:r>
              <a:rPr lang="en"/>
              <a:t> de apresentar-se a outro quando solicitado. Para isso, cada humano possui as seguintes </a:t>
            </a:r>
            <a:r>
              <a:rPr b="1" lang="en"/>
              <a:t>características</a:t>
            </a:r>
            <a:r>
              <a:rPr lang="en"/>
              <a:t>:</a:t>
            </a:r>
            <a:endParaRPr/>
          </a:p>
          <a:p>
            <a:pPr indent="-342900" lvl="0" marL="457200" rtl="0" algn="just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Nome;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Idade;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Objetivos.</a:t>
            </a:r>
            <a:endParaRPr/>
          </a:p>
        </p:txBody>
      </p:sp>
      <p:sp>
        <p:nvSpPr>
          <p:cNvPr id="183" name="Google Shape;183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1 (Abstração)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1 (Implementação em C)</a:t>
            </a:r>
            <a:endParaRPr/>
          </a:p>
        </p:txBody>
      </p:sp>
      <p:sp>
        <p:nvSpPr>
          <p:cNvPr id="189" name="Google Shape;189;p30"/>
          <p:cNvSpPr txBox="1"/>
          <p:nvPr/>
        </p:nvSpPr>
        <p:spPr>
          <a:xfrm>
            <a:off x="311700" y="1557100"/>
            <a:ext cx="85206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*nome, *objetivos;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idade;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nome = "Venilton Falvo Júnior";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idade = 31;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objetivos  = "ensinar POO";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printf("Olá meu nome é %s", nome);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printf(", tenho %i anos", idade);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printf(" e meu objetivo é %s.", objetivos);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1 (Implementação em C#)</a:t>
            </a:r>
            <a:endParaRPr/>
          </a:p>
        </p:txBody>
      </p:sp>
      <p:sp>
        <p:nvSpPr>
          <p:cNvPr id="195" name="Google Shape;195;p31"/>
          <p:cNvSpPr txBox="1"/>
          <p:nvPr/>
        </p:nvSpPr>
        <p:spPr>
          <a:xfrm>
            <a:off x="311700" y="1557100"/>
            <a:ext cx="85206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dotnetfiddle.net/OwtEka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 um cenário hipotético, imagine que você é cliente de um banco, possui R$100,00 de saldo e deseja realizar as seguintes </a:t>
            </a:r>
            <a:r>
              <a:rPr b="1" lang="en"/>
              <a:t>ações</a:t>
            </a:r>
            <a:r>
              <a:rPr lang="en"/>
              <a:t> na sua conta corrente:</a:t>
            </a:r>
            <a:endParaRPr/>
          </a:p>
          <a:p>
            <a:pPr indent="-342900" lvl="0" marL="457200" rtl="0" algn="just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Saque de R$10.00;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Saque de R$50.00;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Depósito de R$10.00;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Impressão do extrato.</a:t>
            </a:r>
            <a:endParaRPr/>
          </a:p>
        </p:txBody>
      </p:sp>
      <p:sp>
        <p:nvSpPr>
          <p:cNvPr id="201" name="Google Shape;201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2 (Abstração)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2 (</a:t>
            </a:r>
            <a:r>
              <a:rPr lang="en"/>
              <a:t>Implementação</a:t>
            </a:r>
            <a:r>
              <a:rPr lang="en"/>
              <a:t> em C)</a:t>
            </a:r>
            <a:endParaRPr/>
          </a:p>
        </p:txBody>
      </p:sp>
      <p:sp>
        <p:nvSpPr>
          <p:cNvPr id="207" name="Google Shape;207;p33"/>
          <p:cNvSpPr txBox="1"/>
          <p:nvPr/>
        </p:nvSpPr>
        <p:spPr>
          <a:xfrm>
            <a:off x="311700" y="1557100"/>
            <a:ext cx="85206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saldo;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saldo = 100;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saldo = saldo - 10;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saldo = saldo - 50;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saldo = saldo + 10;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printf("%.2f", saldo);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2 (Implementação em C#)</a:t>
            </a:r>
            <a:endParaRPr/>
          </a:p>
        </p:txBody>
      </p:sp>
      <p:sp>
        <p:nvSpPr>
          <p:cNvPr id="213" name="Google Shape;213;p34"/>
          <p:cNvSpPr txBox="1"/>
          <p:nvPr/>
        </p:nvSpPr>
        <p:spPr>
          <a:xfrm>
            <a:off x="311700" y="1557100"/>
            <a:ext cx="85206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dotnetfiddle.net/aEIwfs</a:t>
            </a:r>
            <a:endParaRPr sz="4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 um cenário hipotético, imagine que você tenha de cadastrar seus dados pessoais e endereço para efetuar a compra de um jogo (na Steam por exemplo). Nesse cenário, os seguintes </a:t>
            </a:r>
            <a:r>
              <a:rPr b="1" lang="en"/>
              <a:t>atributos</a:t>
            </a:r>
            <a:r>
              <a:rPr lang="en"/>
              <a:t> são obrigatórios:</a:t>
            </a:r>
            <a:endParaRPr/>
          </a:p>
          <a:p>
            <a:pPr indent="-342900" lvl="0" marL="457200" rtl="0" algn="just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Nome;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CPF;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CEP;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Logradouro;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Número.</a:t>
            </a:r>
            <a:endParaRPr/>
          </a:p>
        </p:txBody>
      </p:sp>
      <p:sp>
        <p:nvSpPr>
          <p:cNvPr id="219" name="Google Shape;219;p3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3 (Abstração)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3 (</a:t>
            </a:r>
            <a:r>
              <a:rPr lang="en"/>
              <a:t>Implementação</a:t>
            </a:r>
            <a:r>
              <a:rPr lang="en"/>
              <a:t> em C)</a:t>
            </a:r>
            <a:endParaRPr/>
          </a:p>
        </p:txBody>
      </p:sp>
      <p:sp>
        <p:nvSpPr>
          <p:cNvPr id="225" name="Google Shape;225;p36"/>
          <p:cNvSpPr txBox="1"/>
          <p:nvPr/>
        </p:nvSpPr>
        <p:spPr>
          <a:xfrm>
            <a:off x="311700" y="1557100"/>
            <a:ext cx="85206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*nome, *cpf, *logradouro;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cep, numero;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nome = "Venilton Falvo Júnior";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cpf = "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777.777.777-77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";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cep = 14801788;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logradouro = "Av. Paulino Rodella";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numero = 1234;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printf("Dados armazenados com sucesso!");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3 (</a:t>
            </a:r>
            <a:r>
              <a:rPr lang="en"/>
              <a:t>Implementação</a:t>
            </a:r>
            <a:r>
              <a:rPr lang="en"/>
              <a:t> em C#)</a:t>
            </a:r>
            <a:endParaRPr/>
          </a:p>
        </p:txBody>
      </p:sp>
      <p:sp>
        <p:nvSpPr>
          <p:cNvPr id="231" name="Google Shape;231;p37"/>
          <p:cNvSpPr txBox="1"/>
          <p:nvPr/>
        </p:nvSpPr>
        <p:spPr>
          <a:xfrm>
            <a:off x="311700" y="1557100"/>
            <a:ext cx="85206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dotnetfiddle.net/c2vrzd</a:t>
            </a:r>
            <a:endParaRPr sz="4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