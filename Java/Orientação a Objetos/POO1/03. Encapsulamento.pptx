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A535CAB-B8BB-4176-BAA7-46D5DC6F86AB}">
  <a:tblStyle styleId="{CA535CAB-B8BB-4176-BAA7-46D5DC6F86A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eb3b96461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eb3b96461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2131881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2131881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0715fbe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0715fbe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50715fbe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50715fbe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0715fbe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0715fbe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0715fbe8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0715fbe8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0715fbe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0715fbe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50715fbe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50715fbe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50715fbe8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50715fbe8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50715fbe8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50715fbe8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50715fbe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50715fbe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Hoje em dia, as pessoas estão acostumadas com os celulares. Os botões, a tela e os menus de um celular formam a interface de uso do mesmo. Em outras palavras, o usuário interage com esses aparelhos através dos botões, da tela e dos menus. Os dispositivos internos de um celular e os processos que transformam o som capturado pelo microfone em ondas que podem ser transmitidas para uma antena da operadora de telefonia móvel constituem a implementação do celular.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Do ponto de vista do usuário de um celular, para fazer uma ligação, basta digitar o número do telefone desejado e clicar no botão que efetua a ligação. Porém, diversos processos complexos são realizados pelo aparelho para que as pessoas possam conversar através dele. Se os usuários tivessem que possuir conhecimento de todo o funcionamento interno dos celulares, certamente a maioria das pessoas não os utilizariam.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 contexto da orientação a objetos, aplicamos o encapsulamento para criar objetos mais simples de serem utilizados em qualquer parte do sistema.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50715fbe8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50715fbe8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interface de uso de um carro é composta pelos dispositivos que permitem que o motorista conduza o veículo (volante, pedais, alavanca do câmbio, etc).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A implementação do carro é composta pelos dispositivos internos (motor, caixa de câmbio, radiador, sistema de injeção eletrônica ou carburador, etc) e pelos processos realizados internamente por esses dispositivos. Nos carros mais antigos, o dispositivo interno que leva o combustível para o motor é o carburador.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Nos carros mais novos, o carburador foi substituído pelo sistema de injeção eletrônica. Inclusive, algumas oficinas especializadas substituem o carburador pelo sistema de injeção eletrônica. Essa alteração na implementação do carro não afeta a maneira que o motorista dirige. Todo mundo que sabe dirigir um carro com carburador também sabe dirigir um carro com injeção eletrônica.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Hoje em dia, as montadoras fabricam veículos com câmbio mecânico ou automático. O motorista acostumado a dirigir carros com câmbio mecânico pode ter dificuldade para dirigir carros com câmbio automático e vice-versa. Quando a interface de uso do carro é alterada, a maneira de dirigir é afetada, fazendo com que as pessoas que sabem dirigir tenham que se adaptar.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No contexto da orientação a objetos, aplicando o conceito do encapsulamento, as implementações dos objetos ficam “escondidas”. Dessa forma, podemos modificá-las sem afetar a maneira de utilizar esses objetos. Por outro lado, se alterarmos a interface de uso que está exposta, afetaremos a maneira de usar os objetos.</a:t>
            </a:r>
            <a:endParaRPr sz="12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Roboto"/>
                <a:ea typeface="Roboto"/>
                <a:cs typeface="Roboto"/>
                <a:sym typeface="Roboto"/>
              </a:rPr>
              <a:t>Considere, por exemplo, a mudança do nome de um método público. Todas as chamadas a esse método devem ser alteradas, o que pode causar diversos efeitos colaterais nas classes da aplicação.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50715fbe8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50715fbe8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50715fbe8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50715fbe8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50715fbe8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50715fbe8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0715fbe8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0715fbe8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0715fbe8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0715fbe8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50715fbe8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50715fbe8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50715fbe8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50715fbe8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50715fbe8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50715fbe8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50715fbe8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50715fbe8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5cbaf7c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5cbaf7c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5cbaf7cc4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5cbaf7cc4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716016f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716016f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HLHt" TargetMode="External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://bit.ly/3rM7Sq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</a:t>
            </a:r>
            <a:r>
              <a:rPr lang="en"/>
              <a:t>Encapsulamento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bit.do/eHLHt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72475" y="3250725"/>
            <a:ext cx="1647600" cy="158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82237" y="3331250"/>
            <a:ext cx="1428075" cy="142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Abstração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Linguagem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Encapsulamento</a:t>
            </a:r>
            <a:endParaRPr b="1" u="sng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Herança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Polimorfismo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 (Visão Geral)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Plataforma .NET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bit.ly/3rM7Sqk</a:t>
            </a:r>
            <a:endParaRPr sz="3000"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Java, Android e .NET.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Atributos Privados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Um atributo privado só pode ser acessado ou alterado por código escrito dentro da classe na qual ele foi definido, para isso basta acrescentar o modificador de acesso private. </a:t>
            </a:r>
            <a:r>
              <a:rPr lang="en"/>
              <a:t>Se algum código fora de sua classe tentar acessar ou alterar o valor desse atributo privado, um erro de compilação será gerado.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Com isso, podemos obter um </a:t>
            </a:r>
            <a:r>
              <a:rPr b="1" lang="en"/>
              <a:t>controle centralizado</a:t>
            </a:r>
            <a:r>
              <a:rPr lang="en"/>
              <a:t> dos atributos privados </a:t>
            </a:r>
            <a:r>
              <a:rPr b="1" lang="en"/>
              <a:t>através de métodos</a:t>
            </a:r>
            <a:r>
              <a:rPr lang="en"/>
              <a:t> para implementação de todas as lógicas que utilizam ou modificam o valor desses atributos.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Atributos Privados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Definir todos os atributos como privados e métodos para implementar as lógicas de acesso e alteração é quase uma regra da orientação a objetos. O intuito é ter sempre um </a:t>
            </a:r>
            <a:r>
              <a:rPr b="1" lang="en"/>
              <a:t>controle centralizado dos dados dos objetos para facilitar a manutenção do sistema e a detecção de erros.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Atributos Privados</a:t>
            </a:r>
            <a:endParaRPr/>
          </a:p>
        </p:txBody>
      </p:sp>
      <p:sp>
        <p:nvSpPr>
          <p:cNvPr id="119" name="Google Shape;119;p1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Conta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 saldo;</a:t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Conta(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saldo)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lang="en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.saldo = saldo;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 Privados</a:t>
            </a:r>
            <a:endParaRPr/>
          </a:p>
        </p:txBody>
      </p:sp>
      <p:sp>
        <p:nvSpPr>
          <p:cNvPr id="125" name="Google Shape;125;p1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 papel de alguns métodos pode ser o de </a:t>
            </a:r>
            <a:r>
              <a:rPr b="1" lang="en"/>
              <a:t>auxiliar outros métodos da mesma classe</a:t>
            </a:r>
            <a:r>
              <a:rPr lang="en"/>
              <a:t>. E muitas vezes, não é correto chamar esses métodos auxiliares de fora da sua classe diretamente.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Para garantir que métodos auxiliares não sejam chamados por código escrito fora da classe na qual eles foram definidos, podemos torná-los privados, acrescentando o </a:t>
            </a:r>
            <a:r>
              <a:rPr b="1" lang="en"/>
              <a:t>modificador private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Métodos</a:t>
            </a:r>
            <a:r>
              <a:rPr lang="en"/>
              <a:t> Privados</a:t>
            </a:r>
            <a:endParaRPr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Depositar(</a:t>
            </a: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valor)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saldo += valor;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DescontarTarifa();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Sacar(</a:t>
            </a: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double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valor) 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saldo -= valor;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DescontarTarifa();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 void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 DescontarTarifa() 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saldo -= 0.10;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Implementação e Interface de Uso</a:t>
            </a:r>
            <a:endParaRPr/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Dentro de um sistema orientado a objetos, cada objeto realiza um conjunto de tarefas de acordo com as suas responsabilidades.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Para descobrir o que um objeto pode fazer, basta olhar para as assinaturas dos métodos públicos definidos na classe desse objeto. </a:t>
            </a:r>
            <a:r>
              <a:rPr b="1" lang="en"/>
              <a:t>A assinatura de um método é composta pelo seu nome e seus parâmetros. As assinaturas dos métodos públicos de um objeto formam a sua interface de uso.</a:t>
            </a:r>
            <a:endParaRPr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Implementação e Interface de Uso</a:t>
            </a:r>
            <a:endParaRPr/>
          </a:p>
        </p:txBody>
      </p:sp>
      <p:sp>
        <p:nvSpPr>
          <p:cNvPr id="143" name="Google Shape;143;p2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Por outro lado, para descobrir como um objeto de uma classe realiza as suas operações, devemos observar o corpo de cada um de seus métodos. </a:t>
            </a:r>
            <a:r>
              <a:rPr b="1" lang="en"/>
              <a:t>Os corpos dos métodos constituem a implementação das operações dos objetos.</a:t>
            </a:r>
            <a:endParaRPr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Encapsulamento</a:t>
            </a:r>
            <a:endParaRPr/>
          </a:p>
        </p:txBody>
      </p:sp>
      <p:sp>
        <p:nvSpPr>
          <p:cNvPr id="149" name="Google Shape;149;p2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Uma das ideias mais importantes da orientação a objetos é o encapsulamento. </a:t>
            </a:r>
            <a:r>
              <a:rPr b="1" lang="en"/>
              <a:t>Encapsular significa esconder a implementação dos objetos.</a:t>
            </a:r>
            <a:r>
              <a:rPr lang="en"/>
              <a:t> </a:t>
            </a:r>
            <a:r>
              <a:rPr b="1" lang="en"/>
              <a:t>O encapsulamento favorece principalmente dois aspectos de um sistema: a manutenção e a evolução.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manutenção</a:t>
            </a:r>
            <a:r>
              <a:rPr lang="en"/>
              <a:t> é favorecida pois, uma vez aplicado o encapsulamento, </a:t>
            </a:r>
            <a:r>
              <a:rPr b="1" lang="en"/>
              <a:t>quando o funcionamento de um objeto deve ser alterado, em geral, basta modificar a classe do mesmo.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Encapsulamento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</a:t>
            </a:r>
            <a:r>
              <a:rPr b="1" lang="en"/>
              <a:t>evolução</a:t>
            </a:r>
            <a:r>
              <a:rPr lang="en"/>
              <a:t> é favorecida pois, uma vez aplicado o encapsulamento, </a:t>
            </a:r>
            <a:r>
              <a:rPr b="1" lang="en"/>
              <a:t>conseguimos determinar precisamente as responsabilidades de cada classe da aplicação.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 conceito de encapsulamento pode ser identificado em diversos exemplos do cotidiano.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Encapsulamento (Analogia)</a:t>
            </a:r>
            <a:endParaRPr/>
          </a:p>
        </p:txBody>
      </p:sp>
      <p:pic>
        <p:nvPicPr>
          <p:cNvPr id="161" name="Google Shape;16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242300"/>
            <a:ext cx="8839200" cy="3559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Encapsulamento (Analogia)</a:t>
            </a:r>
            <a:endParaRPr/>
          </a:p>
        </p:txBody>
      </p:sp>
      <p:pic>
        <p:nvPicPr>
          <p:cNvPr id="167" name="Google Shape;16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38450"/>
            <a:ext cx="8839198" cy="33920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Acessando ou Modificando Atributos</a:t>
            </a:r>
            <a:endParaRPr/>
          </a:p>
        </p:txBody>
      </p:sp>
      <p:sp>
        <p:nvSpPr>
          <p:cNvPr id="173" name="Google Shape;173;p2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Aplicando a ideia do encapsulamento, os atributos deveriam ser todos privados.</a:t>
            </a:r>
            <a:r>
              <a:rPr lang="en"/>
              <a:t> Consequentemente, os atributos não podem ser acessados ou modificados por código escrito fora da classe na qual eles foram definidos.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Porém, muitas vezes, as </a:t>
            </a:r>
            <a:r>
              <a:rPr b="1" lang="en"/>
              <a:t>informações armazenadas nos atributos precisam ser consultadas de qualquer lugar do sistema</a:t>
            </a:r>
            <a:r>
              <a:rPr lang="en"/>
              <a:t>. Nesse caso, podemos disponibilizar métodos para consultar os valores dos atributos.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Acessando ou Modificando Atributos</a:t>
            </a:r>
            <a:endParaRPr/>
          </a:p>
        </p:txBody>
      </p:sp>
      <p:sp>
        <p:nvSpPr>
          <p:cNvPr id="179" name="Google Shape;179;p2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 mesma forma, eventualmente, é necessário </a:t>
            </a:r>
            <a:r>
              <a:rPr b="1" lang="en"/>
              <a:t>modificar o valor de um atributo</a:t>
            </a:r>
            <a:r>
              <a:rPr lang="en"/>
              <a:t> </a:t>
            </a:r>
            <a:r>
              <a:rPr b="1" lang="en"/>
              <a:t>a partir de qualquer lugar do sistema</a:t>
            </a:r>
            <a:r>
              <a:rPr lang="en"/>
              <a:t>. Nesse caso, também poderíamos criar um método para essa tarefa.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1000"/>
              </a:spcAft>
              <a:buNone/>
            </a:pPr>
            <a:r>
              <a:rPr lang="en"/>
              <a:t>Nessa situação, podemos definir os dois métodos discutidos anteriormente (um de leitura e outro de escrita). Mas, o que é melhor? Criar os dois métodos ou deixar o atributo público?</a:t>
            </a:r>
            <a:endParaRPr b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Acessando ou Modificando Atributos (Analogia)</a:t>
            </a:r>
            <a:endParaRPr/>
          </a:p>
        </p:txBody>
      </p:sp>
      <p:sp>
        <p:nvSpPr>
          <p:cNvPr id="185" name="Google Shape;185;p29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Quando queremos consultar a quantidade de combustível de um automóvel, olhamos o painel ou abrimos o tanque de combustível?</a:t>
            </a:r>
            <a:endParaRPr b="1"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just">
              <a:spcBef>
                <a:spcPts val="10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Quando queremos alterar o toque da campainha de um celular, utilizamos os menus do celular ou desmontamos o aparelho?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Acessando ou Modificando Atributos</a:t>
            </a:r>
            <a:endParaRPr/>
          </a:p>
        </p:txBody>
      </p:sp>
      <p:sp>
        <p:nvSpPr>
          <p:cNvPr id="191" name="Google Shape;191;p30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"/>
              <a:t>Acessar ou modificar as propriedades de um objeto manipulando diretamente os seus atributos é uma abordagem que normalmente gera problemas. Por isso, é mais seguro para a integridade dos objetos e, consequentemente, para a integridade da aplicação, que esse acesso ou essa modificação sejas realizados através de métodos do objeto.</a:t>
            </a:r>
            <a:r>
              <a:rPr lang="en"/>
              <a:t> Utilizando métodos, podemos controlar como as alterações e as consultas são realizadas. Ou seja, temos um controle maior.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e Setters</a:t>
            </a:r>
            <a:endParaRPr/>
          </a:p>
        </p:txBody>
      </p:sp>
      <p:sp>
        <p:nvSpPr>
          <p:cNvPr id="197" name="Google Shape;197;p3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linguagem C#, há uma convenção de nomenclatura para os métodos que têm como finalidade acessar ou alterar as propriedades de um objeto.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Segundo essa convenção, os nomes dos métodos que permitem a </a:t>
            </a:r>
            <a:r>
              <a:rPr b="1" lang="en"/>
              <a:t>consulta das propriedades de um objeto devem possuir o prefixo Get</a:t>
            </a:r>
            <a:r>
              <a:rPr lang="en"/>
              <a:t>. 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Analogamente, os nomes dos métodos que permitem a </a:t>
            </a:r>
            <a:r>
              <a:rPr b="1" lang="en"/>
              <a:t>alteração das propriedades de um objeto devem possuir o prefixo Set</a:t>
            </a:r>
            <a:r>
              <a:rPr lang="en"/>
              <a:t>.</a:t>
            </a:r>
            <a:endParaRPr b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e Setters</a:t>
            </a:r>
            <a:endParaRPr/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 maioria dos casos, é muito conveniente seguir as convenções de uma linguagem, pois seus desenvolvedores já estão acostumados com essas regras de nomenclatura e o funcionamento de muitas bibliotecas dependem fortemente desses padrões.</a:t>
            </a:r>
            <a:endParaRPr b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e Setters (Atributos)</a:t>
            </a:r>
            <a:endParaRPr/>
          </a:p>
        </p:txBody>
      </p:sp>
      <p:sp>
        <p:nvSpPr>
          <p:cNvPr id="209" name="Google Shape;209;p33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Pessoa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 String nome;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GetNome()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 nome;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 void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SetNome(String nome)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		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.nome = nome;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e Setters (Propriedades)</a:t>
            </a:r>
            <a:endParaRPr/>
          </a:p>
        </p:txBody>
      </p:sp>
      <p:sp>
        <p:nvSpPr>
          <p:cNvPr id="215" name="Google Shape;215;p3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Pessoa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 String Nome 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 nome;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set 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{ nome = 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; 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b="1"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Propriedades devem ser definidas com a primeira letra maiúscula.</a:t>
            </a:r>
            <a:endParaRPr i="1" sz="16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Getters e Setters (Propriedades </a:t>
            </a:r>
            <a:r>
              <a:rPr lang="en"/>
              <a:t>Padrão</a:t>
            </a:r>
            <a:r>
              <a:rPr lang="en"/>
              <a:t>)</a:t>
            </a:r>
            <a:endParaRPr/>
          </a:p>
        </p:txBody>
      </p:sp>
      <p:sp>
        <p:nvSpPr>
          <p:cNvPr id="221" name="Google Shape;221;p3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 Pessoa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 String Nome { 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; </a:t>
            </a:r>
            <a:r>
              <a:rPr b="1" lang="en" sz="1600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set</a:t>
            </a:r>
            <a:r>
              <a:rPr b="1" lang="en" sz="1600">
                <a:latin typeface="Consolas"/>
                <a:ea typeface="Consolas"/>
                <a:cs typeface="Consolas"/>
                <a:sym typeface="Consolas"/>
              </a:rPr>
              <a:t>; } </a:t>
            </a:r>
            <a:r>
              <a:rPr lang="en" sz="1600">
                <a:solidFill>
                  <a:srgbClr val="38761D"/>
                </a:solidFill>
                <a:latin typeface="Consolas"/>
                <a:ea typeface="Consolas"/>
                <a:cs typeface="Consolas"/>
                <a:sym typeface="Consolas"/>
              </a:rPr>
              <a:t>// C# 6 ou superior</a:t>
            </a:r>
            <a:endParaRPr sz="16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600"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/>
              <a:t>Propriedades devem ser definidas com a primeira letra maiúscula.</a:t>
            </a:r>
            <a:endParaRPr i="1"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</a:t>
            </a:r>
            <a:endParaRPr/>
          </a:p>
        </p:txBody>
      </p:sp>
      <p:sp>
        <p:nvSpPr>
          <p:cNvPr id="227" name="Google Shape;227;p3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Refatore o último exercício da lição anterior (Exercício 8), aplicando os conceitos de Encapsulamento.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  <p:sp>
        <p:nvSpPr>
          <p:cNvPr id="233" name="Google Shape;233;p3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Imagine que uma empresa está interessada em cadastrar seus prestadores de serviços. Tais prestadores podem ser PF ou PJ, com as seguintes </a:t>
            </a:r>
            <a:r>
              <a:rPr lang="en"/>
              <a:t>informações</a:t>
            </a:r>
            <a:r>
              <a:rPr lang="en"/>
              <a:t> (relevantes no domínio em questão):</a:t>
            </a:r>
            <a:endParaRPr/>
          </a:p>
        </p:txBody>
      </p:sp>
      <p:graphicFrame>
        <p:nvGraphicFramePr>
          <p:cNvPr id="234" name="Google Shape;234;p37"/>
          <p:cNvGraphicFramePr/>
          <p:nvPr/>
        </p:nvGraphicFramePr>
        <p:xfrm>
          <a:off x="311700" y="235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{CA535CAB-B8BB-4176-BAA7-46D5DC6F86AB}</a:tableStyleId>
              </a:tblPr>
              <a:tblGrid>
                <a:gridCol w="3439225"/>
                <a:gridCol w="3799775"/>
              </a:tblGrid>
              <a:tr h="2211875">
                <a:tc>
                  <a:txBody>
                    <a:bodyPr/>
                    <a:lstStyle/>
                    <a:p>
                      <a:pPr indent="-3429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Roboto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Pessoa Física (PF):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Nome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CPF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Data de Nascimento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Telefone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CEP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Logradouro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Complemento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342900" lvl="0" marL="4572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800"/>
                        <a:buFont typeface="Roboto"/>
                        <a:buChar char="●"/>
                      </a:pPr>
                      <a:r>
                        <a:rPr lang="en" sz="1800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Pessoa Jurídica (PJ):</a:t>
                      </a:r>
                      <a:endParaRPr sz="1800"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Razão Social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CNPJ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Email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Telefone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CEP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Logradouro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17500" lvl="1" marL="914400" rtl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400"/>
                        <a:buFont typeface="Roboto"/>
                        <a:buChar char="○"/>
                      </a:pPr>
                      <a:r>
                        <a:rPr lang="en">
                          <a:solidFill>
                            <a:schemeClr val="dk2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Complemento</a:t>
                      </a:r>
                      <a:endParaRPr>
                        <a:solidFill>
                          <a:schemeClr val="dk2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>
                          <a:alpha val="0"/>
                        </a:srgbClr>
                      </a:solidFill>
                      <a:prstDash val="dot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3 (Trabalho)</a:t>
            </a:r>
            <a:endParaRPr/>
          </a:p>
        </p:txBody>
      </p:sp>
      <p:sp>
        <p:nvSpPr>
          <p:cNvPr id="240" name="Google Shape;240;p38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Considerando a especificação técnica do PIM, vamos realizar uma abstração inicial do problema. Com isso, construiremos um Diagrama de Classes UML para representar a modelagem das classes da solução.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