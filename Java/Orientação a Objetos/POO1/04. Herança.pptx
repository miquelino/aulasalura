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69A471-FA54-4FCC-8525-C635CE3E8962}">
  <a:tblStyle styleId="{C169A471-FA54-4FCC-8525-C635CE3E896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221318812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221318812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6eb2afee87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6eb2afee87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21318812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221318812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f9cde1d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f9cde1d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f9cde1d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6f9cde1d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f9cde1d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f9cde1d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f9cde1d2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6f9cde1d2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f9cde1d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6f9cde1d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f9cde1d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6f9cde1d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f9cde1d2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6f9cde1d2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f9cde1d2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6f9cde1d2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f9cde1d2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6f9cde1d2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6f9cde1d2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6f9cde1d2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f9cde1d2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f9cde1d2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be47076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8be4707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be47076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8be47076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be47076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8be47076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bit.do/eHLHL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hyperlink" Target="mailto:falvojr@gmail.com" TargetMode="External"/><Relationship Id="rId4" Type="http://schemas.openxmlformats.org/officeDocument/2006/relationships/hyperlink" Target="http://bit.ly/3rM7Sqk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microsoft.com/pt-br/dotnet/csharp/language-reference/keywords/public" TargetMode="External"/><Relationship Id="rId4" Type="http://schemas.openxmlformats.org/officeDocument/2006/relationships/hyperlink" Target="https://docs.microsoft.com/pt-br/dotnet/csharp/language-reference/keywords/protected" TargetMode="External"/><Relationship Id="rId5" Type="http://schemas.openxmlformats.org/officeDocument/2006/relationships/hyperlink" Target="https://docs.microsoft.com/pt-br/dotnet/csharp/language-reference/keywords/private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PROGRAMAÇÃO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ORIENTADA A OBJETOS I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</a:t>
            </a:r>
            <a:r>
              <a:rPr lang="en"/>
              <a:t>Herança</a:t>
            </a:r>
            <a:endParaRPr b="1" sz="1800"/>
          </a:p>
        </p:txBody>
      </p:sp>
      <p:sp>
        <p:nvSpPr>
          <p:cNvPr id="87" name="Google Shape;87;p13"/>
          <p:cNvSpPr txBox="1"/>
          <p:nvPr/>
        </p:nvSpPr>
        <p:spPr>
          <a:xfrm>
            <a:off x="598100" y="4406850"/>
            <a:ext cx="3696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Disponível em: </a:t>
            </a:r>
            <a:r>
              <a:rPr b="1"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bit.do/eHLHL</a:t>
            </a:r>
            <a:endParaRPr b="1"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7172475" y="3250725"/>
            <a:ext cx="1647600" cy="158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62863" y="3311863"/>
            <a:ext cx="1466825" cy="146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Conteúdo Programático</a:t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Abstração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Linguagem C#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Encapsulamento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 u="sng"/>
              <a:t>Herança</a:t>
            </a:r>
            <a:endParaRPr b="1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Polimorfismo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Padrões de Projeto (Visão Geral)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Persistência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Plataforma .NET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265500" y="724200"/>
            <a:ext cx="40452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Venilton FalvoJr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5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falvojr@gmail.com</a:t>
            </a:r>
            <a:endParaRPr b="1" sz="21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5"/>
                </a:solidFill>
              </a:rPr>
              <a:t>@falvojr</a:t>
            </a:r>
            <a:endParaRPr b="1" sz="21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</a:rPr>
              <a:t>Repositório: </a:t>
            </a:r>
            <a:r>
              <a:rPr b="1" lang="en" sz="2100" u="sng">
                <a:solidFill>
                  <a:schemeClr val="hlink"/>
                </a:solidFill>
                <a:hlinkClick r:id="rId4"/>
              </a:rPr>
              <a:t>bit.ly/3rM7Sqk</a:t>
            </a:r>
            <a:endParaRPr sz="3000"/>
          </a:p>
        </p:txBody>
      </p:sp>
      <p:sp>
        <p:nvSpPr>
          <p:cNvPr id="101" name="Google Shape;101;p1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Estudante de Doutorado na USP, onde contribui junto ao LabES do ICMC, campus de São Carlos.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Possui experiência sólida na área de desenvolvimento de software, com ênfase na análise, construção e arquitetura de aplicações Web e Mobile. Além disso, é certificado nas plataformas Java, Android e .NET.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que é Herança?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Herança é um dos atributos fundamentais da programação orientada a objeto. Ela </a:t>
            </a:r>
            <a:r>
              <a:rPr b="1" lang="en"/>
              <a:t>permite que você defina uma classe filha que reutiliza (herda), estende ou modifica o comportamento de uma classe pai</a:t>
            </a:r>
            <a:r>
              <a:rPr lang="en"/>
              <a:t>. A classe cujos membros são herdados é chamada de classe base. A classe que herda os membros da classe base é chamada de classe derivada.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Reutilização de Código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Um dos principais objetivos da Herança é o reaproveitamento de código. Essa ideia está diretamente relacionada ao conceito </a:t>
            </a:r>
            <a:r>
              <a:rPr b="1" lang="en"/>
              <a:t>Don’t Repeat Yourself</a:t>
            </a:r>
            <a:r>
              <a:rPr lang="en"/>
              <a:t>. Em outras palavras, devemos minimizar ao máximo a utilização do “copiar e colar”. O aumento da produtividade e a diminuição do custo de manutenção são as principais motivações do </a:t>
            </a:r>
            <a:r>
              <a:rPr b="1" lang="en"/>
              <a:t>DRY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Acessibilidade e Visibilidade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acessibilidade de um membro afeta sua visibilidade para classes derivadas da seguinte maneira:</a:t>
            </a:r>
            <a:endParaRPr/>
          </a:p>
          <a:p>
            <a:pPr indent="-342900" lvl="0" marL="457200" rtl="0" algn="just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b="1"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public</a:t>
            </a:r>
            <a:r>
              <a:rPr lang="en"/>
              <a:t>: o tipo ou membro pode ser acessado por qualquer outro código na mesma classe ou em outra classe que faz referência a ele;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u="sng">
                <a:solidFill>
                  <a:schemeClr val="hlink"/>
                </a:solidFill>
                <a:hlinkClick r:id="rId4"/>
              </a:rPr>
              <a:t>protected</a:t>
            </a:r>
            <a:r>
              <a:rPr lang="en"/>
              <a:t>: </a:t>
            </a:r>
            <a:r>
              <a:rPr lang="en"/>
              <a:t>o tipo ou membro </a:t>
            </a:r>
            <a:r>
              <a:rPr lang="en"/>
              <a:t>pode ser acessado na mesma classe ou em uma classe filha;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private</a:t>
            </a:r>
            <a:r>
              <a:rPr lang="en"/>
              <a:t>: o tipo ou membro pode ser acessado somente na mesma classe;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Sintaxe</a:t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C# e .NET oferecem suporte apenas à herança única</a:t>
            </a:r>
            <a:r>
              <a:rPr lang="en"/>
              <a:t>. Ou seja, uma classe pode herdar apenas de uma única classe. No entanto, a </a:t>
            </a:r>
            <a:r>
              <a:rPr b="1" lang="en"/>
              <a:t>herança é transitiva</a:t>
            </a:r>
            <a:r>
              <a:rPr lang="en"/>
              <a:t>, o que permite que você defina uma hierarquia de herança para um conjunto de tipos. 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Em outras palavras, o tipo </a:t>
            </a:r>
            <a:r>
              <a:rPr b="1" i="1" lang="en"/>
              <a:t>D</a:t>
            </a:r>
            <a:r>
              <a:rPr lang="en"/>
              <a:t> pode herdar do tipo </a:t>
            </a:r>
            <a:r>
              <a:rPr b="1" i="1" lang="en"/>
              <a:t>C</a:t>
            </a:r>
            <a:r>
              <a:rPr lang="en"/>
              <a:t>, que herda do tipo </a:t>
            </a:r>
            <a:r>
              <a:rPr b="1" i="1" lang="en"/>
              <a:t>B</a:t>
            </a:r>
            <a:r>
              <a:rPr lang="en"/>
              <a:t>, que herda do tipo de classe base </a:t>
            </a:r>
            <a:r>
              <a:rPr b="1" i="1" lang="en"/>
              <a:t>A</a:t>
            </a:r>
            <a:r>
              <a:rPr lang="en"/>
              <a:t>. Como a herança é transitiva, os membros do tipo </a:t>
            </a:r>
            <a:r>
              <a:rPr b="1" i="1" lang="en"/>
              <a:t>A</a:t>
            </a:r>
            <a:r>
              <a:rPr lang="en"/>
              <a:t> estão disponíveis ao tipo </a:t>
            </a:r>
            <a:r>
              <a:rPr b="1" i="1" lang="en"/>
              <a:t>D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É UM...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Além de gerar reaproveitamento de código, </a:t>
            </a:r>
            <a:r>
              <a:rPr b="1" lang="en"/>
              <a:t>a utilização de herança permite que objetos criados a partir das classes específicas sejam tratados como objetos da classe genérica</a:t>
            </a:r>
            <a:r>
              <a:rPr lang="en"/>
              <a:t>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No código utilizamos o símbolo </a:t>
            </a:r>
            <a:r>
              <a:rPr b="1" lang="en"/>
              <a:t>“ : ”</a:t>
            </a:r>
            <a:r>
              <a:rPr lang="en"/>
              <a:t> para implementar uma herança. Ela pode ser interpretada como a expressão: </a:t>
            </a:r>
            <a:r>
              <a:rPr b="1" lang="en"/>
              <a:t>É UM </a:t>
            </a:r>
            <a:r>
              <a:rPr lang="en"/>
              <a:t>ou</a:t>
            </a:r>
            <a:r>
              <a:rPr b="1" lang="en"/>
              <a:t> É UMA</a:t>
            </a:r>
            <a:r>
              <a:rPr lang="en"/>
              <a:t>.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Herança Simples (Gato É UM Animal)</a:t>
            </a:r>
            <a:endParaRPr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Animal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b="1" lang="en" sz="1400">
                <a:latin typeface="Consolas"/>
                <a:ea typeface="Consolas"/>
                <a:cs typeface="Consolas"/>
                <a:sym typeface="Consolas"/>
              </a:rPr>
              <a:t> Gato : Animal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Herança Com Sobreescrita</a:t>
            </a:r>
            <a:endParaRPr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Animal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public void</a:t>
            </a: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EmitirSom()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Console.Write(</a:t>
            </a:r>
            <a:r>
              <a:rPr lang="en" sz="1300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"Não sei que animal sou!"</a:t>
            </a: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Gato : Animal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 </a:t>
            </a:r>
            <a:r>
              <a:rPr b="1"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override</a:t>
            </a:r>
            <a:r>
              <a:rPr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3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00">
                <a:latin typeface="Consolas"/>
                <a:ea typeface="Consolas"/>
                <a:cs typeface="Consolas"/>
                <a:sym typeface="Consolas"/>
              </a:rPr>
              <a:t>EmitirSom</a:t>
            </a:r>
            <a:r>
              <a:rPr b="1" lang="en" sz="1300"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// Erro de compilação</a:t>
            </a:r>
            <a:endParaRPr sz="1300">
              <a:solidFill>
                <a:srgbClr val="6AA84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     Console.Write(</a:t>
            </a:r>
            <a:r>
              <a:rPr lang="en" sz="1300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"Miau!"</a:t>
            </a: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Herança Com Sobreescrita (virtual)</a:t>
            </a:r>
            <a:endParaRPr/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Animal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public </a:t>
            </a:r>
            <a:r>
              <a:rPr b="1"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virtual</a:t>
            </a:r>
            <a:r>
              <a:rPr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300">
                <a:latin typeface="Consolas"/>
                <a:ea typeface="Consolas"/>
                <a:cs typeface="Consolas"/>
                <a:sym typeface="Consolas"/>
              </a:rPr>
              <a:t> EmitirSom()</a:t>
            </a:r>
            <a:endParaRPr b="1"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     Console.Write(</a:t>
            </a:r>
            <a:r>
              <a:rPr lang="en" sz="1300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"Não sei que animal sou!"</a:t>
            </a: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Gato : Animal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 </a:t>
            </a:r>
            <a:r>
              <a:rPr b="1"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override</a:t>
            </a:r>
            <a:r>
              <a:rPr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300">
                <a:latin typeface="Consolas"/>
                <a:ea typeface="Consolas"/>
                <a:cs typeface="Consolas"/>
                <a:sym typeface="Consolas"/>
              </a:rPr>
              <a:t> EmitirSom()</a:t>
            </a:r>
            <a:endParaRPr b="1" sz="1300">
              <a:solidFill>
                <a:srgbClr val="6AA84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     Console.Write(</a:t>
            </a:r>
            <a:r>
              <a:rPr lang="en" sz="1300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"Miau!"</a:t>
            </a: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Herança Com Sobreescrita (abstract)</a:t>
            </a:r>
            <a:endParaRPr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 </a:t>
            </a:r>
            <a:r>
              <a:rPr b="1"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abstract</a:t>
            </a:r>
            <a:r>
              <a:rPr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class</a:t>
            </a: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Animal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public </a:t>
            </a:r>
            <a:r>
              <a:rPr b="1"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abstract</a:t>
            </a:r>
            <a:r>
              <a:rPr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00">
                <a:latin typeface="Consolas"/>
                <a:ea typeface="Consolas"/>
                <a:cs typeface="Consolas"/>
                <a:sym typeface="Consolas"/>
              </a:rPr>
              <a:t>EmitirSom()</a:t>
            </a: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Gato : Animal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 </a:t>
            </a:r>
            <a:r>
              <a:rPr b="1"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override</a:t>
            </a:r>
            <a:r>
              <a:rPr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00">
                <a:latin typeface="Consolas"/>
                <a:ea typeface="Consolas"/>
                <a:cs typeface="Consolas"/>
                <a:sym typeface="Consolas"/>
              </a:rPr>
              <a:t>EmitirSom()</a:t>
            </a:r>
            <a:endParaRPr b="1" sz="1300">
              <a:solidFill>
                <a:srgbClr val="6AA84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     Console.Write(</a:t>
            </a:r>
            <a:r>
              <a:rPr lang="en" sz="1300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"Miau!"</a:t>
            </a: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 1</a:t>
            </a:r>
            <a:endParaRPr/>
          </a:p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Considere o exemplo dos slides anteriores e utilize seu conhecimento no domínio da biologia para implementar um programa com pelo menos 3 variações de animais. Além do método já proposto (</a:t>
            </a:r>
            <a:r>
              <a:rPr i="1" lang="en"/>
              <a:t>EmitirSom</a:t>
            </a:r>
            <a:r>
              <a:rPr lang="en"/>
              <a:t>) pense em novas operações para suas classes. Propriedades também são bem vindas, como: Nome, </a:t>
            </a:r>
            <a:r>
              <a:rPr lang="en"/>
              <a:t>Gênero</a:t>
            </a:r>
            <a:r>
              <a:rPr lang="en"/>
              <a:t>, Espécie etc.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 2 </a:t>
            </a:r>
            <a:r>
              <a:rPr lang="en"/>
              <a:t>(Próxima Aula)</a:t>
            </a:r>
            <a:endParaRPr/>
          </a:p>
        </p:txBody>
      </p:sp>
      <p:sp>
        <p:nvSpPr>
          <p:cNvPr id="167" name="Google Shape;167;p26"/>
          <p:cNvSpPr txBox="1"/>
          <p:nvPr>
            <p:ph idx="4294967295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Considerando o Diagrama UML abaixo, feito para uma empresa de vendas, utilize o conceito de Herança para remodelá-lo e implemente um programa que explore o domínio em questão: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8" name="Google Shape;168;p26"/>
          <p:cNvGraphicFramePr/>
          <p:nvPr/>
        </p:nvGraphicFramePr>
        <p:xfrm>
          <a:off x="212213" y="2447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{C169A471-FA54-4FCC-8525-C635CE3E8962}</a:tableStyleId>
              </a:tblPr>
              <a:tblGrid>
                <a:gridCol w="2678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Vendedor</a:t>
                      </a:r>
                      <a:endParaRPr b="1"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 </a:t>
                      </a: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</a:t>
                      </a: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: </a:t>
                      </a:r>
                      <a:r>
                        <a:rPr b="1"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  <a:endParaRPr b="1"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 Cpf</a:t>
                      </a: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: </a:t>
                      </a:r>
                      <a:r>
                        <a:rPr b="1"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long</a:t>
                      </a:r>
                      <a:endParaRPr b="1"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 Comissao</a:t>
                      </a: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: </a:t>
                      </a:r>
                      <a:r>
                        <a:rPr b="1"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double</a:t>
                      </a:r>
                      <a:endParaRPr b="1"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 </a:t>
                      </a: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NumeroVendas</a:t>
                      </a:r>
                      <a:r>
                        <a:rPr b="1"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b="1"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long</a:t>
                      </a:r>
                      <a:endParaRPr b="1"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 </a:t>
                      </a: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CalcularSalario</a:t>
                      </a: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 : </a:t>
                      </a:r>
                      <a:r>
                        <a:rPr b="1"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double</a:t>
                      </a:r>
                      <a:endParaRPr b="1"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9" name="Google Shape;169;p26"/>
          <p:cNvGraphicFramePr/>
          <p:nvPr/>
        </p:nvGraphicFramePr>
        <p:xfrm>
          <a:off x="3232513" y="2447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{C169A471-FA54-4FCC-8525-C635CE3E8962}</a:tableStyleId>
              </a:tblPr>
              <a:tblGrid>
                <a:gridCol w="2678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Consultor</a:t>
                      </a:r>
                      <a:endParaRPr b="1"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 </a:t>
                      </a: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 : </a:t>
                      </a:r>
                      <a:r>
                        <a:rPr b="1"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  <a:endParaRPr b="1"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 </a:t>
                      </a: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Cpf : </a:t>
                      </a:r>
                      <a:r>
                        <a:rPr b="1"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long</a:t>
                      </a:r>
                      <a:endParaRPr b="1"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 ValorHora</a:t>
                      </a: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: </a:t>
                      </a:r>
                      <a:r>
                        <a:rPr b="1"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double</a:t>
                      </a:r>
                      <a:endParaRPr b="1"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 HorasTrabalhadas</a:t>
                      </a:r>
                      <a:r>
                        <a:rPr b="1"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long</a:t>
                      </a:r>
                      <a:endParaRPr b="1"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 </a:t>
                      </a: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CalcularSalario() : </a:t>
                      </a:r>
                      <a:r>
                        <a:rPr b="1"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double</a:t>
                      </a:r>
                      <a:endParaRPr b="1"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0" name="Google Shape;170;p26"/>
          <p:cNvGraphicFramePr/>
          <p:nvPr/>
        </p:nvGraphicFramePr>
        <p:xfrm>
          <a:off x="6252813" y="2447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{C169A471-FA54-4FCC-8525-C635CE3E8962}</a:tableStyleId>
              </a:tblPr>
              <a:tblGrid>
                <a:gridCol w="2678950"/>
              </a:tblGrid>
              <a:tr h="427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Gerente</a:t>
                      </a:r>
                      <a:endParaRPr b="1"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 </a:t>
                      </a: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 : </a:t>
                      </a:r>
                      <a:r>
                        <a:rPr b="1"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  <a:endParaRPr b="1"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 </a:t>
                      </a: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Cpf : </a:t>
                      </a:r>
                      <a:r>
                        <a:rPr b="1"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long</a:t>
                      </a:r>
                      <a:endParaRPr b="1"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 Bonificacao</a:t>
                      </a: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: </a:t>
                      </a:r>
                      <a:r>
                        <a:rPr b="1"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double</a:t>
                      </a:r>
                      <a:endParaRPr b="1"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 </a:t>
                      </a:r>
                      <a:r>
                        <a:rPr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CalcularSalario() : </a:t>
                      </a:r>
                      <a:r>
                        <a:rPr b="1" lang="en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double</a:t>
                      </a:r>
                      <a:endParaRPr b="1"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1" name="Google Shape;171;p26"/>
          <p:cNvSpPr txBox="1"/>
          <p:nvPr/>
        </p:nvSpPr>
        <p:spPr>
          <a:xfrm>
            <a:off x="311700" y="4223525"/>
            <a:ext cx="8520600" cy="7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Vendedores ganham 1 salário mínimo, mais uma comissão por vendas;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Consultores ganham somente pelas horas que trabalharam;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Por fim, Gerentes ganham 6 salários mínimos, mais sua bonificação.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 3 </a:t>
            </a:r>
            <a:r>
              <a:rPr lang="en"/>
              <a:t>(Próxima Aula)</a:t>
            </a:r>
            <a:endParaRPr/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Considerando sua modelagem atual para o PIM (Trabalho 1), identifique possíveis pontos de evolução/melhorias usando o conceito de Herança e Sobrecarga (que conhecemos na aula de hoje).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Além disso, tente abstrair as possíveis operações do sistema, com o objetivo de evoluir ainda mais sua modelagem atual.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Heranca de Implementacão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/>
              <a:t>Herança de implementação </a:t>
            </a:r>
            <a:r>
              <a:rPr lang="en"/>
              <a:t>é a abordagem que vimos anteriormente, onde uma classe filha herda as características e comportamentos de uma classe pai. É um mecanismo para compartilhar código e tipo, caracterizando assim o Polimorfismo.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Herança de Interface</a:t>
            </a:r>
            <a:endParaRPr/>
          </a:p>
        </p:txBody>
      </p:sp>
      <p:sp>
        <p:nvSpPr>
          <p:cNvPr id="189" name="Google Shape;189;p2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Já a </a:t>
            </a:r>
            <a:r>
              <a:rPr b="1" lang="en"/>
              <a:t>Herança de Interface</a:t>
            </a:r>
            <a:r>
              <a:rPr lang="en"/>
              <a:t> seria equivalente a uma </a:t>
            </a:r>
            <a:r>
              <a:rPr lang="en"/>
              <a:t>herança</a:t>
            </a:r>
            <a:r>
              <a:rPr lang="en"/>
              <a:t> de </a:t>
            </a:r>
            <a:r>
              <a:rPr lang="en"/>
              <a:t>implementação</a:t>
            </a:r>
            <a:r>
              <a:rPr lang="en"/>
              <a:t> onde a classe possui todos os seus métodos abstratos, ou seja, uma interface define apenas um </a:t>
            </a:r>
            <a:r>
              <a:rPr b="1" lang="en"/>
              <a:t>contrato a ser seguido</a:t>
            </a:r>
            <a:r>
              <a:rPr lang="en"/>
              <a:t>. Programar em função de uma interface e não em função de uma implementação (uma classe particular) permite o polimorfismo e fornece as seguintes vantagens: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Clientes permanecem sem conhecimento do tipo de objetos que eles usam, desde que os objetos obedeçam a interface;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Clientes permanecem sem conhecimento da </a:t>
            </a:r>
            <a:r>
              <a:rPr lang="en"/>
              <a:t>implementação</a:t>
            </a:r>
            <a:r>
              <a:rPr lang="en"/>
              <a:t> de tais objetos.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Herança de Interface (Sintaxe)</a:t>
            </a:r>
            <a:endParaRPr/>
          </a:p>
        </p:txBody>
      </p: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 </a:t>
            </a:r>
            <a:r>
              <a:rPr b="1"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Animal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1"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oid</a:t>
            </a: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00">
                <a:latin typeface="Consolas"/>
                <a:ea typeface="Consolas"/>
                <a:cs typeface="Consolas"/>
                <a:sym typeface="Consolas"/>
              </a:rPr>
              <a:t>EmitirSom()</a:t>
            </a: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3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// As assinaturas são públicas por padrão</a:t>
            </a:r>
            <a:endParaRPr sz="13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Gato : Animal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 void</a:t>
            </a:r>
            <a:r>
              <a:rPr b="1" lang="en" sz="1300">
                <a:latin typeface="Consolas"/>
                <a:ea typeface="Consolas"/>
                <a:cs typeface="Consolas"/>
                <a:sym typeface="Consolas"/>
              </a:rPr>
              <a:t> EmitirSom()</a:t>
            </a:r>
            <a:endParaRPr b="1" sz="1300">
              <a:solidFill>
                <a:srgbClr val="6AA84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     Console.Write(</a:t>
            </a:r>
            <a:r>
              <a:rPr lang="en" sz="1300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"Miau!"</a:t>
            </a: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